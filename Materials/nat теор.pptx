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8"/>
  </p:notesMasterIdLst>
  <p:sldIdLst>
    <p:sldId id="379" r:id="rId2"/>
    <p:sldId id="516" r:id="rId3"/>
    <p:sldId id="617" r:id="rId4"/>
    <p:sldId id="618" r:id="rId5"/>
    <p:sldId id="619" r:id="rId6"/>
    <p:sldId id="622" r:id="rId7"/>
    <p:sldId id="620" r:id="rId8"/>
    <p:sldId id="623" r:id="rId9"/>
    <p:sldId id="621" r:id="rId10"/>
    <p:sldId id="624" r:id="rId11"/>
    <p:sldId id="625" r:id="rId12"/>
    <p:sldId id="628" r:id="rId13"/>
    <p:sldId id="627" r:id="rId14"/>
    <p:sldId id="629" r:id="rId15"/>
    <p:sldId id="630" r:id="rId16"/>
    <p:sldId id="626" r:id="rId17"/>
    <p:sldId id="631" r:id="rId18"/>
    <p:sldId id="632" r:id="rId19"/>
    <p:sldId id="633" r:id="rId20"/>
    <p:sldId id="634" r:id="rId21"/>
    <p:sldId id="636" r:id="rId22"/>
    <p:sldId id="635" r:id="rId23"/>
    <p:sldId id="637" r:id="rId24"/>
    <p:sldId id="638" r:id="rId25"/>
    <p:sldId id="639" r:id="rId26"/>
    <p:sldId id="640" r:id="rId27"/>
    <p:sldId id="641" r:id="rId28"/>
    <p:sldId id="643" r:id="rId29"/>
    <p:sldId id="644" r:id="rId30"/>
    <p:sldId id="642" r:id="rId31"/>
    <p:sldId id="645" r:id="rId32"/>
    <p:sldId id="646" r:id="rId33"/>
    <p:sldId id="647" r:id="rId34"/>
    <p:sldId id="648" r:id="rId35"/>
    <p:sldId id="649" r:id="rId36"/>
    <p:sldId id="651" r:id="rId37"/>
    <p:sldId id="650" r:id="rId38"/>
    <p:sldId id="652" r:id="rId39"/>
    <p:sldId id="653" r:id="rId40"/>
    <p:sldId id="654" r:id="rId41"/>
    <p:sldId id="656" r:id="rId42"/>
    <p:sldId id="655" r:id="rId43"/>
    <p:sldId id="657" r:id="rId44"/>
    <p:sldId id="658" r:id="rId45"/>
    <p:sldId id="659" r:id="rId46"/>
    <p:sldId id="660" r:id="rId47"/>
    <p:sldId id="661" r:id="rId48"/>
    <p:sldId id="662" r:id="rId49"/>
    <p:sldId id="681" r:id="rId50"/>
    <p:sldId id="682" r:id="rId51"/>
    <p:sldId id="683" r:id="rId52"/>
    <p:sldId id="684" r:id="rId53"/>
    <p:sldId id="685" r:id="rId54"/>
    <p:sldId id="686" r:id="rId55"/>
    <p:sldId id="687" r:id="rId56"/>
    <p:sldId id="688" r:id="rId57"/>
    <p:sldId id="689" r:id="rId58"/>
    <p:sldId id="690" r:id="rId59"/>
    <p:sldId id="691" r:id="rId60"/>
    <p:sldId id="692" r:id="rId61"/>
    <p:sldId id="693" r:id="rId62"/>
    <p:sldId id="694" r:id="rId63"/>
    <p:sldId id="695" r:id="rId64"/>
    <p:sldId id="696" r:id="rId65"/>
    <p:sldId id="698" r:id="rId66"/>
    <p:sldId id="697" r:id="rId67"/>
    <p:sldId id="699" r:id="rId68"/>
    <p:sldId id="700" r:id="rId69"/>
    <p:sldId id="701" r:id="rId70"/>
    <p:sldId id="702" r:id="rId71"/>
    <p:sldId id="703" r:id="rId72"/>
    <p:sldId id="704" r:id="rId73"/>
    <p:sldId id="705" r:id="rId74"/>
    <p:sldId id="706" r:id="rId75"/>
    <p:sldId id="680" r:id="rId76"/>
    <p:sldId id="663" r:id="rId77"/>
    <p:sldId id="664" r:id="rId78"/>
    <p:sldId id="673" r:id="rId79"/>
    <p:sldId id="665" r:id="rId80"/>
    <p:sldId id="666" r:id="rId81"/>
    <p:sldId id="667" r:id="rId82"/>
    <p:sldId id="668" r:id="rId83"/>
    <p:sldId id="669" r:id="rId84"/>
    <p:sldId id="670" r:id="rId85"/>
    <p:sldId id="671" r:id="rId86"/>
    <p:sldId id="672" r:id="rId87"/>
    <p:sldId id="674" r:id="rId88"/>
    <p:sldId id="677" r:id="rId89"/>
    <p:sldId id="675" r:id="rId90"/>
    <p:sldId id="676" r:id="rId91"/>
    <p:sldId id="678" r:id="rId92"/>
    <p:sldId id="679" r:id="rId93"/>
    <p:sldId id="562" r:id="rId94"/>
    <p:sldId id="564" r:id="rId95"/>
    <p:sldId id="565" r:id="rId96"/>
    <p:sldId id="563" r:id="rId9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0" autoAdjust="0"/>
    <p:restoredTop sz="95501" autoAdjust="0"/>
  </p:normalViewPr>
  <p:slideViewPr>
    <p:cSldViewPr snapToGrid="0">
      <p:cViewPr varScale="1">
        <p:scale>
          <a:sx n="47" d="100"/>
          <a:sy n="47" d="100"/>
        </p:scale>
        <p:origin x="43"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8DA331-39D4-4FDF-885D-4D0A23777F0F}" type="datetimeFigureOut">
              <a:rPr lang="ru-RU" smtClean="0"/>
              <a:t>05.10.2026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3E17D-C34B-472B-82E8-B061792E72B4}" type="slidenum">
              <a:rPr lang="ru-RU" smtClean="0"/>
              <a:t>‹#›</a:t>
            </a:fld>
            <a:endParaRPr lang="ru-RU"/>
          </a:p>
        </p:txBody>
      </p:sp>
    </p:spTree>
    <p:extLst>
      <p:ext uri="{BB962C8B-B14F-4D97-AF65-F5344CB8AC3E}">
        <p14:creationId xmlns:p14="http://schemas.microsoft.com/office/powerpoint/2010/main" val="2529226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B13E17D-C34B-472B-82E8-B061792E72B4}" type="slidenum">
              <a:rPr lang="ru-RU" smtClean="0"/>
              <a:t>41</a:t>
            </a:fld>
            <a:endParaRPr lang="ru-RU"/>
          </a:p>
        </p:txBody>
      </p:sp>
    </p:spTree>
    <p:extLst>
      <p:ext uri="{BB962C8B-B14F-4D97-AF65-F5344CB8AC3E}">
        <p14:creationId xmlns:p14="http://schemas.microsoft.com/office/powerpoint/2010/main" val="1562626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422632C1-689E-4130-B7D4-A8F24E84E736}" type="datetimeFigureOut">
              <a:rPr lang="ru-RU" smtClean="0"/>
              <a:t>05.10.2026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DE272C-2F34-45C1-901E-A54295090247}"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64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22632C1-689E-4130-B7D4-A8F24E84E736}" type="datetimeFigureOut">
              <a:rPr lang="ru-RU" smtClean="0"/>
              <a:t>05.10.2026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753724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22632C1-689E-4130-B7D4-A8F24E84E736}" type="datetimeFigureOut">
              <a:rPr lang="ru-RU" smtClean="0"/>
              <a:t>05.10.2026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DE272C-2F34-45C1-901E-A54295090247}"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34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22632C1-689E-4130-B7D4-A8F24E84E736}" type="datetimeFigureOut">
              <a:rPr lang="ru-RU" smtClean="0"/>
              <a:t>05.10.2026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792365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22632C1-689E-4130-B7D4-A8F24E84E736}" type="datetimeFigureOut">
              <a:rPr lang="ru-RU" smtClean="0"/>
              <a:t>05.10.2026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3101105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22632C1-689E-4130-B7D4-A8F24E84E736}" type="datetimeFigureOut">
              <a:rPr lang="ru-RU" smtClean="0"/>
              <a:t>05.10.2026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212231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22632C1-689E-4130-B7D4-A8F24E84E736}" type="datetimeFigureOut">
              <a:rPr lang="ru-RU" smtClean="0"/>
              <a:t>05.10.2026</a:t>
            </a:fld>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RU"/>
          </a:p>
        </p:txBody>
      </p:sp>
      <p:sp>
        <p:nvSpPr>
          <p:cNvPr id="9" name="Slide Number Placeholder 8"/>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2274004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22632C1-689E-4130-B7D4-A8F24E84E736}" type="datetimeFigureOut">
              <a:rPr lang="ru-RU" smtClean="0"/>
              <a:t>05.10.2026</a:t>
            </a:fld>
            <a:endParaRPr lang="ru-R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FDE272C-2F34-45C1-901E-A54295090247}" type="slidenum">
              <a:rPr lang="ru-RU" smtClean="0"/>
              <a:t>‹#›</a:t>
            </a:fld>
            <a:endParaRPr lang="ru-RU"/>
          </a:p>
        </p:txBody>
      </p:sp>
    </p:spTree>
    <p:extLst>
      <p:ext uri="{BB962C8B-B14F-4D97-AF65-F5344CB8AC3E}">
        <p14:creationId xmlns:p14="http://schemas.microsoft.com/office/powerpoint/2010/main" val="2120235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422632C1-689E-4130-B7D4-A8F24E84E736}" type="datetimeFigureOut">
              <a:rPr lang="ru-RU" smtClean="0"/>
              <a:t>05.10.2026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3466189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22632C1-689E-4130-B7D4-A8F24E84E736}" type="datetimeFigureOut">
              <a:rPr lang="ru-RU" smtClean="0"/>
              <a:t>05.10.2026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355878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22632C1-689E-4130-B7D4-A8F24E84E736}" type="datetimeFigureOut">
              <a:rPr lang="ru-RU" smtClean="0"/>
              <a:t>05.10.2026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DE272C-2F34-45C1-901E-A54295090247}" type="slidenum">
              <a:rPr lang="ru-RU" smtClean="0"/>
              <a:t>‹#›</a:t>
            </a:fld>
            <a:endParaRPr lang="ru-RU"/>
          </a:p>
        </p:txBody>
      </p:sp>
    </p:spTree>
    <p:extLst>
      <p:ext uri="{BB962C8B-B14F-4D97-AF65-F5344CB8AC3E}">
        <p14:creationId xmlns:p14="http://schemas.microsoft.com/office/powerpoint/2010/main" val="3063991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22632C1-689E-4130-B7D4-A8F24E84E736}" type="datetimeFigureOut">
              <a:rPr lang="ru-RU" smtClean="0"/>
              <a:t>05.10.2026</a:t>
            </a:fld>
            <a:endParaRPr lang="ru-R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R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FDE272C-2F34-45C1-901E-A54295090247}" type="slidenum">
              <a:rPr lang="ru-RU" smtClean="0"/>
              <a:t>‹#›</a:t>
            </a:fld>
            <a:endParaRPr lang="ru-R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1099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8" Type="http://schemas.openxmlformats.org/officeDocument/2006/relationships/hyperlink" Target="https://wiki.merionet.ru/images/nat-na-palcax-chto-eto/6.PNG" TargetMode="External"/><Relationship Id="rId3" Type="http://schemas.openxmlformats.org/officeDocument/2006/relationships/hyperlink" Target="https://wiki.merionet.ru/images/nat-na-palcax-chto-eto/1.PNG" TargetMode="External"/><Relationship Id="rId7" Type="http://schemas.openxmlformats.org/officeDocument/2006/relationships/hyperlink" Target="https://wiki.merionet.ru/images/nat-na-palcax-chto-eto/5.PNG" TargetMode="External"/><Relationship Id="rId2" Type="http://schemas.openxmlformats.org/officeDocument/2006/relationships/hyperlink" Target="http://polpoz.ru/umot/lokalenaya-sete-ooo-nadejnij-kontakt/10.png" TargetMode="External"/><Relationship Id="rId1" Type="http://schemas.openxmlformats.org/officeDocument/2006/relationships/slideLayout" Target="../slideLayouts/slideLayout7.xml"/><Relationship Id="rId6" Type="http://schemas.openxmlformats.org/officeDocument/2006/relationships/hyperlink" Target="https://wiki.merionet.ru/images/nat-na-palcax-chto-eto/4.PNG" TargetMode="External"/><Relationship Id="rId11" Type="http://schemas.openxmlformats.org/officeDocument/2006/relationships/hyperlink" Target="https://wiki.merionet.ru/images/nastrojka-nat-na-cisco/3.PNG" TargetMode="External"/><Relationship Id="rId5" Type="http://schemas.openxmlformats.org/officeDocument/2006/relationships/hyperlink" Target="https://wiki.merionet.ru/images/nat-na-palcax-chto-eto/3.PNG" TargetMode="External"/><Relationship Id="rId10" Type="http://schemas.openxmlformats.org/officeDocument/2006/relationships/hyperlink" Target="https://wiki.merionet.ru/images/nastrojka-nat-na-cisco/2.PNG" TargetMode="External"/><Relationship Id="rId4" Type="http://schemas.openxmlformats.org/officeDocument/2006/relationships/hyperlink" Target="https://wiki.merionet.ru/images/nat-na-palcax-chto-eto/2.PNG" TargetMode="External"/><Relationship Id="rId9" Type="http://schemas.openxmlformats.org/officeDocument/2006/relationships/hyperlink" Target="https://wiki.merionet.ru/images/nastrojka-nat-na-cisco/1.PNG" TargetMode="External"/></Relationships>
</file>

<file path=ppt/slides/_rels/slide96.xml.rels><?xml version="1.0" encoding="UTF-8" standalone="yes"?>
<Relationships xmlns="http://schemas.openxmlformats.org/package/2006/relationships"><Relationship Id="rId2" Type="http://schemas.openxmlformats.org/officeDocument/2006/relationships/hyperlink" Target="mailto:asoloduhin@kait20.ru"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a:t>
            </a:r>
            <a:r>
              <a:rPr lang="en-US" sz="4000" b="1" dirty="0"/>
              <a:t> NAT</a:t>
            </a:r>
            <a:endParaRPr lang="ru-RU" sz="4000" b="1" dirty="0"/>
          </a:p>
        </p:txBody>
      </p:sp>
    </p:spTree>
    <p:extLst>
      <p:ext uri="{BB962C8B-B14F-4D97-AF65-F5344CB8AC3E}">
        <p14:creationId xmlns:p14="http://schemas.microsoft.com/office/powerpoint/2010/main" val="3941789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4"/>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 </a:t>
            </a:r>
            <a:r>
              <a:rPr lang="en-US" sz="4000" b="1" dirty="0"/>
              <a:t>NAT</a:t>
            </a:r>
          </a:p>
        </p:txBody>
      </p:sp>
      <p:sp>
        <p:nvSpPr>
          <p:cNvPr id="3" name="Объект 2"/>
          <p:cNvSpPr txBox="1">
            <a:spLocks/>
          </p:cNvSpPr>
          <p:nvPr/>
        </p:nvSpPr>
        <p:spPr>
          <a:xfrm>
            <a:off x="1212766" y="1332089"/>
            <a:ext cx="9788237" cy="500097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Изначально было задумано 2 в степени 32 или 4 294 967 296 IPv4 адресов.</a:t>
            </a:r>
          </a:p>
          <a:p>
            <a:pPr marL="0" indent="0">
              <a:buNone/>
            </a:pPr>
            <a:r>
              <a:rPr lang="ru-RU" sz="2800" dirty="0"/>
              <a:t>Много это или нет? Кажется, что да. </a:t>
            </a:r>
          </a:p>
          <a:p>
            <a:pPr marL="0" indent="0">
              <a:buNone/>
            </a:pPr>
            <a:r>
              <a:rPr lang="ru-RU" sz="2800" dirty="0"/>
              <a:t>Однако с распространением персональных вычислений, мобильных устройств и быстрым ростом интернета вскоре стало очевидно, что 4,3 миллиарда адресов IPv4 будет недостаточно. </a:t>
            </a:r>
          </a:p>
          <a:p>
            <a:pPr marL="0" indent="0">
              <a:buNone/>
            </a:pPr>
            <a:r>
              <a:rPr lang="ru-RU" sz="2800" dirty="0"/>
              <a:t>Долгосрочным решением было IPv6, но требовались более быстрое решение для устранения нехватки адресов. </a:t>
            </a:r>
          </a:p>
          <a:p>
            <a:pPr marL="0" indent="0">
              <a:buNone/>
            </a:pPr>
            <a:r>
              <a:rPr lang="ru-RU" sz="2800" dirty="0"/>
              <a:t>И этим решением стал NAT (</a:t>
            </a:r>
            <a:r>
              <a:rPr lang="ru-RU" sz="2800" dirty="0" err="1"/>
              <a:t>Network</a:t>
            </a:r>
            <a:r>
              <a:rPr lang="ru-RU" sz="2800" dirty="0"/>
              <a:t> </a:t>
            </a:r>
            <a:r>
              <a:rPr lang="ru-RU" sz="2800" dirty="0" err="1"/>
              <a:t>Address</a:t>
            </a:r>
            <a:r>
              <a:rPr lang="ru-RU" sz="2800" dirty="0"/>
              <a:t> </a:t>
            </a:r>
            <a:r>
              <a:rPr lang="ru-RU" sz="2800" dirty="0" err="1"/>
              <a:t>Translation</a:t>
            </a:r>
            <a:r>
              <a:rPr lang="ru-RU" sz="2800" dirty="0"/>
              <a:t>).</a:t>
            </a:r>
          </a:p>
        </p:txBody>
      </p:sp>
    </p:spTree>
    <p:extLst>
      <p:ext uri="{BB962C8B-B14F-4D97-AF65-F5344CB8AC3E}">
        <p14:creationId xmlns:p14="http://schemas.microsoft.com/office/powerpoint/2010/main" val="275781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4"/>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 </a:t>
            </a:r>
            <a:r>
              <a:rPr lang="en-US" sz="4000" b="1" dirty="0"/>
              <a:t>NAT</a:t>
            </a:r>
          </a:p>
        </p:txBody>
      </p:sp>
      <p:sp>
        <p:nvSpPr>
          <p:cNvPr id="3" name="Объект 2"/>
          <p:cNvSpPr txBox="1">
            <a:spLocks/>
          </p:cNvSpPr>
          <p:nvPr/>
        </p:nvSpPr>
        <p:spPr>
          <a:xfrm>
            <a:off x="1212766" y="1332089"/>
            <a:ext cx="9788237" cy="500097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Сети обычно проектируются с использованием частных IP- адресов. </a:t>
            </a:r>
          </a:p>
          <a:p>
            <a:pPr marL="0" indent="0">
              <a:buNone/>
            </a:pPr>
            <a:r>
              <a:rPr lang="ru-RU" sz="2800" dirty="0"/>
              <a:t>Это адреса </a:t>
            </a:r>
            <a:r>
              <a:rPr lang="ru-RU" sz="2800" b="1" dirty="0"/>
              <a:t>10.0.0.0/8, 172.16.0.0/12</a:t>
            </a:r>
            <a:r>
              <a:rPr lang="ru-RU" sz="2800" dirty="0"/>
              <a:t> и </a:t>
            </a:r>
            <a:r>
              <a:rPr lang="ru-RU" sz="2800" b="1" dirty="0"/>
              <a:t>192.168.0.0/16</a:t>
            </a:r>
            <a:r>
              <a:rPr lang="ru-RU" sz="2800" dirty="0"/>
              <a:t>. </a:t>
            </a:r>
          </a:p>
          <a:p>
            <a:pPr marL="0" indent="0">
              <a:buNone/>
            </a:pPr>
            <a:r>
              <a:rPr lang="ru-RU" sz="2800" dirty="0"/>
              <a:t>Эти частные адреса используются внутри организации или площадки, чтобы позволить устройствам общаться локально, и они не маршрутизируются в интернете. </a:t>
            </a:r>
          </a:p>
          <a:p>
            <a:pPr marL="0" indent="0">
              <a:buNone/>
            </a:pPr>
            <a:r>
              <a:rPr lang="ru-RU" sz="2800" dirty="0"/>
              <a:t>Чтобы позволить устройству с приватным IPv4-адресом обращаться к устройствам и ресурсам за пределами локальной сети, приватный адрес сначала должен быть переведен на общедоступный публичный адрес.</a:t>
            </a:r>
          </a:p>
        </p:txBody>
      </p:sp>
    </p:spTree>
    <p:extLst>
      <p:ext uri="{BB962C8B-B14F-4D97-AF65-F5344CB8AC3E}">
        <p14:creationId xmlns:p14="http://schemas.microsoft.com/office/powerpoint/2010/main" val="572887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4"/>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 </a:t>
            </a:r>
            <a:r>
              <a:rPr lang="en-US" sz="4000" b="1" dirty="0"/>
              <a:t>NAT</a:t>
            </a:r>
          </a:p>
        </p:txBody>
      </p:sp>
      <p:sp>
        <p:nvSpPr>
          <p:cNvPr id="3" name="Объект 2"/>
          <p:cNvSpPr txBox="1">
            <a:spLocks/>
          </p:cNvSpPr>
          <p:nvPr/>
        </p:nvSpPr>
        <p:spPr>
          <a:xfrm>
            <a:off x="1212766" y="1182915"/>
            <a:ext cx="10403501" cy="515015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И вот как раз NAT переводит приватные адреса, в общедоступные. </a:t>
            </a:r>
          </a:p>
          <a:p>
            <a:pPr marL="0" indent="0">
              <a:buNone/>
            </a:pPr>
            <a:r>
              <a:rPr lang="ru-RU" sz="2800" dirty="0"/>
              <a:t>Это позволяет устройству с частным адресом IPv4 обращаться к ресурсам за пределами его частной сети. </a:t>
            </a:r>
          </a:p>
          <a:p>
            <a:pPr marL="0" indent="0">
              <a:buNone/>
            </a:pPr>
            <a:r>
              <a:rPr lang="ru-RU" sz="2800" dirty="0"/>
              <a:t>NAT в сочетании с частными адресами IPv4 оказался полезным методом сохранения общедоступных IPv4-адресов. </a:t>
            </a:r>
          </a:p>
          <a:p>
            <a:pPr marL="0" indent="0">
              <a:buNone/>
            </a:pPr>
            <a:r>
              <a:rPr lang="ru-RU" sz="2800" dirty="0"/>
              <a:t>Один общедоступный IPv4-адрес может быть использован сотнями, даже тысячами устройств, каждый из которых имеет частный IPv4-адрес. </a:t>
            </a:r>
          </a:p>
          <a:p>
            <a:pPr marL="0" indent="0">
              <a:buNone/>
            </a:pPr>
            <a:r>
              <a:rPr lang="ru-RU" sz="2800" dirty="0"/>
              <a:t>NAT имеет дополнительное преимущество, заключающееся в добавлении степени конфиденциальности и безопасности в сеть, поскольку он скрывает внутренние IPv4-адреса из внешних сетей.</a:t>
            </a:r>
          </a:p>
        </p:txBody>
      </p:sp>
    </p:spTree>
    <p:extLst>
      <p:ext uri="{BB962C8B-B14F-4D97-AF65-F5344CB8AC3E}">
        <p14:creationId xmlns:p14="http://schemas.microsoft.com/office/powerpoint/2010/main" val="1945012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Маршрутизаторы с поддержкой NAT могут быть настроены с одним или несколькими действительными общедоступными IPv4-адресами. </a:t>
            </a:r>
          </a:p>
          <a:p>
            <a:pPr marL="0" indent="0">
              <a:buNone/>
            </a:pPr>
            <a:r>
              <a:rPr lang="ru-RU" sz="2800" dirty="0"/>
              <a:t>Эти общедоступные адреса называются пулом NAT. </a:t>
            </a:r>
          </a:p>
          <a:p>
            <a:pPr marL="0" indent="0">
              <a:buNone/>
            </a:pPr>
            <a:r>
              <a:rPr lang="ru-RU" sz="2800" dirty="0"/>
              <a:t>Когда устройство внутренней сети отправляет трафик из сети наружу, то маршрутизатор с поддержкой NAT переводит внутренний IPv4-адрес устройства на общедоступный адрес из пула NAT. </a:t>
            </a:r>
          </a:p>
          <a:p>
            <a:pPr marL="0" indent="0">
              <a:buNone/>
            </a:pPr>
            <a:r>
              <a:rPr lang="ru-RU" sz="2800" dirty="0"/>
              <a:t>Для внешних устройств весь трафик, входящий и выходящий из сети, выглядит имеющим общедоступный IPv4 адрес.</a:t>
            </a:r>
          </a:p>
        </p:txBody>
      </p:sp>
    </p:spTree>
    <p:extLst>
      <p:ext uri="{BB962C8B-B14F-4D97-AF65-F5344CB8AC3E}">
        <p14:creationId xmlns:p14="http://schemas.microsoft.com/office/powerpoint/2010/main" val="52174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NAT на пальцах: что это? - Mozilla Firefox"/>
          <p:cNvPicPr>
            <a:picLocks noChangeAspect="1"/>
          </p:cNvPicPr>
          <p:nvPr/>
        </p:nvPicPr>
        <p:blipFill rotWithShape="1">
          <a:blip r:embed="rId2">
            <a:extLst>
              <a:ext uri="{28A0092B-C50C-407E-A947-70E740481C1C}">
                <a14:useLocalDpi xmlns:a14="http://schemas.microsoft.com/office/drawing/2010/main" val="0"/>
              </a:ext>
            </a:extLst>
          </a:blip>
          <a:srcRect l="17129" t="25618" r="37222" b="7313"/>
          <a:stretch/>
        </p:blipFill>
        <p:spPr>
          <a:xfrm>
            <a:off x="1512711" y="0"/>
            <a:ext cx="7947378" cy="6329742"/>
          </a:xfrm>
          <a:prstGeom prst="rect">
            <a:avLst/>
          </a:prstGeom>
        </p:spPr>
      </p:pic>
    </p:spTree>
    <p:extLst>
      <p:ext uri="{BB962C8B-B14F-4D97-AF65-F5344CB8AC3E}">
        <p14:creationId xmlns:p14="http://schemas.microsoft.com/office/powerpoint/2010/main" val="51200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Технология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Маршрутизатор NAT обычно работает на границе </a:t>
            </a:r>
            <a:r>
              <a:rPr lang="ru-RU" sz="2800" dirty="0" err="1"/>
              <a:t>Stub</a:t>
            </a:r>
            <a:r>
              <a:rPr lang="ru-RU" sz="2800" dirty="0"/>
              <a:t>-сети. </a:t>
            </a:r>
          </a:p>
          <a:p>
            <a:pPr marL="0" indent="0">
              <a:buNone/>
            </a:pPr>
            <a:r>
              <a:rPr lang="ru-RU" sz="2800" dirty="0" err="1"/>
              <a:t>Stub</a:t>
            </a:r>
            <a:r>
              <a:rPr lang="ru-RU" sz="2800" dirty="0"/>
              <a:t>-сеть – это тупиковая сеть, которая имеет одно соединение с соседней сетью, один вход и выход из сети.</a:t>
            </a:r>
          </a:p>
          <a:p>
            <a:pPr marL="0" indent="0">
              <a:buNone/>
            </a:pPr>
            <a:r>
              <a:rPr lang="ru-RU" sz="2800" dirty="0"/>
              <a:t>Когда устройство внутри </a:t>
            </a:r>
            <a:r>
              <a:rPr lang="ru-RU" sz="2800" dirty="0" err="1"/>
              <a:t>Stub</a:t>
            </a:r>
            <a:r>
              <a:rPr lang="ru-RU" sz="2800" dirty="0"/>
              <a:t>-сети хочет связываться с устройством за пределами своей сети, пакет пересылается пограничному маршрутизатору.</a:t>
            </a:r>
          </a:p>
          <a:p>
            <a:pPr marL="0" indent="0">
              <a:buNone/>
            </a:pPr>
            <a:r>
              <a:rPr lang="ru-RU" sz="2800" dirty="0"/>
              <a:t>Пограничный маршрутизатор выполняет NAT-процесс, переводя внутренний частный адрес устройства на публичный, внешний, маршрутизируемый адрес.</a:t>
            </a:r>
          </a:p>
        </p:txBody>
      </p:sp>
    </p:spTree>
    <p:extLst>
      <p:ext uri="{BB962C8B-B14F-4D97-AF65-F5344CB8AC3E}">
        <p14:creationId xmlns:p14="http://schemas.microsoft.com/office/powerpoint/2010/main" val="1338913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a:t>
            </a:r>
            <a:r>
              <a:rPr lang="en-US" sz="4000" b="1" dirty="0"/>
              <a:t> NAT</a:t>
            </a:r>
            <a:endParaRPr lang="ru-RU" sz="4000" b="1" dirty="0"/>
          </a:p>
        </p:txBody>
      </p:sp>
    </p:spTree>
    <p:extLst>
      <p:ext uri="{BB962C8B-B14F-4D97-AF65-F5344CB8AC3E}">
        <p14:creationId xmlns:p14="http://schemas.microsoft.com/office/powerpoint/2010/main" val="3767199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В терминологии NAT внутренняя сеть представляет собой набор сетей, подлежащих переводу. </a:t>
            </a:r>
          </a:p>
          <a:p>
            <a:pPr marL="0" indent="0">
              <a:buNone/>
            </a:pPr>
            <a:r>
              <a:rPr lang="ru-RU" sz="2800" dirty="0"/>
              <a:t>Внешняя сеть относится ко всем другим сетям.</a:t>
            </a:r>
          </a:p>
          <a:p>
            <a:pPr marL="0" indent="0">
              <a:buNone/>
            </a:pPr>
            <a:r>
              <a:rPr lang="ru-RU" sz="2800" dirty="0"/>
              <a:t>При использовании NAT, адреса IPv4 имеют разные обозначения.</a:t>
            </a:r>
          </a:p>
          <a:p>
            <a:pPr marL="0" indent="0">
              <a:buNone/>
            </a:pPr>
            <a:r>
              <a:rPr lang="ru-RU" sz="2800" dirty="0"/>
              <a:t>Эти обозначения зависят от того, находятся ли они в частной сети или в общедоступной сети (в интернете), и является ли трафик входящим или исходящим.</a:t>
            </a:r>
          </a:p>
        </p:txBody>
      </p:sp>
    </p:spTree>
    <p:extLst>
      <p:ext uri="{BB962C8B-B14F-4D97-AF65-F5344CB8AC3E}">
        <p14:creationId xmlns:p14="http://schemas.microsoft.com/office/powerpoint/2010/main" val="206578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9895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t>NAT </a:t>
            </a:r>
            <a:r>
              <a:rPr lang="ru-RU" sz="2800" dirty="0"/>
              <a:t>включает в себя четыре типа адресов:</a:t>
            </a:r>
          </a:p>
          <a:p>
            <a:r>
              <a:rPr lang="ru-RU" sz="2800" dirty="0"/>
              <a:t>    •   </a:t>
            </a:r>
            <a:r>
              <a:rPr lang="ru-RU" sz="2800" b="1" dirty="0"/>
              <a:t>Внутренний локальный адрес (</a:t>
            </a:r>
            <a:r>
              <a:rPr lang="en-US" sz="2800" b="1" dirty="0"/>
              <a:t>Inside local address)</a:t>
            </a:r>
            <a:r>
              <a:rPr lang="en-US" sz="2800" dirty="0"/>
              <a:t>;</a:t>
            </a:r>
          </a:p>
          <a:p>
            <a:r>
              <a:rPr lang="ru-RU" sz="2800" dirty="0"/>
              <a:t>    •   </a:t>
            </a:r>
            <a:r>
              <a:rPr lang="ru-RU" sz="2800" b="1" dirty="0"/>
              <a:t>Внутренний глобальный адрес (</a:t>
            </a:r>
            <a:r>
              <a:rPr lang="en-US" sz="2800" b="1" dirty="0"/>
              <a:t>Inside global address)</a:t>
            </a:r>
            <a:r>
              <a:rPr lang="en-US" sz="2800" dirty="0"/>
              <a:t>;</a:t>
            </a:r>
          </a:p>
          <a:p>
            <a:r>
              <a:rPr lang="ru-RU" sz="2800" dirty="0"/>
              <a:t>    •   </a:t>
            </a:r>
            <a:r>
              <a:rPr lang="ru-RU" sz="2800" b="1" dirty="0"/>
              <a:t>Внешний местный адрес (</a:t>
            </a:r>
            <a:r>
              <a:rPr lang="en-US" sz="2800" b="1" dirty="0"/>
              <a:t>Outside local address)</a:t>
            </a:r>
            <a:r>
              <a:rPr lang="en-US" sz="2800" dirty="0"/>
              <a:t>;</a:t>
            </a:r>
          </a:p>
          <a:p>
            <a:r>
              <a:rPr lang="ru-RU" sz="2800" dirty="0"/>
              <a:t>    •   </a:t>
            </a:r>
            <a:r>
              <a:rPr lang="ru-RU" sz="2800" b="1" dirty="0"/>
              <a:t>Внешний глобальный адрес (</a:t>
            </a:r>
            <a:r>
              <a:rPr lang="en-US" sz="2800" b="1" dirty="0"/>
              <a:t>Outside global address)</a:t>
            </a:r>
            <a:r>
              <a:rPr lang="en-US" sz="2800" dirty="0"/>
              <a:t>;</a:t>
            </a:r>
            <a:endParaRPr lang="ru-RU" sz="2800" dirty="0"/>
          </a:p>
          <a:p>
            <a:endParaRPr lang="ru-RU" sz="2800" dirty="0"/>
          </a:p>
          <a:p>
            <a:r>
              <a:rPr lang="ru-RU" sz="2800" dirty="0"/>
              <a:t>При определении того, какой тип адреса используется, важно помнить, что терминология NAT всегда применяется с точки зрения устройства с транслированным адресом.</a:t>
            </a:r>
            <a:endParaRPr lang="en-US" sz="2800" dirty="0"/>
          </a:p>
        </p:txBody>
      </p:sp>
    </p:spTree>
    <p:extLst>
      <p:ext uri="{BB962C8B-B14F-4D97-AF65-F5344CB8AC3E}">
        <p14:creationId xmlns:p14="http://schemas.microsoft.com/office/powerpoint/2010/main" val="4236980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10053545"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То есть:</a:t>
            </a:r>
          </a:p>
          <a:p>
            <a:r>
              <a:rPr lang="ru-RU" sz="2800" dirty="0"/>
              <a:t>    •   </a:t>
            </a:r>
            <a:r>
              <a:rPr lang="ru-RU" sz="2800" b="1" dirty="0"/>
              <a:t>Внутренний адрес (</a:t>
            </a:r>
            <a:r>
              <a:rPr lang="ru-RU" sz="2800" b="1" dirty="0" err="1"/>
              <a:t>Inside</a:t>
            </a:r>
            <a:r>
              <a:rPr lang="ru-RU" sz="2800" b="1" dirty="0"/>
              <a:t> </a:t>
            </a:r>
            <a:r>
              <a:rPr lang="ru-RU" sz="2800" b="1" dirty="0" err="1"/>
              <a:t>address</a:t>
            </a:r>
            <a:r>
              <a:rPr lang="ru-RU" sz="2800" b="1" dirty="0"/>
              <a:t>)</a:t>
            </a:r>
            <a:r>
              <a:rPr lang="ru-RU" sz="2800" dirty="0"/>
              <a:t> - адрес устройства, которое транслируется NAT;</a:t>
            </a:r>
          </a:p>
          <a:p>
            <a:r>
              <a:rPr lang="ru-RU" sz="2800" dirty="0"/>
              <a:t>    •   </a:t>
            </a:r>
            <a:r>
              <a:rPr lang="ru-RU" sz="2800" b="1" dirty="0"/>
              <a:t>Внешний адрес (</a:t>
            </a:r>
            <a:r>
              <a:rPr lang="ru-RU" sz="2800" b="1" dirty="0" err="1"/>
              <a:t>Outside</a:t>
            </a:r>
            <a:r>
              <a:rPr lang="ru-RU" sz="2800" b="1" dirty="0"/>
              <a:t> </a:t>
            </a:r>
            <a:r>
              <a:rPr lang="ru-RU" sz="2800" b="1" dirty="0" err="1"/>
              <a:t>address</a:t>
            </a:r>
            <a:r>
              <a:rPr lang="ru-RU" sz="2800" b="1" dirty="0"/>
              <a:t>)</a:t>
            </a:r>
            <a:r>
              <a:rPr lang="ru-RU" sz="2800" dirty="0"/>
              <a:t> - адрес устройства назначения;</a:t>
            </a:r>
          </a:p>
          <a:p>
            <a:r>
              <a:rPr lang="ru-RU" sz="2800" dirty="0"/>
              <a:t>    •   </a:t>
            </a:r>
            <a:r>
              <a:rPr lang="ru-RU" sz="2800" b="1" dirty="0"/>
              <a:t>Локальный адрес (</a:t>
            </a:r>
            <a:r>
              <a:rPr lang="ru-RU" sz="2800" b="1" dirty="0" err="1"/>
              <a:t>Local</a:t>
            </a:r>
            <a:r>
              <a:rPr lang="ru-RU" sz="2800" b="1" dirty="0"/>
              <a:t> </a:t>
            </a:r>
            <a:r>
              <a:rPr lang="ru-RU" sz="2800" b="1" dirty="0" err="1"/>
              <a:t>address</a:t>
            </a:r>
            <a:r>
              <a:rPr lang="ru-RU" sz="2800" b="1" dirty="0"/>
              <a:t>)</a:t>
            </a:r>
            <a:r>
              <a:rPr lang="ru-RU" sz="2800" dirty="0"/>
              <a:t> - это любой адрес, который отображается во внутренней части сети;</a:t>
            </a:r>
          </a:p>
          <a:p>
            <a:r>
              <a:rPr lang="ru-RU" sz="2800" dirty="0"/>
              <a:t>    •   </a:t>
            </a:r>
            <a:r>
              <a:rPr lang="ru-RU" sz="2800" b="1" dirty="0"/>
              <a:t>Глобальный адрес (</a:t>
            </a:r>
            <a:r>
              <a:rPr lang="ru-RU" sz="2800" b="1" dirty="0" err="1"/>
              <a:t>Global</a:t>
            </a:r>
            <a:r>
              <a:rPr lang="ru-RU" sz="2800" b="1" dirty="0"/>
              <a:t> </a:t>
            </a:r>
            <a:r>
              <a:rPr lang="ru-RU" sz="2800" b="1" dirty="0" err="1"/>
              <a:t>address</a:t>
            </a:r>
            <a:r>
              <a:rPr lang="ru-RU" sz="2800" b="1" dirty="0"/>
              <a:t>)</a:t>
            </a:r>
            <a:r>
              <a:rPr lang="ru-RU" sz="2800" dirty="0"/>
              <a:t> - это любой адрес, который отображается во внешней части сети;</a:t>
            </a:r>
          </a:p>
          <a:p>
            <a:r>
              <a:rPr lang="ru-RU" sz="2800" dirty="0"/>
              <a:t>Рассмотрим это на примере схемы.</a:t>
            </a:r>
          </a:p>
        </p:txBody>
      </p:sp>
    </p:spTree>
    <p:extLst>
      <p:ext uri="{BB962C8B-B14F-4D97-AF65-F5344CB8AC3E}">
        <p14:creationId xmlns:p14="http://schemas.microsoft.com/office/powerpoint/2010/main" val="3439128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947" y="1524000"/>
            <a:ext cx="11771837" cy="4368799"/>
          </a:xfrm>
          <a:prstGeom prst="rect">
            <a:avLst/>
          </a:prstGeom>
        </p:spPr>
      </p:pic>
      <p:sp>
        <p:nvSpPr>
          <p:cNvPr id="3"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Tree>
    <p:extLst>
      <p:ext uri="{BB962C8B-B14F-4D97-AF65-F5344CB8AC3E}">
        <p14:creationId xmlns:p14="http://schemas.microsoft.com/office/powerpoint/2010/main" val="2880472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На рисунке ПК имеет внутренний локальный (</a:t>
            </a:r>
            <a:r>
              <a:rPr lang="ru-RU" sz="2800" b="1" dirty="0" err="1"/>
              <a:t>Inside</a:t>
            </a:r>
            <a:r>
              <a:rPr lang="ru-RU" sz="2800" b="1" dirty="0"/>
              <a:t> </a:t>
            </a:r>
            <a:r>
              <a:rPr lang="ru-RU" sz="2800" b="1" dirty="0" err="1"/>
              <a:t>local</a:t>
            </a:r>
            <a:r>
              <a:rPr lang="ru-RU" sz="2800" dirty="0"/>
              <a:t>) адрес 192.168.1.5.</a:t>
            </a:r>
          </a:p>
          <a:p>
            <a:pPr marL="0" indent="0">
              <a:buNone/>
            </a:pPr>
            <a:r>
              <a:rPr lang="ru-RU" sz="2800" dirty="0"/>
              <a:t>С его точки зрения веб-сервер имеет внешний (</a:t>
            </a:r>
            <a:r>
              <a:rPr lang="ru-RU" sz="2800" b="1" dirty="0" err="1"/>
              <a:t>outside</a:t>
            </a:r>
            <a:r>
              <a:rPr lang="ru-RU" sz="2800" dirty="0"/>
              <a:t>) адрес 208.141.17.4. </a:t>
            </a:r>
          </a:p>
          <a:p>
            <a:pPr marL="0" indent="0">
              <a:buNone/>
            </a:pPr>
            <a:r>
              <a:rPr lang="ru-RU" sz="2800" dirty="0"/>
              <a:t>Когда с ПК отправляются пакеты на глобальный адрес веб-сервера, внутренний локальный (</a:t>
            </a:r>
            <a:r>
              <a:rPr lang="ru-RU" sz="2800" b="1" dirty="0" err="1"/>
              <a:t>Inside</a:t>
            </a:r>
            <a:r>
              <a:rPr lang="ru-RU" sz="2800" b="1" dirty="0"/>
              <a:t> </a:t>
            </a:r>
            <a:r>
              <a:rPr lang="ru-RU" sz="2800" b="1" dirty="0" err="1"/>
              <a:t>local</a:t>
            </a:r>
            <a:r>
              <a:rPr lang="ru-RU" sz="2800" dirty="0"/>
              <a:t>) адрес ПК транслируется в 208.141.16.5 (</a:t>
            </a:r>
            <a:r>
              <a:rPr lang="ru-RU" sz="2800" b="1" dirty="0" err="1"/>
              <a:t>inside</a:t>
            </a:r>
            <a:r>
              <a:rPr lang="ru-RU" sz="2800" b="1" dirty="0"/>
              <a:t> </a:t>
            </a:r>
            <a:r>
              <a:rPr lang="ru-RU" sz="2800" b="1" dirty="0" err="1"/>
              <a:t>global</a:t>
            </a:r>
            <a:r>
              <a:rPr lang="ru-RU" sz="2800" dirty="0"/>
              <a:t>). </a:t>
            </a:r>
          </a:p>
          <a:p>
            <a:pPr marL="0" indent="0">
              <a:buNone/>
            </a:pPr>
            <a:r>
              <a:rPr lang="ru-RU" sz="2800" dirty="0"/>
              <a:t>Адрес внешнего устройства обычно не переводится, поскольку он является общедоступным адресом IPv4.</a:t>
            </a:r>
          </a:p>
        </p:txBody>
      </p:sp>
    </p:spTree>
    <p:extLst>
      <p:ext uri="{BB962C8B-B14F-4D97-AF65-F5344CB8AC3E}">
        <p14:creationId xmlns:p14="http://schemas.microsoft.com/office/powerpoint/2010/main" val="2372273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Необходимо отметить, что ПК имеет разные локальные и глобальные адреса.</a:t>
            </a:r>
          </a:p>
          <a:p>
            <a:pPr marL="0" indent="0">
              <a:buNone/>
            </a:pPr>
            <a:r>
              <a:rPr lang="ru-RU" sz="2800" dirty="0"/>
              <a:t>В отличие от ПК, веб-сервер имеет одинаковый публичный IP адрес. </a:t>
            </a:r>
          </a:p>
          <a:p>
            <a:pPr marL="0" indent="0">
              <a:buNone/>
            </a:pPr>
            <a:r>
              <a:rPr lang="ru-RU" sz="2800" dirty="0"/>
              <a:t>С его точки зрения трафик, исходящий из ПК поступает с внутреннего глобального адреса 208.141.16.5. </a:t>
            </a:r>
          </a:p>
          <a:p>
            <a:pPr marL="0" indent="0">
              <a:buNone/>
            </a:pPr>
            <a:r>
              <a:rPr lang="ru-RU" sz="2800" dirty="0"/>
              <a:t>Маршрутизатор с NAT является точкой демаркации между внутренней и внешней сетями и между локальными и глобальными адресами.</a:t>
            </a:r>
          </a:p>
        </p:txBody>
      </p:sp>
    </p:spTree>
    <p:extLst>
      <p:ext uri="{BB962C8B-B14F-4D97-AF65-F5344CB8AC3E}">
        <p14:creationId xmlns:p14="http://schemas.microsoft.com/office/powerpoint/2010/main" val="3477071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1212766" y="1354667"/>
            <a:ext cx="10403501" cy="49783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Термины, </a:t>
            </a:r>
            <a:r>
              <a:rPr lang="ru-RU" sz="2800" b="1" dirty="0" err="1"/>
              <a:t>inside</a:t>
            </a:r>
            <a:r>
              <a:rPr lang="ru-RU" sz="2800" dirty="0"/>
              <a:t> и </a:t>
            </a:r>
            <a:r>
              <a:rPr lang="ru-RU" sz="2800" b="1" dirty="0" err="1"/>
              <a:t>outside</a:t>
            </a:r>
            <a:r>
              <a:rPr lang="ru-RU" sz="2800" dirty="0"/>
              <a:t>, объединены с терминами </a:t>
            </a:r>
            <a:r>
              <a:rPr lang="ru-RU" sz="2800" b="1" dirty="0" err="1"/>
              <a:t>local</a:t>
            </a:r>
            <a:r>
              <a:rPr lang="ru-RU" sz="2800" dirty="0"/>
              <a:t> и</a:t>
            </a:r>
            <a:r>
              <a:rPr lang="ru-RU" sz="2800" b="1" dirty="0"/>
              <a:t> </a:t>
            </a:r>
            <a:r>
              <a:rPr lang="ru-RU" sz="2800" b="1" dirty="0" err="1"/>
              <a:t>global</a:t>
            </a:r>
            <a:r>
              <a:rPr lang="ru-RU" sz="2800" dirty="0"/>
              <a:t>, чтобы ссылаться на конкретные адреса. </a:t>
            </a:r>
          </a:p>
          <a:p>
            <a:r>
              <a:rPr lang="ru-RU" sz="2800" dirty="0"/>
              <a:t>На рисунке маршрутизатор настроен на предоставление NAT и имеет пул общедоступных адресов для назначения внутренним хостам.</a:t>
            </a:r>
          </a:p>
          <a:p>
            <a:r>
              <a:rPr lang="ru-RU" sz="2800" dirty="0"/>
              <a:t>На следующем рисунке показано как сообщение отправляется с внутреннего ПК на внешний веб-сервер, через маршрутизатор с поддержкой NAT, а также как сообщение высылается и переводится в обратную сторону.</a:t>
            </a:r>
          </a:p>
        </p:txBody>
      </p:sp>
    </p:spTree>
    <p:extLst>
      <p:ext uri="{BB962C8B-B14F-4D97-AF65-F5344CB8AC3E}">
        <p14:creationId xmlns:p14="http://schemas.microsoft.com/office/powerpoint/2010/main" val="1844422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Tree>
    <p:extLst>
      <p:ext uri="{BB962C8B-B14F-4D97-AF65-F5344CB8AC3E}">
        <p14:creationId xmlns:p14="http://schemas.microsoft.com/office/powerpoint/2010/main" val="2348492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903112" y="959556"/>
            <a:ext cx="10713156" cy="56895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Внутренний локальный адрес (</a:t>
            </a:r>
            <a:r>
              <a:rPr lang="ru-RU" sz="2800" b="1" dirty="0" err="1"/>
              <a:t>Inside</a:t>
            </a:r>
            <a:r>
              <a:rPr lang="ru-RU" sz="2800" b="1" dirty="0"/>
              <a:t> </a:t>
            </a:r>
            <a:r>
              <a:rPr lang="ru-RU" sz="2800" b="1" dirty="0" err="1"/>
              <a:t>local</a:t>
            </a:r>
            <a:r>
              <a:rPr lang="ru-RU" sz="2800" b="1" dirty="0"/>
              <a:t> </a:t>
            </a:r>
            <a:r>
              <a:rPr lang="ru-RU" sz="2800" b="1" dirty="0" err="1"/>
              <a:t>address</a:t>
            </a:r>
            <a:r>
              <a:rPr lang="ru-RU" sz="2800" dirty="0"/>
              <a:t>) – адрес источника, видимый из внутренней сети. </a:t>
            </a:r>
          </a:p>
          <a:p>
            <a:r>
              <a:rPr lang="ru-RU" sz="2800" dirty="0"/>
              <a:t>На рисунке адрес 192.168.1.5 присвоен ПК – это и есть его внутренний локальный адрес.</a:t>
            </a:r>
          </a:p>
          <a:p>
            <a:r>
              <a:rPr lang="ru-RU" sz="2800" dirty="0"/>
              <a:t>Внутренний глобальный адрес (</a:t>
            </a:r>
            <a:r>
              <a:rPr lang="ru-RU" sz="2800" b="1" dirty="0" err="1"/>
              <a:t>Inside</a:t>
            </a:r>
            <a:r>
              <a:rPr lang="ru-RU" sz="2800" b="1" dirty="0"/>
              <a:t> </a:t>
            </a:r>
            <a:r>
              <a:rPr lang="ru-RU" sz="2800" b="1" dirty="0" err="1"/>
              <a:t>global</a:t>
            </a:r>
            <a:r>
              <a:rPr lang="ru-RU" sz="2800" b="1" dirty="0"/>
              <a:t> </a:t>
            </a:r>
            <a:r>
              <a:rPr lang="ru-RU" sz="2800" b="1" dirty="0" err="1"/>
              <a:t>address</a:t>
            </a:r>
            <a:r>
              <a:rPr lang="ru-RU" sz="2800" dirty="0"/>
              <a:t>) – адрес источника, видимый из внешней сети. </a:t>
            </a:r>
          </a:p>
          <a:p>
            <a:r>
              <a:rPr lang="ru-RU" sz="2800" dirty="0"/>
              <a:t>На рисунке, когда трафик с ПК отправляется на веб-сервер по адресу 208.141.17.4, маршрутизатор переводит внутренний локальный адрес (</a:t>
            </a:r>
            <a:r>
              <a:rPr lang="ru-RU" sz="2800" b="1" dirty="0" err="1"/>
              <a:t>Inside</a:t>
            </a:r>
            <a:r>
              <a:rPr lang="ru-RU" sz="2800" b="1" dirty="0"/>
              <a:t> </a:t>
            </a:r>
            <a:r>
              <a:rPr lang="ru-RU" sz="2800" b="1" dirty="0" err="1"/>
              <a:t>local</a:t>
            </a:r>
            <a:r>
              <a:rPr lang="ru-RU" sz="2800" b="1" dirty="0"/>
              <a:t> </a:t>
            </a:r>
            <a:r>
              <a:rPr lang="ru-RU" sz="2800" b="1" dirty="0" err="1"/>
              <a:t>address</a:t>
            </a:r>
            <a:r>
              <a:rPr lang="ru-RU" sz="2800" dirty="0"/>
              <a:t>) на внутренний глобальный адрес (</a:t>
            </a:r>
            <a:r>
              <a:rPr lang="ru-RU" sz="2800" b="1" dirty="0" err="1"/>
              <a:t>Inside</a:t>
            </a:r>
            <a:r>
              <a:rPr lang="ru-RU" sz="2800" b="1" dirty="0"/>
              <a:t> </a:t>
            </a:r>
            <a:r>
              <a:rPr lang="ru-RU" sz="2800" b="1" dirty="0" err="1"/>
              <a:t>global</a:t>
            </a:r>
            <a:r>
              <a:rPr lang="ru-RU" sz="2800" b="1" dirty="0"/>
              <a:t> </a:t>
            </a:r>
            <a:r>
              <a:rPr lang="ru-RU" sz="2800" b="1" dirty="0" err="1"/>
              <a:t>address</a:t>
            </a:r>
            <a:r>
              <a:rPr lang="ru-RU" sz="2800" dirty="0"/>
              <a:t>). </a:t>
            </a:r>
          </a:p>
          <a:p>
            <a:r>
              <a:rPr lang="ru-RU" sz="2800" dirty="0"/>
              <a:t>В этом случае роутер изменяет адрес источника IPv4 с 192.168.1.5 на 208.141.16.5.</a:t>
            </a:r>
          </a:p>
        </p:txBody>
      </p:sp>
    </p:spTree>
    <p:extLst>
      <p:ext uri="{BB962C8B-B14F-4D97-AF65-F5344CB8AC3E}">
        <p14:creationId xmlns:p14="http://schemas.microsoft.com/office/powerpoint/2010/main" val="1575930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903112" y="959556"/>
            <a:ext cx="10239021" cy="56895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Внешний глобальный адрес (</a:t>
            </a:r>
            <a:r>
              <a:rPr lang="ru-RU" sz="2800" b="1" dirty="0" err="1"/>
              <a:t>Outside</a:t>
            </a:r>
            <a:r>
              <a:rPr lang="ru-RU" sz="2800" b="1" dirty="0"/>
              <a:t> </a:t>
            </a:r>
            <a:r>
              <a:rPr lang="ru-RU" sz="2800" b="1" dirty="0" err="1"/>
              <a:t>global</a:t>
            </a:r>
            <a:r>
              <a:rPr lang="ru-RU" sz="2800" b="1" dirty="0"/>
              <a:t> </a:t>
            </a:r>
            <a:r>
              <a:rPr lang="ru-RU" sz="2800" b="1" dirty="0" err="1"/>
              <a:t>address</a:t>
            </a:r>
            <a:r>
              <a:rPr lang="ru-RU" sz="2800" dirty="0"/>
              <a:t>) – адрес адресата, видимый из внешней сети. </a:t>
            </a:r>
          </a:p>
          <a:p>
            <a:r>
              <a:rPr lang="ru-RU" sz="2800" dirty="0"/>
              <a:t>Это глобально маршрутизируемый IPv4-адрес, назначенный хосту в Интернете. </a:t>
            </a:r>
          </a:p>
          <a:p>
            <a:r>
              <a:rPr lang="ru-RU" sz="2800" dirty="0"/>
              <a:t>На схеме веб-сервер доступен по адресу 208.141.17.4. </a:t>
            </a:r>
          </a:p>
          <a:p>
            <a:r>
              <a:rPr lang="ru-RU" sz="2800" dirty="0"/>
              <a:t>Чаще всего внешние локальные и внешние глобальные адреса одинаковы.</a:t>
            </a:r>
          </a:p>
          <a:p>
            <a:r>
              <a:rPr lang="ru-RU" sz="2800" dirty="0"/>
              <a:t>Внешний локальный адрес (</a:t>
            </a:r>
            <a:r>
              <a:rPr lang="ru-RU" sz="2800" b="1" dirty="0" err="1"/>
              <a:t>Outside</a:t>
            </a:r>
            <a:r>
              <a:rPr lang="ru-RU" sz="2800" b="1" dirty="0"/>
              <a:t> </a:t>
            </a:r>
            <a:r>
              <a:rPr lang="ru-RU" sz="2800" b="1" dirty="0" err="1"/>
              <a:t>local</a:t>
            </a:r>
            <a:r>
              <a:rPr lang="ru-RU" sz="2800" b="1" dirty="0"/>
              <a:t> </a:t>
            </a:r>
            <a:r>
              <a:rPr lang="ru-RU" sz="2800" b="1" dirty="0" err="1"/>
              <a:t>address</a:t>
            </a:r>
            <a:r>
              <a:rPr lang="ru-RU" sz="2800" dirty="0"/>
              <a:t>) – адрес получателя, видимый из внутренней сети. </a:t>
            </a:r>
          </a:p>
          <a:p>
            <a:r>
              <a:rPr lang="ru-RU" sz="2800" dirty="0"/>
              <a:t>В этом примере ПК отправляет трафик на веб-сервер по адресу 208.141.17.4</a:t>
            </a:r>
          </a:p>
        </p:txBody>
      </p:sp>
    </p:spTree>
    <p:extLst>
      <p:ext uri="{BB962C8B-B14F-4D97-AF65-F5344CB8AC3E}">
        <p14:creationId xmlns:p14="http://schemas.microsoft.com/office/powerpoint/2010/main" val="4167896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903112" y="959556"/>
            <a:ext cx="10239021" cy="56895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Рассмотрим весь путь прохождения пакета. </a:t>
            </a:r>
          </a:p>
          <a:p>
            <a:r>
              <a:rPr lang="ru-RU" sz="2800" dirty="0"/>
              <a:t>ПК с адресом 192.168.1.5 пытается установить связь с веб-сервером 208.141.17.4. </a:t>
            </a:r>
          </a:p>
          <a:p>
            <a:r>
              <a:rPr lang="ru-RU" sz="2800" dirty="0"/>
              <a:t>Когда пакет прибывает в маршрутизатор с поддержкой NAT, он считывает IPv4 адрес назначения пакета, чтобы определить, соответствует ли пакет критериям, указанным для перевода. </a:t>
            </a:r>
          </a:p>
          <a:p>
            <a:r>
              <a:rPr lang="ru-RU" sz="2800" dirty="0"/>
              <a:t>В этом примере исходный адрес соответствует критериям и переводится с 192.168.1.5 (</a:t>
            </a:r>
            <a:r>
              <a:rPr lang="ru-RU" sz="2800" b="1" dirty="0" err="1"/>
              <a:t>Inside</a:t>
            </a:r>
            <a:r>
              <a:rPr lang="ru-RU" sz="2800" b="1" dirty="0"/>
              <a:t> </a:t>
            </a:r>
            <a:r>
              <a:rPr lang="ru-RU" sz="2800" b="1" dirty="0" err="1"/>
              <a:t>local</a:t>
            </a:r>
            <a:r>
              <a:rPr lang="ru-RU" sz="2800" b="1" dirty="0"/>
              <a:t> </a:t>
            </a:r>
            <a:r>
              <a:rPr lang="ru-RU" sz="2800" b="1" dirty="0" err="1"/>
              <a:t>address</a:t>
            </a:r>
            <a:r>
              <a:rPr lang="ru-RU" sz="2800" dirty="0"/>
              <a:t>) на 208.141.16.5. (</a:t>
            </a:r>
            <a:r>
              <a:rPr lang="ru-RU" sz="2800" b="1" dirty="0" err="1"/>
              <a:t>Inside</a:t>
            </a:r>
            <a:r>
              <a:rPr lang="ru-RU" sz="2800" b="1" dirty="0"/>
              <a:t> </a:t>
            </a:r>
            <a:r>
              <a:rPr lang="ru-RU" sz="2800" b="1" dirty="0" err="1"/>
              <a:t>global</a:t>
            </a:r>
            <a:r>
              <a:rPr lang="ru-RU" sz="2800" b="1" dirty="0"/>
              <a:t> </a:t>
            </a:r>
            <a:r>
              <a:rPr lang="ru-RU" sz="2800" b="1" dirty="0" err="1"/>
              <a:t>address</a:t>
            </a:r>
            <a:r>
              <a:rPr lang="ru-RU" sz="2800" dirty="0"/>
              <a:t>). </a:t>
            </a:r>
          </a:p>
        </p:txBody>
      </p:sp>
    </p:spTree>
    <p:extLst>
      <p:ext uri="{BB962C8B-B14F-4D97-AF65-F5344CB8AC3E}">
        <p14:creationId xmlns:p14="http://schemas.microsoft.com/office/powerpoint/2010/main" val="1173099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Терминология </a:t>
            </a:r>
            <a:r>
              <a:rPr lang="en-US" sz="4000" b="1" dirty="0"/>
              <a:t>NAT</a:t>
            </a:r>
          </a:p>
        </p:txBody>
      </p:sp>
      <p:sp>
        <p:nvSpPr>
          <p:cNvPr id="3" name="Объект 2"/>
          <p:cNvSpPr txBox="1">
            <a:spLocks/>
          </p:cNvSpPr>
          <p:nvPr/>
        </p:nvSpPr>
        <p:spPr>
          <a:xfrm>
            <a:off x="903112" y="959556"/>
            <a:ext cx="10239021" cy="56895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Роутер добавляет это сопоставление локального в глобальный адрес в таблицу NAT и отправляет пакет с переведенным адресом источника в пункт назначения. </a:t>
            </a:r>
          </a:p>
          <a:p>
            <a:r>
              <a:rPr lang="ru-RU" sz="2800" dirty="0"/>
              <a:t>Веб-сервер отвечает пакетом, адресованным внутреннему глобальному адресу ПК (208.141.16.5). </a:t>
            </a:r>
          </a:p>
          <a:p>
            <a:r>
              <a:rPr lang="ru-RU" sz="2800" dirty="0"/>
              <a:t>Роутер получает пакет с адресом назначения 208.141.16.5 и проверяет таблицу NAT, в которой находит запись для этого сопоставления. </a:t>
            </a:r>
          </a:p>
          <a:p>
            <a:r>
              <a:rPr lang="ru-RU" sz="2800" dirty="0"/>
              <a:t>Он использует эту информацию и переводит обратно внутренний глобальный адрес (208.141.16.5) на внутренний локальный адрес (192.168.1.5), и пакет перенаправляется в сторону ПК.</a:t>
            </a:r>
          </a:p>
        </p:txBody>
      </p:sp>
    </p:spTree>
    <p:extLst>
      <p:ext uri="{BB962C8B-B14F-4D97-AF65-F5344CB8AC3E}">
        <p14:creationId xmlns:p14="http://schemas.microsoft.com/office/powerpoint/2010/main" val="93596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a:t>
            </a:r>
            <a:r>
              <a:rPr lang="en-US" sz="4000" b="1" dirty="0"/>
              <a:t> NAT</a:t>
            </a:r>
            <a:endParaRPr lang="ru-RU" sz="4000" b="1" dirty="0"/>
          </a:p>
        </p:txBody>
      </p:sp>
    </p:spTree>
    <p:extLst>
      <p:ext uri="{BB962C8B-B14F-4D97-AF65-F5344CB8AC3E}">
        <p14:creationId xmlns:p14="http://schemas.microsoft.com/office/powerpoint/2010/main" val="3141574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Существует три типа трансляции NAT:</a:t>
            </a:r>
          </a:p>
          <a:p>
            <a:r>
              <a:rPr lang="ru-RU" sz="2800" dirty="0"/>
              <a:t>   •   </a:t>
            </a:r>
            <a:r>
              <a:rPr lang="ru-RU" sz="2800" b="1" dirty="0"/>
              <a:t>Статическая адресная трансляция </a:t>
            </a:r>
            <a:r>
              <a:rPr lang="ru-RU" sz="2800" dirty="0"/>
              <a:t>(</a:t>
            </a:r>
            <a:r>
              <a:rPr lang="ru-RU" sz="2800" b="1" dirty="0" err="1"/>
              <a:t>Static</a:t>
            </a:r>
            <a:r>
              <a:rPr lang="ru-RU" sz="2800" b="1" dirty="0"/>
              <a:t> NAT</a:t>
            </a:r>
            <a:r>
              <a:rPr lang="ru-RU" sz="2800" dirty="0"/>
              <a:t>) – сопоставление адресов один к одному между локальными и глобальными адресами;</a:t>
            </a:r>
          </a:p>
          <a:p>
            <a:r>
              <a:rPr lang="ru-RU" sz="2800" dirty="0"/>
              <a:t>   •   </a:t>
            </a:r>
            <a:r>
              <a:rPr lang="ru-RU" sz="2800" b="1" i="1" dirty="0"/>
              <a:t>Динамическая адресная трансляция </a:t>
            </a:r>
            <a:r>
              <a:rPr lang="ru-RU" sz="2800" dirty="0"/>
              <a:t>(</a:t>
            </a:r>
            <a:r>
              <a:rPr lang="ru-RU" sz="2800" b="1" dirty="0" err="1"/>
              <a:t>Dynamic</a:t>
            </a:r>
            <a:r>
              <a:rPr lang="ru-RU" sz="2800" b="1" dirty="0"/>
              <a:t> NAT</a:t>
            </a:r>
            <a:r>
              <a:rPr lang="ru-RU" sz="2800" dirty="0"/>
              <a:t>) – сопоставление адресов “многие ко многим” между локальными и глобальными адресами;</a:t>
            </a:r>
          </a:p>
          <a:p>
            <a:r>
              <a:rPr lang="ru-RU" sz="2800" dirty="0"/>
              <a:t>   •   </a:t>
            </a:r>
            <a:r>
              <a:rPr lang="ru-RU" sz="2800" b="1" dirty="0" err="1"/>
              <a:t>Port</a:t>
            </a:r>
            <a:r>
              <a:rPr lang="ru-RU" sz="2800" b="1" dirty="0"/>
              <a:t> </a:t>
            </a:r>
            <a:r>
              <a:rPr lang="ru-RU" sz="2800" b="1" dirty="0" err="1"/>
              <a:t>Address</a:t>
            </a:r>
            <a:r>
              <a:rPr lang="ru-RU" sz="2800" b="1" dirty="0"/>
              <a:t> </a:t>
            </a:r>
            <a:r>
              <a:rPr lang="ru-RU" sz="2800" b="1" dirty="0" err="1"/>
              <a:t>Translation</a:t>
            </a:r>
            <a:r>
              <a:rPr lang="ru-RU" sz="2800" b="1" dirty="0"/>
              <a:t> </a:t>
            </a:r>
            <a:r>
              <a:rPr lang="ru-RU" sz="2800" dirty="0"/>
              <a:t>(</a:t>
            </a:r>
            <a:r>
              <a:rPr lang="en-US" sz="2800" b="1" dirty="0"/>
              <a:t>P</a:t>
            </a:r>
            <a:r>
              <a:rPr lang="ru-RU" sz="2800" b="1" dirty="0"/>
              <a:t>AT</a:t>
            </a:r>
            <a:r>
              <a:rPr lang="ru-RU" sz="2800" dirty="0"/>
              <a:t>) – многоадресное сопоставление адресов между локальными и глобальными адресами c использованием портов. </a:t>
            </a:r>
          </a:p>
          <a:p>
            <a:r>
              <a:rPr lang="ru-RU" sz="2800" dirty="0"/>
              <a:t>Также этот метод известен как </a:t>
            </a:r>
            <a:r>
              <a:rPr lang="ru-RU" sz="2800" b="1" dirty="0"/>
              <a:t>NAT </a:t>
            </a:r>
            <a:r>
              <a:rPr lang="ru-RU" sz="2800" b="1" dirty="0" err="1"/>
              <a:t>Overload</a:t>
            </a:r>
            <a:r>
              <a:rPr lang="ru-RU" sz="2800" dirty="0"/>
              <a:t>;</a:t>
            </a:r>
          </a:p>
        </p:txBody>
      </p:sp>
    </p:spTree>
    <p:extLst>
      <p:ext uri="{BB962C8B-B14F-4D97-AF65-F5344CB8AC3E}">
        <p14:creationId xmlns:p14="http://schemas.microsoft.com/office/powerpoint/2010/main" val="3709777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b="1" dirty="0" err="1"/>
              <a:t>Static</a:t>
            </a:r>
            <a:r>
              <a:rPr lang="ru-RU" sz="2800" b="1" dirty="0"/>
              <a:t> NAT</a:t>
            </a:r>
          </a:p>
          <a:p>
            <a:r>
              <a:rPr lang="ru-RU" sz="2800" dirty="0"/>
              <a:t>Статический NAT использует сопоставление локальных и глобальных адресов один к одному. </a:t>
            </a:r>
          </a:p>
          <a:p>
            <a:r>
              <a:rPr lang="ru-RU" sz="2800" dirty="0"/>
              <a:t>Эти сопоставления настраиваются администратором сети и остаются постоянными. </a:t>
            </a:r>
          </a:p>
          <a:p>
            <a:r>
              <a:rPr lang="ru-RU" sz="2800" dirty="0"/>
              <a:t>Когда устройства отправляют трафик в Интернет, их внутренние локальные адреса переводятся в настроенные внутренние глобальные адреса. </a:t>
            </a:r>
          </a:p>
          <a:p>
            <a:r>
              <a:rPr lang="ru-RU" sz="2800" dirty="0"/>
              <a:t>Для внешних сетей эти устройства имеют общедоступные IPv4-адреса. </a:t>
            </a:r>
          </a:p>
        </p:txBody>
      </p:sp>
    </p:spTree>
    <p:extLst>
      <p:ext uri="{BB962C8B-B14F-4D97-AF65-F5344CB8AC3E}">
        <p14:creationId xmlns:p14="http://schemas.microsoft.com/office/powerpoint/2010/main" val="1166492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Статический NAT особенно полезен для веб-серверов.</a:t>
            </a:r>
          </a:p>
          <a:p>
            <a:r>
              <a:rPr lang="ru-RU" sz="2800" dirty="0"/>
              <a:t>Также статический NAT применяется для устройств, которые должны иметь согласованный адрес, доступный из Интернета, как например веб-сервер компании. </a:t>
            </a:r>
          </a:p>
          <a:p>
            <a:r>
              <a:rPr lang="ru-RU" sz="2800" dirty="0"/>
              <a:t>Статический NAT требует наличия достаточного количества общедоступных адресов для удовлетворения общего количества одновременных сеансов пользователя.</a:t>
            </a:r>
          </a:p>
        </p:txBody>
      </p:sp>
    </p:spTree>
    <p:extLst>
      <p:ext uri="{BB962C8B-B14F-4D97-AF65-F5344CB8AC3E}">
        <p14:creationId xmlns:p14="http://schemas.microsoft.com/office/powerpoint/2010/main" val="675179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Статическая NAT таблица выглядит так:</a:t>
            </a:r>
          </a:p>
        </p:txBody>
      </p:sp>
      <p:pic>
        <p:nvPicPr>
          <p:cNvPr id="4" name="Рисунок 3"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5645" y="1873956"/>
            <a:ext cx="7572056" cy="3251199"/>
          </a:xfrm>
          <a:prstGeom prst="rect">
            <a:avLst/>
          </a:prstGeom>
        </p:spPr>
      </p:pic>
    </p:spTree>
    <p:extLst>
      <p:ext uri="{BB962C8B-B14F-4D97-AF65-F5344CB8AC3E}">
        <p14:creationId xmlns:p14="http://schemas.microsoft.com/office/powerpoint/2010/main" val="2159155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b="1" dirty="0" err="1"/>
              <a:t>Dynamic</a:t>
            </a:r>
            <a:r>
              <a:rPr lang="ru-RU" sz="2800" b="1" dirty="0"/>
              <a:t> NAT</a:t>
            </a:r>
          </a:p>
          <a:p>
            <a:r>
              <a:rPr lang="ru-RU" sz="2800" dirty="0"/>
              <a:t>Динамический NAT использует пул публичных адресов и назначает их по принципу «первым пришел, первым обслужен». </a:t>
            </a:r>
          </a:p>
          <a:p>
            <a:r>
              <a:rPr lang="ru-RU" sz="2800" dirty="0"/>
              <a:t>Когда внутреннее устройство запрашивает доступ к внешней сети, динамический NAT назначает доступный общедоступный IPv4-адрес из пула. </a:t>
            </a:r>
          </a:p>
          <a:p>
            <a:r>
              <a:rPr lang="ru-RU" sz="2800" dirty="0"/>
              <a:t>Подобно статическому NAT, динамический NAT требует наличия достаточного количества общедоступных адресов для удовлетворения общего количества одновременных сеансов пользователя.</a:t>
            </a:r>
          </a:p>
        </p:txBody>
      </p:sp>
    </p:spTree>
    <p:extLst>
      <p:ext uri="{BB962C8B-B14F-4D97-AF65-F5344CB8AC3E}">
        <p14:creationId xmlns:p14="http://schemas.microsoft.com/office/powerpoint/2010/main" val="1662893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1162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Динамическая NAT таблица выглядит так:</a:t>
            </a:r>
          </a:p>
        </p:txBody>
      </p:sp>
      <p:pic>
        <p:nvPicPr>
          <p:cNvPr id="5" name="Рисунок 4"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442" y="1872565"/>
            <a:ext cx="7867068" cy="3918635"/>
          </a:xfrm>
          <a:prstGeom prst="rect">
            <a:avLst/>
          </a:prstGeom>
        </p:spPr>
      </p:pic>
    </p:spTree>
    <p:extLst>
      <p:ext uri="{BB962C8B-B14F-4D97-AF65-F5344CB8AC3E}">
        <p14:creationId xmlns:p14="http://schemas.microsoft.com/office/powerpoint/2010/main" val="2931839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501422"/>
            <a:ext cx="10239021" cy="479777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b="1" dirty="0" err="1"/>
              <a:t>Port</a:t>
            </a:r>
            <a:r>
              <a:rPr lang="ru-RU" sz="2800" b="1" dirty="0"/>
              <a:t> </a:t>
            </a:r>
            <a:r>
              <a:rPr lang="ru-RU" sz="2800" b="1" dirty="0" err="1"/>
              <a:t>Address</a:t>
            </a:r>
            <a:r>
              <a:rPr lang="ru-RU" sz="2800" b="1" dirty="0"/>
              <a:t> </a:t>
            </a:r>
            <a:r>
              <a:rPr lang="ru-RU" sz="2800" b="1" dirty="0" err="1"/>
              <a:t>Translation</a:t>
            </a:r>
            <a:r>
              <a:rPr lang="ru-RU" sz="2800" b="1" dirty="0"/>
              <a:t> (PAT)</a:t>
            </a:r>
          </a:p>
          <a:p>
            <a:r>
              <a:rPr lang="ru-RU" sz="2800" b="1" dirty="0"/>
              <a:t>PAT</a:t>
            </a:r>
            <a:r>
              <a:rPr lang="ru-RU" sz="2800" dirty="0"/>
              <a:t> транслирует несколько частных адресов на один или несколько общедоступных адресов. </a:t>
            </a:r>
            <a:endParaRPr lang="en-US" sz="2800" dirty="0"/>
          </a:p>
          <a:p>
            <a:r>
              <a:rPr lang="ru-RU" sz="2800" dirty="0"/>
              <a:t>Это то, что делают большинство домашних маршрутизаторов. </a:t>
            </a:r>
            <a:endParaRPr lang="en-US" sz="2800" dirty="0"/>
          </a:p>
          <a:p>
            <a:r>
              <a:rPr lang="ru-RU" sz="2800" dirty="0"/>
              <a:t>Интернет-провайдер назначает один адрес маршрутизатору, но несколько членов семьи могут одновременно получать доступ к Интернету. </a:t>
            </a:r>
            <a:endParaRPr lang="en-US" sz="2800" dirty="0"/>
          </a:p>
          <a:p>
            <a:r>
              <a:rPr lang="ru-RU" sz="2800" dirty="0"/>
              <a:t>Это наиболее распространенная форма NAT.</a:t>
            </a:r>
            <a:endParaRPr lang="en-US" sz="2800" dirty="0"/>
          </a:p>
        </p:txBody>
      </p:sp>
    </p:spTree>
    <p:extLst>
      <p:ext uri="{BB962C8B-B14F-4D97-AF65-F5344CB8AC3E}">
        <p14:creationId xmlns:p14="http://schemas.microsoft.com/office/powerpoint/2010/main" val="425976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343378"/>
            <a:ext cx="10239021" cy="495582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С помощью PAT несколько адресов могут быть сопоставлены с одним или несколькими адресами, поскольку каждый частный адрес также отслеживается номером порта.</a:t>
            </a:r>
            <a:endParaRPr lang="en-US" sz="2800" dirty="0"/>
          </a:p>
          <a:p>
            <a:r>
              <a:rPr lang="ru-RU" sz="2800" dirty="0"/>
              <a:t>Когда устройство инициирует сеанс </a:t>
            </a:r>
            <a:r>
              <a:rPr lang="ru-RU" sz="2800" b="1" dirty="0"/>
              <a:t>TCP/IP</a:t>
            </a:r>
            <a:r>
              <a:rPr lang="ru-RU" sz="2800" dirty="0"/>
              <a:t>, оно генерирует значение порта источника </a:t>
            </a:r>
            <a:r>
              <a:rPr lang="ru-RU" sz="2800" b="1" dirty="0"/>
              <a:t>TCP</a:t>
            </a:r>
            <a:r>
              <a:rPr lang="ru-RU" sz="2800" dirty="0"/>
              <a:t> или </a:t>
            </a:r>
            <a:r>
              <a:rPr lang="ru-RU" sz="2800" b="1" dirty="0"/>
              <a:t>UDP</a:t>
            </a:r>
            <a:r>
              <a:rPr lang="ru-RU" sz="2800" dirty="0"/>
              <a:t> для уникальной идентификации сеанса. </a:t>
            </a:r>
            <a:endParaRPr lang="en-US" sz="2800" dirty="0"/>
          </a:p>
          <a:p>
            <a:r>
              <a:rPr lang="ru-RU" sz="2800" dirty="0"/>
              <a:t>Когда NAT-маршрутизатор получает пакет от клиента, он использует номер своего исходного порта, чтобы однозначно идентифицировать конкретный перевод NAT.</a:t>
            </a:r>
          </a:p>
        </p:txBody>
      </p:sp>
    </p:spTree>
    <p:extLst>
      <p:ext uri="{BB962C8B-B14F-4D97-AF65-F5344CB8AC3E}">
        <p14:creationId xmlns:p14="http://schemas.microsoft.com/office/powerpoint/2010/main" val="3946758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377244"/>
            <a:ext cx="10239021" cy="50687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b="1" dirty="0"/>
              <a:t>PAT</a:t>
            </a:r>
            <a:r>
              <a:rPr lang="ru-RU" sz="2800" dirty="0"/>
              <a:t> гарантирует, что устройства используют разный номер порта TCP для каждого сеанса. </a:t>
            </a:r>
            <a:endParaRPr lang="en-US" sz="2800" dirty="0"/>
          </a:p>
          <a:p>
            <a:r>
              <a:rPr lang="ru-RU" sz="2800" dirty="0"/>
              <a:t>Когда ответ возвращается с сервера, номер порта источника, который становится номером порта назначения в обратном пути, определяет, на какое устройство маршрутизатор перенаправляет пакеты.</a:t>
            </a:r>
          </a:p>
          <a:p>
            <a:r>
              <a:rPr lang="ru-RU" sz="2800" dirty="0"/>
              <a:t>Следующий рисунок иллюстрирует процесс </a:t>
            </a:r>
            <a:r>
              <a:rPr lang="ru-RU" sz="2800" b="1" dirty="0"/>
              <a:t>PAT</a:t>
            </a:r>
            <a:r>
              <a:rPr lang="ru-RU" sz="2800" dirty="0"/>
              <a:t>. </a:t>
            </a:r>
          </a:p>
          <a:p>
            <a:r>
              <a:rPr lang="ru-RU" sz="2800" b="1" dirty="0"/>
              <a:t>PAT</a:t>
            </a:r>
            <a:r>
              <a:rPr lang="ru-RU" sz="2800" dirty="0"/>
              <a:t> добавляет уникальные номера портов источника во внутренний глобальный адрес, чтобы различать переводы.</a:t>
            </a:r>
          </a:p>
        </p:txBody>
      </p:sp>
    </p:spTree>
    <p:extLst>
      <p:ext uri="{BB962C8B-B14F-4D97-AF65-F5344CB8AC3E}">
        <p14:creationId xmlns:p14="http://schemas.microsoft.com/office/powerpoint/2010/main" val="309045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8457" y="0"/>
            <a:ext cx="9330722" cy="6310489"/>
          </a:xfrm>
          <a:prstGeom prst="rect">
            <a:avLst/>
          </a:prstGeom>
        </p:spPr>
      </p:pic>
    </p:spTree>
    <p:extLst>
      <p:ext uri="{BB962C8B-B14F-4D97-AF65-F5344CB8AC3E}">
        <p14:creationId xmlns:p14="http://schemas.microsoft.com/office/powerpoint/2010/main" val="4256748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377244"/>
            <a:ext cx="10239021" cy="50687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Поскольку маршрутизатор обрабатывает каждый пакет, он использует номер порта (1331 и 1555, в этом примере), чтобы идентифицировать устройство, с которого выслан пакет.</a:t>
            </a:r>
          </a:p>
          <a:p>
            <a:r>
              <a:rPr lang="ru-RU" sz="2800" dirty="0"/>
              <a:t>Адрес источника (</a:t>
            </a:r>
            <a:r>
              <a:rPr lang="ru-RU" sz="2800" b="1" dirty="0" err="1"/>
              <a:t>Source</a:t>
            </a:r>
            <a:r>
              <a:rPr lang="ru-RU" sz="2800" b="1" dirty="0"/>
              <a:t> </a:t>
            </a:r>
            <a:r>
              <a:rPr lang="ru-RU" sz="2800" b="1" dirty="0" err="1"/>
              <a:t>Address</a:t>
            </a:r>
            <a:r>
              <a:rPr lang="ru-RU" sz="2800" dirty="0"/>
              <a:t>) – это внутренний локальный адрес с добавленным номером порта, назначенным TCP/IP. </a:t>
            </a:r>
          </a:p>
          <a:p>
            <a:r>
              <a:rPr lang="ru-RU" sz="2800" dirty="0"/>
              <a:t>Адрес назначения (</a:t>
            </a:r>
            <a:r>
              <a:rPr lang="ru-RU" sz="2800" b="1" dirty="0" err="1"/>
              <a:t>Destination</a:t>
            </a:r>
            <a:r>
              <a:rPr lang="ru-RU" sz="2800" b="1" dirty="0"/>
              <a:t> </a:t>
            </a:r>
            <a:r>
              <a:rPr lang="ru-RU" sz="2800" b="1" dirty="0" err="1"/>
              <a:t>Address</a:t>
            </a:r>
            <a:r>
              <a:rPr lang="ru-RU" sz="2800" dirty="0"/>
              <a:t>) – это внешний локальный адрес с добавленным номером служебного порта. </a:t>
            </a:r>
          </a:p>
          <a:p>
            <a:r>
              <a:rPr lang="ru-RU" sz="2800" dirty="0"/>
              <a:t>В этом примере порт службы 80: HTTP.</a:t>
            </a:r>
          </a:p>
        </p:txBody>
      </p:sp>
    </p:spTree>
    <p:extLst>
      <p:ext uri="{BB962C8B-B14F-4D97-AF65-F5344CB8AC3E}">
        <p14:creationId xmlns:p14="http://schemas.microsoft.com/office/powerpoint/2010/main" val="651010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Для исходного адреса маршрутизатор переводит внутренний локальный адрес во внутренний глобальный адрес с добавленным номером порта. </a:t>
            </a:r>
          </a:p>
          <a:p>
            <a:r>
              <a:rPr lang="ru-RU" sz="2800" dirty="0"/>
              <a:t>Адрес назначения не изменяется, но теперь он называется внешним глобальным IP-адресом. </a:t>
            </a:r>
          </a:p>
          <a:p>
            <a:r>
              <a:rPr lang="ru-RU" sz="2800" dirty="0"/>
              <a:t>Когда веб-сервер отвечает, путь обратный.</a:t>
            </a:r>
          </a:p>
          <a:p>
            <a:r>
              <a:rPr lang="ru-RU" sz="2800" dirty="0"/>
              <a:t>В этом примере номера портов клиента 1331 и 1555 не изменялись на маршрутизаторе с NAT. </a:t>
            </a:r>
          </a:p>
          <a:p>
            <a:r>
              <a:rPr lang="ru-RU" sz="2800" dirty="0"/>
              <a:t>Это не очень вероятный сценарий, потому что есть высокая вероятность того, что эти номера портов уже были прикреплены к другим активным сеансам. </a:t>
            </a:r>
          </a:p>
        </p:txBody>
      </p:sp>
    </p:spTree>
    <p:extLst>
      <p:ext uri="{BB962C8B-B14F-4D97-AF65-F5344CB8AC3E}">
        <p14:creationId xmlns:p14="http://schemas.microsoft.com/office/powerpoint/2010/main" val="3336209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b="1" dirty="0"/>
              <a:t>PAT</a:t>
            </a:r>
            <a:r>
              <a:rPr lang="ru-RU" sz="2800" dirty="0"/>
              <a:t> пытается сохранить исходный порт источника. </a:t>
            </a:r>
          </a:p>
          <a:p>
            <a:r>
              <a:rPr lang="ru-RU" sz="2800" dirty="0"/>
              <a:t>Однако, если исходный порт источника уже используется, PAT назначает первый доступный номер порта, начиная с начала соответствующей группы портов </a:t>
            </a:r>
            <a:r>
              <a:rPr lang="ru-RU" sz="2800" b="1" dirty="0"/>
              <a:t>0-511, 512-1023</a:t>
            </a:r>
            <a:r>
              <a:rPr lang="ru-RU" sz="2800" dirty="0"/>
              <a:t> или </a:t>
            </a:r>
            <a:r>
              <a:rPr lang="ru-RU" sz="2800" b="1" dirty="0"/>
              <a:t>1024-65535</a:t>
            </a:r>
            <a:r>
              <a:rPr lang="ru-RU" sz="2800" dirty="0"/>
              <a:t>. </a:t>
            </a:r>
          </a:p>
          <a:p>
            <a:r>
              <a:rPr lang="ru-RU" sz="2800" dirty="0"/>
              <a:t>Когда портов больше нет, и в пуле адресов имеется более одного внешнего адреса, PAT переходит на следующий адрес, чтобы попытаться выделить исходный порт источника. </a:t>
            </a:r>
          </a:p>
          <a:p>
            <a:r>
              <a:rPr lang="ru-RU" sz="2800" dirty="0"/>
              <a:t>Этот процесс продолжается до тех пор, пока не будет доступных портов или внешних IP-адресов.</a:t>
            </a:r>
          </a:p>
        </p:txBody>
      </p:sp>
    </p:spTree>
    <p:extLst>
      <p:ext uri="{BB962C8B-B14F-4D97-AF65-F5344CB8AC3E}">
        <p14:creationId xmlns:p14="http://schemas.microsoft.com/office/powerpoint/2010/main" val="3326108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Типы </a:t>
            </a:r>
            <a:r>
              <a:rPr lang="en-US" sz="4000" b="1" dirty="0"/>
              <a:t>NAT</a:t>
            </a:r>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То есть если другой хост может выбрать тот же номер порта 1444. </a:t>
            </a:r>
          </a:p>
          <a:p>
            <a:r>
              <a:rPr lang="ru-RU" sz="2800" dirty="0"/>
              <a:t>Это приемлемо для внутреннего адреса, потому что хосты имеют уникальные частные IP-адреса. </a:t>
            </a:r>
          </a:p>
          <a:p>
            <a:r>
              <a:rPr lang="ru-RU" sz="2800" dirty="0"/>
              <a:t>Однако на маршрутизаторе NAT номера портов должны быть изменены.</a:t>
            </a:r>
          </a:p>
          <a:p>
            <a:r>
              <a:rPr lang="ru-RU" sz="2800" dirty="0"/>
              <a:t>В противном случае пакеты из двух разных хостов выйдут из него с тем же адресом источника. </a:t>
            </a:r>
          </a:p>
          <a:p>
            <a:r>
              <a:rPr lang="ru-RU" sz="2800" dirty="0"/>
              <a:t>Поэтому PAT назначает следующий доступный порт (1445) на второй адрес хоста.</a:t>
            </a:r>
          </a:p>
        </p:txBody>
      </p:sp>
    </p:spTree>
    <p:extLst>
      <p:ext uri="{BB962C8B-B14F-4D97-AF65-F5344CB8AC3E}">
        <p14:creationId xmlns:p14="http://schemas.microsoft.com/office/powerpoint/2010/main" val="3960579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Некоторые итоги</a:t>
            </a:r>
          </a:p>
        </p:txBody>
      </p:sp>
    </p:spTree>
    <p:extLst>
      <p:ext uri="{BB962C8B-B14F-4D97-AF65-F5344CB8AC3E}">
        <p14:creationId xmlns:p14="http://schemas.microsoft.com/office/powerpoint/2010/main" val="2567813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Некоторые итоги</a:t>
            </a:r>
            <a:endParaRPr lang="en-US" sz="4000" b="1" dirty="0"/>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Подведем итоги в сравнении NAT и PAT. </a:t>
            </a:r>
          </a:p>
          <a:p>
            <a:r>
              <a:rPr lang="ru-RU" sz="2800" dirty="0"/>
              <a:t>Как видно из таблиц, NAT переводит IPv4-адреса на основе 1:1 между частными адресами IPv4 и общедоступными IPv4-адресами. </a:t>
            </a:r>
          </a:p>
          <a:p>
            <a:r>
              <a:rPr lang="ru-RU" sz="2800" dirty="0"/>
              <a:t>Однако PAT изменяет как сам адрес, так и номер порта. </a:t>
            </a:r>
          </a:p>
          <a:p>
            <a:r>
              <a:rPr lang="ru-RU" sz="2800" dirty="0"/>
              <a:t>NAT перенаправляет входящие пакеты на их внутренний адрес, ориентируясь на входящий IP адрес источника, заданный хостом в общедоступной сети, а с PAT обычно имеется только один или очень мало публично открытых IPv4-адресов, и входящие пакеты перенаправляются, ориентируясь на NAT таблицу маршрутизатора.</a:t>
            </a:r>
          </a:p>
        </p:txBody>
      </p:sp>
    </p:spTree>
    <p:extLst>
      <p:ext uri="{BB962C8B-B14F-4D97-AF65-F5344CB8AC3E}">
        <p14:creationId xmlns:p14="http://schemas.microsoft.com/office/powerpoint/2010/main" val="1252229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Некоторые итоги</a:t>
            </a:r>
            <a:endParaRPr lang="en-US" sz="4000" b="1" dirty="0"/>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Если рассматривать пакеты IPv4, содержащие данные, отличные от TCP или UDP, то эти пакеты не содержат номер порта уровня 4.</a:t>
            </a:r>
          </a:p>
          <a:p>
            <a:r>
              <a:rPr lang="ru-RU" sz="2800" dirty="0"/>
              <a:t>PAT переводит наиболее распространенные протоколы, переносимые IPv4, которые не используют TCP или UDP в качестве протокола транспортного уровня. </a:t>
            </a:r>
          </a:p>
          <a:p>
            <a:r>
              <a:rPr lang="ru-RU" sz="2800" dirty="0"/>
              <a:t>Наиболее распространенными из них являются ICMPv4. </a:t>
            </a:r>
          </a:p>
          <a:p>
            <a:r>
              <a:rPr lang="ru-RU" sz="2800" dirty="0"/>
              <a:t>Каждый из этих типов протоколов по-разному обрабатывается PAT. </a:t>
            </a:r>
          </a:p>
        </p:txBody>
      </p:sp>
    </p:spTree>
    <p:extLst>
      <p:ext uri="{BB962C8B-B14F-4D97-AF65-F5344CB8AC3E}">
        <p14:creationId xmlns:p14="http://schemas.microsoft.com/office/powerpoint/2010/main" val="4215312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Некоторые итоги</a:t>
            </a:r>
            <a:endParaRPr lang="en-US" sz="4000" b="1" dirty="0"/>
          </a:p>
        </p:txBody>
      </p:sp>
      <p:sp>
        <p:nvSpPr>
          <p:cNvPr id="3" name="Объект 2"/>
          <p:cNvSpPr txBox="1">
            <a:spLocks/>
          </p:cNvSpPr>
          <p:nvPr/>
        </p:nvSpPr>
        <p:spPr>
          <a:xfrm>
            <a:off x="903112" y="1433689"/>
            <a:ext cx="10239021" cy="501226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Например, сообщения запроса ICMPv4, эхо-запросы и ответы включают идентификатор запроса </a:t>
            </a:r>
            <a:r>
              <a:rPr lang="ru-RU" sz="2800" b="1" dirty="0" err="1"/>
              <a:t>Query</a:t>
            </a:r>
            <a:r>
              <a:rPr lang="ru-RU" sz="2800" b="1" dirty="0"/>
              <a:t> ID</a:t>
            </a:r>
            <a:r>
              <a:rPr lang="ru-RU" sz="2800" dirty="0"/>
              <a:t>. </a:t>
            </a:r>
          </a:p>
          <a:p>
            <a:r>
              <a:rPr lang="ru-RU" sz="2800" dirty="0"/>
              <a:t>ICMPv4 использует </a:t>
            </a:r>
            <a:r>
              <a:rPr lang="ru-RU" sz="2800" dirty="0" err="1"/>
              <a:t>Query</a:t>
            </a:r>
            <a:r>
              <a:rPr lang="ru-RU" sz="2800" dirty="0"/>
              <a:t> ID для идентификации эхо-запроса с соответствующим ответом. </a:t>
            </a:r>
          </a:p>
          <a:p>
            <a:r>
              <a:rPr lang="ru-RU" sz="2800" dirty="0"/>
              <a:t>Идентификатор запроса увеличивается с каждым отправленным эхо-запросом. </a:t>
            </a:r>
          </a:p>
          <a:p>
            <a:r>
              <a:rPr lang="ru-RU" sz="2800" dirty="0"/>
              <a:t>PAT использует идентификатор запроса вместо номера порта уровня 4.</a:t>
            </a:r>
          </a:p>
        </p:txBody>
      </p:sp>
    </p:spTree>
    <p:extLst>
      <p:ext uri="{BB962C8B-B14F-4D97-AF65-F5344CB8AC3E}">
        <p14:creationId xmlns:p14="http://schemas.microsoft.com/office/powerpoint/2010/main" val="1734509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Tree>
    <p:extLst>
      <p:ext uri="{BB962C8B-B14F-4D97-AF65-F5344CB8AC3E}">
        <p14:creationId xmlns:p14="http://schemas.microsoft.com/office/powerpoint/2010/main" val="590962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959557"/>
            <a:ext cx="10239021" cy="548640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NAT предоставляет множество </a:t>
            </a:r>
            <a:r>
              <a:rPr lang="ru-RU" sz="2800" b="1" dirty="0"/>
              <a:t>преимуществ</a:t>
            </a:r>
            <a:r>
              <a:rPr lang="ru-RU" sz="2800" dirty="0"/>
              <a:t>, в том числе:</a:t>
            </a:r>
          </a:p>
          <a:p>
            <a:r>
              <a:rPr lang="ru-RU" sz="2800" dirty="0"/>
              <a:t>   •   NAT сохраняет зарегистрированную схему адресации, разрешая приватизацию интрасетей. </a:t>
            </a:r>
          </a:p>
          <a:p>
            <a:r>
              <a:rPr lang="ru-RU" sz="2800" dirty="0"/>
              <a:t>При PAT внутренние хосты могут совместно использовать один общедоступный IPv4-адрес для всех внешних коммуникаций. </a:t>
            </a:r>
          </a:p>
          <a:p>
            <a:r>
              <a:rPr lang="ru-RU" sz="2800" dirty="0"/>
              <a:t>В этом типе конфигурации требуется очень мало внешних адресов для поддержки многих внутренних хостов;</a:t>
            </a:r>
          </a:p>
          <a:p>
            <a:r>
              <a:rPr lang="ru-RU" sz="2800" dirty="0"/>
              <a:t>   •   NAT повышает гибкость соединений с общедоступной сетью. </a:t>
            </a:r>
          </a:p>
          <a:p>
            <a:r>
              <a:rPr lang="ru-RU" sz="2800" dirty="0"/>
              <a:t>Многочисленные пулы, пулы резервного копирования и пулы балансировки нагрузки могут быть реализованы для обеспечения надежных общедоступных сетевых подключений;</a:t>
            </a:r>
          </a:p>
        </p:txBody>
      </p:sp>
    </p:spTree>
    <p:extLst>
      <p:ext uri="{BB962C8B-B14F-4D97-AF65-F5344CB8AC3E}">
        <p14:creationId xmlns:p14="http://schemas.microsoft.com/office/powerpoint/2010/main" val="1220705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004711"/>
            <a:ext cx="10239021" cy="544124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     •    NAT обеспечивает согласованность для внутренних схем адресации сети. </a:t>
            </a:r>
          </a:p>
          <a:p>
            <a:r>
              <a:rPr lang="ru-RU" sz="2800" dirty="0"/>
              <a:t>Изменение общей схемы адресов IPv4 требует переадресации всех хостов в существующей сети. </a:t>
            </a:r>
          </a:p>
          <a:p>
            <a:r>
              <a:rPr lang="ru-RU" sz="2800" dirty="0"/>
              <a:t>Стоимость переадресации хостов может быть значительной. </a:t>
            </a:r>
          </a:p>
          <a:p>
            <a:r>
              <a:rPr lang="ru-RU" sz="2800" dirty="0"/>
              <a:t>NAT позволяет существующей частной адресной схеме IPv4 оставаться, позволяя легко изменять новую схему общедоступной адресации. </a:t>
            </a:r>
          </a:p>
          <a:p>
            <a:r>
              <a:rPr lang="ru-RU" sz="2800" dirty="0"/>
              <a:t>Это означает, что организация может менять провайдеров и не нужно менять ни одного из своих внутренних клиентов;</a:t>
            </a:r>
          </a:p>
        </p:txBody>
      </p:sp>
    </p:spTree>
    <p:extLst>
      <p:ext uri="{BB962C8B-B14F-4D97-AF65-F5344CB8AC3E}">
        <p14:creationId xmlns:p14="http://schemas.microsoft.com/office/powerpoint/2010/main" val="2667567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004711"/>
            <a:ext cx="10239021" cy="544124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     •    NAT обеспечивает сетевую безопасность. </a:t>
            </a:r>
          </a:p>
          <a:p>
            <a:r>
              <a:rPr lang="ru-RU" sz="2800" dirty="0"/>
              <a:t>Поскольку частные сети не рекламируют свои адреса или внутреннюю топологию, они остаются достаточно надежными при использовании в сочетании с NAT для получения контролируемого внешнего доступа. </a:t>
            </a:r>
          </a:p>
          <a:p>
            <a:r>
              <a:rPr lang="ru-RU" sz="2800" dirty="0"/>
              <a:t>Однако нужно понимать, что NAT не заменяет </a:t>
            </a:r>
            <a:r>
              <a:rPr lang="ru-RU" sz="2800" dirty="0" err="1"/>
              <a:t>фаерволы</a:t>
            </a:r>
            <a:r>
              <a:rPr lang="ru-RU" sz="2800" dirty="0"/>
              <a:t>;</a:t>
            </a:r>
          </a:p>
        </p:txBody>
      </p:sp>
    </p:spTree>
    <p:extLst>
      <p:ext uri="{BB962C8B-B14F-4D97-AF65-F5344CB8AC3E}">
        <p14:creationId xmlns:p14="http://schemas.microsoft.com/office/powerpoint/2010/main" val="700512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286933"/>
            <a:ext cx="10239021" cy="515902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Но у NAT есть некоторые </a:t>
            </a:r>
            <a:r>
              <a:rPr lang="ru-RU" sz="2800" b="1" dirty="0"/>
              <a:t>недостатки</a:t>
            </a:r>
            <a:r>
              <a:rPr lang="ru-RU" sz="2800" dirty="0"/>
              <a:t>. </a:t>
            </a:r>
          </a:p>
          <a:p>
            <a:r>
              <a:rPr lang="ru-RU" sz="2800" dirty="0"/>
              <a:t>Тот факт, что хосты в Интернете, по-видимому, напрямую взаимодействуют с устройством с поддержкой NAT, а не с фактическим хостом внутри частной сети, создает ряд проблем:</a:t>
            </a:r>
          </a:p>
          <a:p>
            <a:r>
              <a:rPr lang="ru-RU" sz="2800" dirty="0"/>
              <a:t>   •   Один из недостатков использования NAT связан с производительностью сети, особенно для протоколов реального времени, таких как </a:t>
            </a:r>
            <a:r>
              <a:rPr lang="ru-RU" sz="2800" b="1" dirty="0" err="1"/>
              <a:t>VoIP</a:t>
            </a:r>
            <a:r>
              <a:rPr lang="ru-RU" sz="2800" dirty="0"/>
              <a:t>. </a:t>
            </a:r>
          </a:p>
          <a:p>
            <a:r>
              <a:rPr lang="ru-RU" sz="2800" dirty="0"/>
              <a:t>NAT увеличивает задержки переключения, потому что перевод каждого адреса IPv4 в заголовках пакетов требует времени;</a:t>
            </a:r>
          </a:p>
        </p:txBody>
      </p:sp>
    </p:spTree>
    <p:extLst>
      <p:ext uri="{BB962C8B-B14F-4D97-AF65-F5344CB8AC3E}">
        <p14:creationId xmlns:p14="http://schemas.microsoft.com/office/powerpoint/2010/main" val="42080705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286933"/>
            <a:ext cx="10239021" cy="515902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   •   Другим недостатком использования NAT является то, что сквозная адресация теряется. </a:t>
            </a:r>
          </a:p>
          <a:p>
            <a:r>
              <a:rPr lang="ru-RU" sz="2800" dirty="0"/>
              <a:t>Многие интернет-протоколы и приложения зависят от сквозной адресации от источника до места назначения. </a:t>
            </a:r>
          </a:p>
          <a:p>
            <a:r>
              <a:rPr lang="ru-RU" sz="2800" dirty="0"/>
              <a:t>Некоторые приложения не работают с NAT. </a:t>
            </a:r>
          </a:p>
          <a:p>
            <a:r>
              <a:rPr lang="ru-RU" sz="2800" dirty="0"/>
              <a:t>Приложения, которые используют физические адреса, а не квалифицированное доменное имя, не доходят до адресатов, которые транслируются через NAT-маршрутизатор. </a:t>
            </a:r>
          </a:p>
          <a:p>
            <a:r>
              <a:rPr lang="ru-RU" sz="2800" dirty="0"/>
              <a:t>Иногда эту проблему можно избежать, реализуя статические сопоставления NAT;</a:t>
            </a:r>
          </a:p>
        </p:txBody>
      </p:sp>
    </p:spTree>
    <p:extLst>
      <p:ext uri="{BB962C8B-B14F-4D97-AF65-F5344CB8AC3E}">
        <p14:creationId xmlns:p14="http://schemas.microsoft.com/office/powerpoint/2010/main" val="476133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286933"/>
            <a:ext cx="10239021" cy="515902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   •   Также теряется сквозная трассировка IPv4. </a:t>
            </a:r>
          </a:p>
          <a:p>
            <a:r>
              <a:rPr lang="ru-RU" sz="2800" dirty="0"/>
              <a:t>Сложнее трассировать пакеты, которые подвергаются многочисленным изменениям адресов пакетов в течение нескольких NAT-переходов, что затрудняет поиск и устранение неполадок;</a:t>
            </a:r>
          </a:p>
          <a:p>
            <a:r>
              <a:rPr lang="ru-RU" sz="2800" dirty="0"/>
              <a:t>   •   Использование NAT также затрудняет протоколы </a:t>
            </a:r>
            <a:r>
              <a:rPr lang="ru-RU" sz="2800" dirty="0" err="1"/>
              <a:t>туннелирования</a:t>
            </a:r>
            <a:r>
              <a:rPr lang="ru-RU" sz="2800" dirty="0"/>
              <a:t>, такие как </a:t>
            </a:r>
            <a:r>
              <a:rPr lang="ru-RU" sz="2800" dirty="0" err="1"/>
              <a:t>IPsec</a:t>
            </a:r>
            <a:r>
              <a:rPr lang="ru-RU" sz="2800" dirty="0"/>
              <a:t>, поскольку NAT изменяет значения в заголовках, которые мешают проверкам целостности, выполняемым </a:t>
            </a:r>
            <a:r>
              <a:rPr lang="ru-RU" sz="2800" dirty="0" err="1"/>
              <a:t>IPsec</a:t>
            </a:r>
            <a:r>
              <a:rPr lang="ru-RU" sz="2800" dirty="0"/>
              <a:t> и другими протоколами </a:t>
            </a:r>
            <a:r>
              <a:rPr lang="ru-RU" sz="2800" dirty="0" err="1"/>
              <a:t>туннелирования</a:t>
            </a:r>
            <a:r>
              <a:rPr lang="ru-RU" sz="2800" dirty="0"/>
              <a:t>;</a:t>
            </a:r>
          </a:p>
        </p:txBody>
      </p:sp>
    </p:spTree>
    <p:extLst>
      <p:ext uri="{BB962C8B-B14F-4D97-AF65-F5344CB8AC3E}">
        <p14:creationId xmlns:p14="http://schemas.microsoft.com/office/powerpoint/2010/main" val="3371270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Преимущества и недостатки </a:t>
            </a:r>
            <a:r>
              <a:rPr lang="en-US" sz="4000" b="1" dirty="0"/>
              <a:t>NAT</a:t>
            </a:r>
          </a:p>
        </p:txBody>
      </p:sp>
      <p:sp>
        <p:nvSpPr>
          <p:cNvPr id="3" name="Объект 2"/>
          <p:cNvSpPr txBox="1">
            <a:spLocks/>
          </p:cNvSpPr>
          <p:nvPr/>
        </p:nvSpPr>
        <p:spPr>
          <a:xfrm>
            <a:off x="903112" y="1478844"/>
            <a:ext cx="10239021"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   •   Службы, требующие инициирования TCP-соединений из внешней сети, или </a:t>
            </a:r>
            <a:r>
              <a:rPr lang="ru-RU" sz="2800" dirty="0" err="1"/>
              <a:t>stateless</a:t>
            </a:r>
            <a:r>
              <a:rPr lang="ru-RU" sz="2800" dirty="0"/>
              <a:t> протоколы, например, использующие UDP, могут быть нарушены. </a:t>
            </a:r>
          </a:p>
          <a:p>
            <a:r>
              <a:rPr lang="ru-RU" sz="2800" dirty="0"/>
              <a:t>Если маршрутизатор NAT не настроен для поддержки таких протоколов, входящие пакеты не могут достичь своего адресата;</a:t>
            </a:r>
          </a:p>
        </p:txBody>
      </p:sp>
    </p:spTree>
    <p:extLst>
      <p:ext uri="{BB962C8B-B14F-4D97-AF65-F5344CB8AC3E}">
        <p14:creationId xmlns:p14="http://schemas.microsoft.com/office/powerpoint/2010/main" val="125893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Tree>
    <p:extLst>
      <p:ext uri="{BB962C8B-B14F-4D97-AF65-F5344CB8AC3E}">
        <p14:creationId xmlns:p14="http://schemas.microsoft.com/office/powerpoint/2010/main" val="4071601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1478844"/>
            <a:ext cx="10239021"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Статический NAT представляет собой сопоставление внутреннего и внешнего адреса один к одному. </a:t>
            </a:r>
          </a:p>
          <a:p>
            <a:pPr marL="0" indent="0">
              <a:buNone/>
            </a:pPr>
            <a:r>
              <a:rPr lang="ru-RU" sz="2800" dirty="0"/>
              <a:t>Он позволяет внешним устройствам инициировать подключения к внутренним с использованием статически назначенного общего адреса.</a:t>
            </a:r>
          </a:p>
          <a:p>
            <a:pPr marL="0" indent="0">
              <a:buNone/>
            </a:pPr>
            <a:r>
              <a:rPr lang="ru-RU" sz="2800" dirty="0"/>
              <a:t>Внутренний веб-сервер может быть сопоставлен с определенным внутренним глобальным адресом, чтобы он был доступен из внешних сетей. </a:t>
            </a:r>
          </a:p>
        </p:txBody>
      </p:sp>
    </p:spTree>
    <p:extLst>
      <p:ext uri="{BB962C8B-B14F-4D97-AF65-F5344CB8AC3E}">
        <p14:creationId xmlns:p14="http://schemas.microsoft.com/office/powerpoint/2010/main" val="3209859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pic>
        <p:nvPicPr>
          <p:cNvPr id="4" name="Рисунок 3"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981" y="1052687"/>
            <a:ext cx="10419047" cy="5271913"/>
          </a:xfrm>
          <a:prstGeom prst="rect">
            <a:avLst/>
          </a:prstGeom>
        </p:spPr>
      </p:pic>
    </p:spTree>
    <p:extLst>
      <p:ext uri="{BB962C8B-B14F-4D97-AF65-F5344CB8AC3E}">
        <p14:creationId xmlns:p14="http://schemas.microsoft.com/office/powerpoint/2010/main" val="63174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1478844"/>
            <a:ext cx="10239021"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На схеме показана внутренняя сеть, содержащая веб-сервер с частным адресом IPv4. </a:t>
            </a:r>
          </a:p>
          <a:p>
            <a:pPr marL="0" indent="0">
              <a:buNone/>
            </a:pPr>
            <a:r>
              <a:rPr lang="ru-RU" sz="2800" dirty="0"/>
              <a:t>Маршрутизатор сконфигурирован со статическим NAT, чтобы позволить устройствам из внешней сети обращаться к                веб-серверу. </a:t>
            </a:r>
          </a:p>
          <a:p>
            <a:pPr marL="0" indent="0">
              <a:buNone/>
            </a:pPr>
            <a:r>
              <a:rPr lang="ru-RU" sz="2800" dirty="0"/>
              <a:t>Клиент из внешней сети обращается к веб-серверу с использованием общедоступного IPv4-адреса. </a:t>
            </a:r>
          </a:p>
          <a:p>
            <a:pPr marL="0" indent="0">
              <a:buNone/>
            </a:pPr>
            <a:r>
              <a:rPr lang="ru-RU" sz="2800" dirty="0"/>
              <a:t>Статический NAT переводит общедоступный IPv4-адрес в частный.</a:t>
            </a:r>
          </a:p>
        </p:txBody>
      </p:sp>
    </p:spTree>
    <p:extLst>
      <p:ext uri="{BB962C8B-B14F-4D97-AF65-F5344CB8AC3E}">
        <p14:creationId xmlns:p14="http://schemas.microsoft.com/office/powerpoint/2010/main" val="1785047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936171"/>
            <a:ext cx="10239021" cy="550978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spcBef>
                <a:spcPts val="0"/>
              </a:spcBef>
              <a:spcAft>
                <a:spcPts val="0"/>
              </a:spcAft>
              <a:buNone/>
            </a:pPr>
            <a:r>
              <a:rPr lang="ru-RU" sz="2800" dirty="0"/>
              <a:t>При настройке статических трансляций NAT выполняются две основные задачи:</a:t>
            </a:r>
          </a:p>
          <a:p>
            <a:pPr marL="0" indent="0">
              <a:lnSpc>
                <a:spcPct val="100000"/>
              </a:lnSpc>
              <a:spcBef>
                <a:spcPts val="0"/>
              </a:spcBef>
              <a:spcAft>
                <a:spcPts val="0"/>
              </a:spcAft>
              <a:buNone/>
            </a:pPr>
            <a:r>
              <a:rPr lang="ru-RU" sz="2800" dirty="0"/>
              <a:t>1. Создание сопоставления между внутренним локальным (</a:t>
            </a:r>
            <a:r>
              <a:rPr lang="ru-RU" sz="2800" b="1" dirty="0" err="1"/>
              <a:t>inside</a:t>
            </a:r>
            <a:r>
              <a:rPr lang="ru-RU" sz="2800" b="1" dirty="0"/>
              <a:t> </a:t>
            </a:r>
            <a:r>
              <a:rPr lang="ru-RU" sz="2800" b="1" dirty="0" err="1"/>
              <a:t>local</a:t>
            </a:r>
            <a:r>
              <a:rPr lang="ru-RU" sz="2800" dirty="0"/>
              <a:t>) адресом и внутренними глобальными (</a:t>
            </a:r>
            <a:r>
              <a:rPr lang="ru-RU" sz="2800" b="1" dirty="0" err="1"/>
              <a:t>inside</a:t>
            </a:r>
            <a:r>
              <a:rPr lang="ru-RU" sz="2800" b="1" dirty="0"/>
              <a:t> </a:t>
            </a:r>
            <a:r>
              <a:rPr lang="ru-RU" sz="2800" b="1" dirty="0" err="1"/>
              <a:t>global</a:t>
            </a:r>
            <a:r>
              <a:rPr lang="ru-RU" sz="2800" dirty="0"/>
              <a:t>) адресами. Например, внутренний локальный адрес 192.168.1.5 и внутренний глобальный адрес 208.165.100.5 на схеме настроены как статическая NAT трансляция.</a:t>
            </a:r>
          </a:p>
          <a:p>
            <a:pPr marL="0" indent="0">
              <a:lnSpc>
                <a:spcPct val="100000"/>
              </a:lnSpc>
              <a:spcBef>
                <a:spcPts val="0"/>
              </a:spcBef>
              <a:spcAft>
                <a:spcPts val="0"/>
              </a:spcAft>
              <a:buNone/>
            </a:pPr>
            <a:r>
              <a:rPr lang="ru-RU" sz="2800" dirty="0"/>
              <a:t>2. После того как сопоставление настроено, интерфейсы, участвующие в трансляции должны быть настроены как внутренние (</a:t>
            </a:r>
            <a:r>
              <a:rPr lang="ru-RU" sz="2800" b="1" dirty="0" err="1"/>
              <a:t>inside</a:t>
            </a:r>
            <a:r>
              <a:rPr lang="ru-RU" sz="2800" dirty="0"/>
              <a:t>) и наружные (</a:t>
            </a:r>
            <a:r>
              <a:rPr lang="ru-RU" sz="2800" b="1" dirty="0" err="1"/>
              <a:t>outside</a:t>
            </a:r>
            <a:r>
              <a:rPr lang="ru-RU" sz="2800" dirty="0"/>
              <a:t>) относительно NAT. На схеме интерфейс маршрутизатора </a:t>
            </a:r>
            <a:r>
              <a:rPr lang="ru-RU" sz="2800" dirty="0" err="1"/>
              <a:t>Serial</a:t>
            </a:r>
            <a:r>
              <a:rPr lang="ru-RU" sz="2800" dirty="0"/>
              <a:t> 0/0/0 является внутренним, а </a:t>
            </a:r>
            <a:r>
              <a:rPr lang="ru-RU" sz="2800" dirty="0" err="1"/>
              <a:t>Serial</a:t>
            </a:r>
            <a:r>
              <a:rPr lang="ru-RU" sz="2800" dirty="0"/>
              <a:t> 0/1/0 – внешним. </a:t>
            </a:r>
          </a:p>
        </p:txBody>
      </p:sp>
    </p:spTree>
    <p:extLst>
      <p:ext uri="{BB962C8B-B14F-4D97-AF65-F5344CB8AC3E}">
        <p14:creationId xmlns:p14="http://schemas.microsoft.com/office/powerpoint/2010/main" val="1214534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1478844"/>
            <a:ext cx="10239021"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Пакеты, поступающие на внутренний интерфейс маршрутизатора </a:t>
            </a:r>
            <a:r>
              <a:rPr lang="ru-RU" sz="2800" b="1" dirty="0" err="1"/>
              <a:t>Serial</a:t>
            </a:r>
            <a:r>
              <a:rPr lang="ru-RU" sz="2800" b="1" dirty="0"/>
              <a:t> 0/0/0</a:t>
            </a:r>
            <a:r>
              <a:rPr lang="ru-RU" sz="2800" dirty="0"/>
              <a:t> из настроенного внутреннего локального адреса </a:t>
            </a:r>
            <a:r>
              <a:rPr lang="ru-RU" sz="2800" b="1" dirty="0"/>
              <a:t>IPv4 (192.168.1.5)</a:t>
            </a:r>
            <a:r>
              <a:rPr lang="ru-RU" sz="2800" dirty="0"/>
              <a:t>, транслируются и затем перенаправляются во внешнюю сеть. </a:t>
            </a:r>
          </a:p>
          <a:p>
            <a:pPr marL="0" indent="0">
              <a:buNone/>
            </a:pPr>
            <a:r>
              <a:rPr lang="ru-RU" sz="2800" dirty="0"/>
              <a:t>Пакеты, поступающие на внешний интерфейс </a:t>
            </a:r>
            <a:r>
              <a:rPr lang="ru-RU" sz="2800" b="1" dirty="0" err="1"/>
              <a:t>Serial</a:t>
            </a:r>
            <a:r>
              <a:rPr lang="ru-RU" sz="2800" b="1" dirty="0"/>
              <a:t> 0/1/0</a:t>
            </a:r>
            <a:r>
              <a:rPr lang="ru-RU" sz="2800" dirty="0"/>
              <a:t>, адресованные настроенному внутреннему глобальному адресу </a:t>
            </a:r>
            <a:r>
              <a:rPr lang="ru-RU" sz="2800" b="1" dirty="0"/>
              <a:t>IPv4 (208.165.100.5)</a:t>
            </a:r>
            <a:r>
              <a:rPr lang="ru-RU" sz="2800" dirty="0"/>
              <a:t>, переводятся на внутренний локальный адрес </a:t>
            </a:r>
            <a:r>
              <a:rPr lang="ru-RU" sz="2800" b="1" dirty="0"/>
              <a:t>(192.168.1.5)</a:t>
            </a:r>
            <a:r>
              <a:rPr lang="ru-RU" sz="2800" dirty="0"/>
              <a:t> и затем перенаправляются внутрь сети.</a:t>
            </a:r>
          </a:p>
        </p:txBody>
      </p:sp>
    </p:spTree>
    <p:extLst>
      <p:ext uri="{BB962C8B-B14F-4D97-AF65-F5344CB8AC3E}">
        <p14:creationId xmlns:p14="http://schemas.microsoft.com/office/powerpoint/2010/main" val="3152380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936171"/>
            <a:ext cx="10239021" cy="5509785"/>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spcBef>
                <a:spcPts val="0"/>
              </a:spcBef>
              <a:spcAft>
                <a:spcPts val="0"/>
              </a:spcAft>
              <a:buNone/>
            </a:pPr>
            <a:r>
              <a:rPr lang="ru-RU" sz="2800" dirty="0"/>
              <a:t>Настройка проходит в несколько шагов:</a:t>
            </a:r>
          </a:p>
          <a:p>
            <a:pPr marL="0" indent="0">
              <a:lnSpc>
                <a:spcPct val="100000"/>
              </a:lnSpc>
              <a:spcBef>
                <a:spcPts val="0"/>
              </a:spcBef>
              <a:spcAft>
                <a:spcPts val="0"/>
              </a:spcAft>
              <a:buNone/>
            </a:pPr>
            <a:r>
              <a:rPr lang="ru-RU" sz="2800" dirty="0"/>
              <a:t>1. Создать статическую трансляцию между внутренним локальным и внешним глобальным адресами. Для этого используем команду </a:t>
            </a:r>
            <a:r>
              <a:rPr lang="ru-RU" sz="2800" b="1" dirty="0" err="1"/>
              <a:t>ip</a:t>
            </a:r>
            <a:r>
              <a:rPr lang="ru-RU" sz="2800" b="1" dirty="0"/>
              <a:t> </a:t>
            </a:r>
            <a:r>
              <a:rPr lang="ru-RU" sz="2800" b="1" dirty="0" err="1"/>
              <a:t>nat</a:t>
            </a:r>
            <a:r>
              <a:rPr lang="ru-RU" sz="2800" b="1" dirty="0"/>
              <a:t> </a:t>
            </a:r>
            <a:r>
              <a:rPr lang="ru-RU" sz="2800" b="1" dirty="0" err="1"/>
              <a:t>inside</a:t>
            </a:r>
            <a:r>
              <a:rPr lang="ru-RU" sz="2800" b="1" dirty="0"/>
              <a:t> </a:t>
            </a:r>
            <a:r>
              <a:rPr lang="ru-RU" sz="2800" b="1" dirty="0" err="1"/>
              <a:t>source</a:t>
            </a:r>
            <a:r>
              <a:rPr lang="ru-RU" sz="2800" b="1" dirty="0"/>
              <a:t> </a:t>
            </a:r>
            <a:r>
              <a:rPr lang="ru-RU" sz="2800" b="1" dirty="0" err="1"/>
              <a:t>static</a:t>
            </a:r>
            <a:r>
              <a:rPr lang="ru-RU" sz="2800" b="1" dirty="0"/>
              <a:t> [локальный _IP </a:t>
            </a:r>
            <a:r>
              <a:rPr lang="ru-RU" sz="2800" b="1" dirty="0" err="1"/>
              <a:t>глобальный_IP</a:t>
            </a:r>
            <a:r>
              <a:rPr lang="ru-RU" sz="2800" b="1" dirty="0"/>
              <a:t>]</a:t>
            </a:r>
            <a:r>
              <a:rPr lang="ru-RU" sz="2800" dirty="0"/>
              <a:t>. Чтобы удалить трансляцию нужно ввести команду </a:t>
            </a:r>
            <a:r>
              <a:rPr lang="ru-RU" sz="2800" b="1" dirty="0" err="1"/>
              <a:t>no</a:t>
            </a:r>
            <a:r>
              <a:rPr lang="ru-RU" sz="2800" b="1" dirty="0"/>
              <a:t> </a:t>
            </a:r>
            <a:r>
              <a:rPr lang="ru-RU" sz="2800" b="1" dirty="0" err="1"/>
              <a:t>ip</a:t>
            </a:r>
            <a:r>
              <a:rPr lang="ru-RU" sz="2800" b="1" dirty="0"/>
              <a:t> </a:t>
            </a:r>
            <a:r>
              <a:rPr lang="ru-RU" sz="2800" b="1" dirty="0" err="1"/>
              <a:t>nat</a:t>
            </a:r>
            <a:r>
              <a:rPr lang="ru-RU" sz="2800" b="1" dirty="0"/>
              <a:t> </a:t>
            </a:r>
            <a:r>
              <a:rPr lang="ru-RU" sz="2800" b="1" dirty="0" err="1"/>
              <a:t>inside</a:t>
            </a:r>
            <a:r>
              <a:rPr lang="ru-RU" sz="2800" b="1" dirty="0"/>
              <a:t> </a:t>
            </a:r>
            <a:r>
              <a:rPr lang="ru-RU" sz="2800" b="1" dirty="0" err="1"/>
              <a:t>source</a:t>
            </a:r>
            <a:r>
              <a:rPr lang="ru-RU" sz="2800" b="1" dirty="0"/>
              <a:t> </a:t>
            </a:r>
            <a:r>
              <a:rPr lang="ru-RU" sz="2800" b="1" dirty="0" err="1"/>
              <a:t>static</a:t>
            </a:r>
            <a:r>
              <a:rPr lang="ru-RU" sz="2800" dirty="0"/>
              <a:t>. Если нам нужно сделать трансляцию не адреса в адрес, а адреса в адрес интерфейса, то используется команда </a:t>
            </a:r>
            <a:r>
              <a:rPr lang="ru-RU" sz="2800" b="1" dirty="0" err="1"/>
              <a:t>ip</a:t>
            </a:r>
            <a:r>
              <a:rPr lang="ru-RU" sz="2800" b="1" dirty="0"/>
              <a:t> </a:t>
            </a:r>
            <a:r>
              <a:rPr lang="ru-RU" sz="2800" b="1" dirty="0" err="1"/>
              <a:t>nat</a:t>
            </a:r>
            <a:r>
              <a:rPr lang="ru-RU" sz="2800" b="1" dirty="0"/>
              <a:t> </a:t>
            </a:r>
            <a:r>
              <a:rPr lang="ru-RU" sz="2800" b="1" dirty="0" err="1"/>
              <a:t>inside</a:t>
            </a:r>
            <a:r>
              <a:rPr lang="ru-RU" sz="2800" b="1" dirty="0"/>
              <a:t> </a:t>
            </a:r>
            <a:r>
              <a:rPr lang="ru-RU" sz="2800" b="1" dirty="0" err="1"/>
              <a:t>source</a:t>
            </a:r>
            <a:r>
              <a:rPr lang="ru-RU" sz="2800" b="1" dirty="0"/>
              <a:t> </a:t>
            </a:r>
            <a:r>
              <a:rPr lang="ru-RU" sz="2800" b="1" dirty="0" err="1"/>
              <a:t>static</a:t>
            </a:r>
            <a:r>
              <a:rPr lang="ru-RU" sz="2800" b="1" dirty="0"/>
              <a:t> [локальный _IP </a:t>
            </a:r>
            <a:r>
              <a:rPr lang="ru-RU" sz="2800" b="1" dirty="0" err="1"/>
              <a:t>тип_интерфейса</a:t>
            </a:r>
            <a:r>
              <a:rPr lang="ru-RU" sz="2800" b="1" dirty="0"/>
              <a:t> </a:t>
            </a:r>
            <a:r>
              <a:rPr lang="ru-RU" sz="2800" b="1" dirty="0" err="1"/>
              <a:t>номер_интерфейса</a:t>
            </a:r>
            <a:r>
              <a:rPr lang="ru-RU" sz="2800" b="1" dirty="0"/>
              <a:t>]</a:t>
            </a:r>
            <a:r>
              <a:rPr lang="ru-RU" sz="2800" dirty="0"/>
              <a:t>.</a:t>
            </a:r>
          </a:p>
          <a:p>
            <a:pPr marL="0" indent="0">
              <a:lnSpc>
                <a:spcPct val="100000"/>
              </a:lnSpc>
              <a:spcBef>
                <a:spcPts val="0"/>
              </a:spcBef>
              <a:spcAft>
                <a:spcPts val="0"/>
              </a:spcAft>
              <a:buNone/>
            </a:pPr>
            <a:r>
              <a:rPr lang="ru-RU" sz="2800" dirty="0"/>
              <a:t>2. Определим внутренний интерфейс. Сначала зайти в режим конфигурации интерфейса, используя команду </a:t>
            </a:r>
            <a:r>
              <a:rPr lang="ru-RU" sz="2800" b="1" dirty="0" err="1"/>
              <a:t>interface</a:t>
            </a:r>
            <a:r>
              <a:rPr lang="ru-RU" sz="2800" b="1" dirty="0"/>
              <a:t> [тип номер]</a:t>
            </a:r>
            <a:r>
              <a:rPr lang="ru-RU" sz="2800" dirty="0"/>
              <a:t> и ввести команду </a:t>
            </a:r>
            <a:r>
              <a:rPr lang="ru-RU" sz="2800" b="1" dirty="0" err="1"/>
              <a:t>ip</a:t>
            </a:r>
            <a:r>
              <a:rPr lang="ru-RU" sz="2800" b="1" dirty="0"/>
              <a:t> </a:t>
            </a:r>
            <a:r>
              <a:rPr lang="ru-RU" sz="2800" b="1" dirty="0" err="1"/>
              <a:t>nat</a:t>
            </a:r>
            <a:r>
              <a:rPr lang="ru-RU" sz="2800" b="1" dirty="0"/>
              <a:t> </a:t>
            </a:r>
            <a:r>
              <a:rPr lang="ru-RU" sz="2800" b="1" dirty="0" err="1"/>
              <a:t>inside</a:t>
            </a:r>
            <a:r>
              <a:rPr lang="ru-RU" sz="2800" dirty="0"/>
              <a:t>.</a:t>
            </a:r>
          </a:p>
          <a:p>
            <a:pPr marL="0" indent="0">
              <a:lnSpc>
                <a:spcPct val="100000"/>
              </a:lnSpc>
              <a:spcBef>
                <a:spcPts val="0"/>
              </a:spcBef>
              <a:spcAft>
                <a:spcPts val="0"/>
              </a:spcAft>
              <a:buNone/>
            </a:pPr>
            <a:r>
              <a:rPr lang="ru-RU" sz="2800" dirty="0"/>
              <a:t>3. Таким же образом определить внешний интерфейс, используя команду </a:t>
            </a:r>
            <a:r>
              <a:rPr lang="ru-RU" sz="2800" b="1" dirty="0" err="1"/>
              <a:t>ip</a:t>
            </a:r>
            <a:r>
              <a:rPr lang="ru-RU" sz="2800" b="1" dirty="0"/>
              <a:t> </a:t>
            </a:r>
            <a:r>
              <a:rPr lang="ru-RU" sz="2800" b="1" dirty="0" err="1"/>
              <a:t>nat</a:t>
            </a:r>
            <a:r>
              <a:rPr lang="ru-RU" sz="2800" b="1" dirty="0"/>
              <a:t> </a:t>
            </a:r>
            <a:r>
              <a:rPr lang="ru-RU" sz="2800" b="1" dirty="0" err="1"/>
              <a:t>outside</a:t>
            </a:r>
            <a:r>
              <a:rPr lang="ru-RU" sz="2800" dirty="0"/>
              <a:t>.</a:t>
            </a:r>
          </a:p>
        </p:txBody>
      </p:sp>
    </p:spTree>
    <p:extLst>
      <p:ext uri="{BB962C8B-B14F-4D97-AF65-F5344CB8AC3E}">
        <p14:creationId xmlns:p14="http://schemas.microsoft.com/office/powerpoint/2010/main" val="22884272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250372" y="1478844"/>
            <a:ext cx="11800114"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Пример:</a:t>
            </a:r>
          </a:p>
          <a:p>
            <a:pPr marL="0" indent="0">
              <a:buNone/>
            </a:pPr>
            <a:endParaRPr lang="ru-RU" sz="2800" dirty="0"/>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ip</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nat</a:t>
            </a:r>
            <a:r>
              <a:rPr lang="en-US" sz="2200" dirty="0">
                <a:latin typeface="Courier New" panose="02070309020205020404" pitchFamily="49" charset="0"/>
                <a:cs typeface="Courier New" panose="02070309020205020404" pitchFamily="49" charset="0"/>
              </a:rPr>
              <a:t> inside source static 192.168.1.5 208.165.100.5</a:t>
            </a:r>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 interface serial0/0/0</a:t>
            </a:r>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-if)#</a:t>
            </a:r>
            <a:r>
              <a:rPr lang="en-US" sz="2200" dirty="0" err="1">
                <a:latin typeface="Courier New" panose="02070309020205020404" pitchFamily="49" charset="0"/>
                <a:cs typeface="Courier New" panose="02070309020205020404" pitchFamily="49" charset="0"/>
              </a:rPr>
              <a:t>ip</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nat</a:t>
            </a:r>
            <a:r>
              <a:rPr lang="en-US" sz="2200" dirty="0">
                <a:latin typeface="Courier New" panose="02070309020205020404" pitchFamily="49" charset="0"/>
                <a:cs typeface="Courier New" panose="02070309020205020404" pitchFamily="49" charset="0"/>
              </a:rPr>
              <a:t> inside</a:t>
            </a:r>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-if)#exit</a:t>
            </a:r>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 interface serial0/1/0</a:t>
            </a:r>
          </a:p>
          <a:p>
            <a:pPr marL="0" indent="0">
              <a:buNone/>
            </a:pPr>
            <a:r>
              <a:rPr lang="en-US" sz="2200" dirty="0">
                <a:latin typeface="Courier New" panose="02070309020205020404" pitchFamily="49" charset="0"/>
                <a:cs typeface="Courier New" panose="02070309020205020404" pitchFamily="49" charset="0"/>
              </a:rPr>
              <a:t>Router(</a:t>
            </a:r>
            <a:r>
              <a:rPr lang="en-US" sz="2200" dirty="0" err="1">
                <a:latin typeface="Courier New" panose="02070309020205020404" pitchFamily="49" charset="0"/>
                <a:cs typeface="Courier New" panose="02070309020205020404" pitchFamily="49" charset="0"/>
              </a:rPr>
              <a:t>config</a:t>
            </a:r>
            <a:r>
              <a:rPr lang="en-US" sz="2200" dirty="0">
                <a:latin typeface="Courier New" panose="02070309020205020404" pitchFamily="49" charset="0"/>
                <a:cs typeface="Courier New" panose="02070309020205020404" pitchFamily="49" charset="0"/>
              </a:rPr>
              <a:t>-if)#</a:t>
            </a:r>
            <a:r>
              <a:rPr lang="en-US" sz="2200" dirty="0" err="1">
                <a:latin typeface="Courier New" panose="02070309020205020404" pitchFamily="49" charset="0"/>
                <a:cs typeface="Courier New" panose="02070309020205020404" pitchFamily="49" charset="0"/>
              </a:rPr>
              <a:t>ip</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nat</a:t>
            </a:r>
            <a:r>
              <a:rPr lang="en-US" sz="2200" dirty="0">
                <a:latin typeface="Courier New" panose="02070309020205020404" pitchFamily="49" charset="0"/>
                <a:cs typeface="Courier New" panose="02070309020205020404" pitchFamily="49" charset="0"/>
              </a:rPr>
              <a:t> outside</a:t>
            </a:r>
            <a:endParaRPr lang="ru-RU" sz="2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15624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В результате трансляции будут проходить так:</a:t>
            </a:r>
          </a:p>
          <a:p>
            <a:pPr marL="0" indent="0">
              <a:buNone/>
            </a:pPr>
            <a:r>
              <a:rPr lang="ru-RU" sz="2800" dirty="0"/>
              <a:t>1. Клиент хочет открыть соединение с веб-сервером. Он отправляет пакет на веб-сервер, используя общедоступный IPv4-адрес назначения 208.165.100.5. Это внутренний глобальный адрес веб-сервера.</a:t>
            </a:r>
          </a:p>
          <a:p>
            <a:pPr marL="0" indent="0">
              <a:buNone/>
            </a:pPr>
            <a:r>
              <a:rPr lang="ru-RU" sz="2800" dirty="0"/>
              <a:t>2. Первый пакет, который роутер получает от клиента на внешнем интерфейсе NAT, заставляет его проверять свою таблицу NAT. Адрес IPv4 адресата находится в таблице NAT он транслируется.</a:t>
            </a:r>
          </a:p>
          <a:p>
            <a:pPr marL="0" indent="0">
              <a:buNone/>
            </a:pPr>
            <a:r>
              <a:rPr lang="ru-RU" sz="2800" dirty="0"/>
              <a:t>3. Роутер заменяет внутренний глобальный адрес назначения 208.165.100.5 внутренним локальным 192.168.1.5 и пересылает пакет к веб-серверу. </a:t>
            </a:r>
          </a:p>
        </p:txBody>
      </p:sp>
    </p:spTree>
    <p:extLst>
      <p:ext uri="{BB962C8B-B14F-4D97-AF65-F5344CB8AC3E}">
        <p14:creationId xmlns:p14="http://schemas.microsoft.com/office/powerpoint/2010/main" val="2936416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статического NAT (</a:t>
            </a:r>
            <a:r>
              <a:rPr lang="ru-RU" sz="4000" b="1" dirty="0" err="1"/>
              <a:t>Static</a:t>
            </a:r>
            <a:r>
              <a:rPr lang="ru-RU" sz="4000" b="1" dirty="0"/>
              <a:t> NAT)</a:t>
            </a:r>
            <a:endParaRPr lang="en-US" sz="4000" b="1" dirty="0"/>
          </a:p>
        </p:txBody>
      </p:sp>
      <p:sp>
        <p:nvSpPr>
          <p:cNvPr id="3" name="Объект 2"/>
          <p:cNvSpPr txBox="1">
            <a:spLocks/>
          </p:cNvSpPr>
          <p:nvPr/>
        </p:nvSpPr>
        <p:spPr>
          <a:xfrm>
            <a:off x="903112" y="1182915"/>
            <a:ext cx="10239021"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4. Веб-сервер получает пакет и отвечает клиенту, используя внутренний локальный адрес источника 192.168.1.5.</a:t>
            </a:r>
          </a:p>
          <a:p>
            <a:pPr marL="0" indent="0">
              <a:buNone/>
            </a:pPr>
            <a:r>
              <a:rPr lang="ru-RU" sz="2800" dirty="0"/>
              <a:t>5. Роутер получает пакет с веб-сервера на свой внутренний интерфейс NAT с адресом источника внутреннего локального адреса веб-сервера, 192.168.1.5. Он проверяет NAT таблицу для перевода внутреннего локального адреса во внутренний глобальный, меняет адрес источника с 192.168.1.5 на 208.165.100.5 и отправляет его из интерфейса </a:t>
            </a:r>
            <a:r>
              <a:rPr lang="ru-RU" sz="2800" dirty="0" err="1"/>
              <a:t>Serial</a:t>
            </a:r>
            <a:r>
              <a:rPr lang="ru-RU" sz="2800" dirty="0"/>
              <a:t> 0/1/0 в сторону клиента</a:t>
            </a:r>
          </a:p>
          <a:p>
            <a:pPr marL="0" indent="0">
              <a:buNone/>
            </a:pPr>
            <a:r>
              <a:rPr lang="ru-RU" sz="2800" dirty="0"/>
              <a:t>6. Клиент получает пакет, и обмен пакетами продолжается. Роутер выполняет предыдущие шаги для каждого пакета. </a:t>
            </a:r>
          </a:p>
        </p:txBody>
      </p:sp>
    </p:spTree>
    <p:extLst>
      <p:ext uri="{BB962C8B-B14F-4D97-AF65-F5344CB8AC3E}">
        <p14:creationId xmlns:p14="http://schemas.microsoft.com/office/powerpoint/2010/main" val="12263464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статического </a:t>
            </a:r>
            <a:r>
              <a:rPr lang="en-US" sz="4000" b="1" dirty="0"/>
              <a:t>NAT</a:t>
            </a:r>
          </a:p>
        </p:txBody>
      </p:sp>
      <p:sp>
        <p:nvSpPr>
          <p:cNvPr id="3" name="Объект 2"/>
          <p:cNvSpPr txBox="1">
            <a:spLocks/>
          </p:cNvSpPr>
          <p:nvPr/>
        </p:nvSpPr>
        <p:spPr>
          <a:xfrm>
            <a:off x="272144" y="1182915"/>
            <a:ext cx="10869990" cy="526304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Полезной командой для проверки работы NAT является команда </a:t>
            </a:r>
            <a:r>
              <a:rPr lang="ru-RU" sz="2800" b="1" dirty="0" err="1"/>
              <a:t>show</a:t>
            </a:r>
            <a:r>
              <a:rPr lang="ru-RU" sz="2800" b="1" dirty="0"/>
              <a:t> </a:t>
            </a:r>
            <a:r>
              <a:rPr lang="ru-RU" sz="2800" b="1" dirty="0" err="1"/>
              <a:t>ip</a:t>
            </a:r>
            <a:r>
              <a:rPr lang="ru-RU" sz="2800" b="1" dirty="0"/>
              <a:t> </a:t>
            </a:r>
            <a:r>
              <a:rPr lang="ru-RU" sz="2800" b="1" dirty="0" err="1"/>
              <a:t>nat</a:t>
            </a:r>
            <a:r>
              <a:rPr lang="ru-RU" sz="2800" b="1" dirty="0"/>
              <a:t> </a:t>
            </a:r>
            <a:r>
              <a:rPr lang="ru-RU" sz="2800" b="1" dirty="0" err="1"/>
              <a:t>translations</a:t>
            </a:r>
            <a:r>
              <a:rPr lang="ru-RU" sz="2800" dirty="0"/>
              <a:t>. </a:t>
            </a:r>
          </a:p>
          <a:p>
            <a:pPr marL="0" indent="0">
              <a:buNone/>
            </a:pPr>
            <a:r>
              <a:rPr lang="ru-RU" sz="2800" dirty="0"/>
              <a:t>Эта команда показывает активные трансляции NAT. </a:t>
            </a:r>
          </a:p>
          <a:p>
            <a:pPr marL="0" indent="0">
              <a:buNone/>
            </a:pPr>
            <a:r>
              <a:rPr lang="ru-RU" sz="2800" dirty="0"/>
              <a:t>Статические переводы, в отличие от динамических переводов, всегда находятся в таблице NAT.</a:t>
            </a:r>
          </a:p>
          <a:p>
            <a:pPr marL="0" indent="0">
              <a:buNone/>
            </a:pPr>
            <a:endParaRPr lang="ru-RU" sz="2800" dirty="0"/>
          </a:p>
          <a:p>
            <a:pPr marL="0" indent="0">
              <a:buNone/>
            </a:pPr>
            <a:r>
              <a:rPr lang="en-US" dirty="0" err="1">
                <a:latin typeface="Courier New" panose="02070309020205020404" pitchFamily="49" charset="0"/>
                <a:cs typeface="Courier New" panose="02070309020205020404" pitchFamily="49" charset="0"/>
              </a:rPr>
              <a:t>Router#show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nat</a:t>
            </a:r>
            <a:r>
              <a:rPr lang="en-US" dirty="0">
                <a:latin typeface="Courier New" panose="02070309020205020404" pitchFamily="49" charset="0"/>
                <a:cs typeface="Courier New" panose="02070309020205020404" pitchFamily="49" charset="0"/>
              </a:rPr>
              <a:t> translations </a:t>
            </a:r>
          </a:p>
          <a:p>
            <a:pPr marL="0" indent="0">
              <a:buNone/>
            </a:pPr>
            <a:r>
              <a:rPr lang="en-US" dirty="0">
                <a:latin typeface="Courier New" panose="02070309020205020404" pitchFamily="49" charset="0"/>
                <a:cs typeface="Courier New" panose="02070309020205020404" pitchFamily="49" charset="0"/>
              </a:rPr>
              <a:t>Pro 	Inside global</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Inside local 	Outside local 	  Outside global</a:t>
            </a:r>
          </a:p>
          <a:p>
            <a:pPr marL="0" indent="0">
              <a:buNone/>
            </a:pPr>
            <a:r>
              <a:rPr lang="en-US" dirty="0">
                <a:latin typeface="Courier New" panose="02070309020205020404" pitchFamily="49" charset="0"/>
                <a:cs typeface="Courier New" panose="02070309020205020404" pitchFamily="49" charset="0"/>
              </a:rPr>
              <a:t>--- 	208.165.100.5</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192.168.1.5	208.165.100.70  </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208.165.100.70</a:t>
            </a:r>
            <a:endParaRPr lang="ru-RU"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39996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статического </a:t>
            </a:r>
            <a:r>
              <a:rPr lang="en-US" sz="4000" b="1" dirty="0"/>
              <a:t>NAT</a:t>
            </a:r>
          </a:p>
        </p:txBody>
      </p:sp>
      <p:sp>
        <p:nvSpPr>
          <p:cNvPr id="3" name="Объект 2"/>
          <p:cNvSpPr txBox="1">
            <a:spLocks/>
          </p:cNvSpPr>
          <p:nvPr/>
        </p:nvSpPr>
        <p:spPr>
          <a:xfrm>
            <a:off x="772886" y="957943"/>
            <a:ext cx="10570028" cy="548801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Другой полезной командой является команда </a:t>
            </a:r>
            <a:r>
              <a:rPr lang="ru-RU" sz="2800" b="1" dirty="0" err="1"/>
              <a:t>show</a:t>
            </a:r>
            <a:r>
              <a:rPr lang="ru-RU" sz="2800" b="1" dirty="0"/>
              <a:t> </a:t>
            </a:r>
            <a:r>
              <a:rPr lang="ru-RU" sz="2800" b="1" dirty="0" err="1"/>
              <a:t>ip</a:t>
            </a:r>
            <a:r>
              <a:rPr lang="ru-RU" sz="2800" b="1" dirty="0"/>
              <a:t> </a:t>
            </a:r>
            <a:r>
              <a:rPr lang="ru-RU" sz="2800" b="1" dirty="0" err="1"/>
              <a:t>nat</a:t>
            </a:r>
            <a:r>
              <a:rPr lang="ru-RU" sz="2800" b="1" dirty="0"/>
              <a:t> </a:t>
            </a:r>
            <a:r>
              <a:rPr lang="ru-RU" sz="2800" b="1" dirty="0" err="1"/>
              <a:t>statistics</a:t>
            </a:r>
            <a:r>
              <a:rPr lang="ru-RU" sz="2800" dirty="0"/>
              <a:t>. Она отображает информацию об общем количестве активных переводов, параметрах конфигурации NAT, количестве адресов в пуле и количестве адресов, которые были выделены.</a:t>
            </a:r>
          </a:p>
          <a:p>
            <a:pPr marL="0" indent="0">
              <a:buNone/>
            </a:pPr>
            <a:r>
              <a:rPr lang="en-US" dirty="0" err="1">
                <a:latin typeface="Courier New" panose="02070309020205020404" pitchFamily="49" charset="0"/>
                <a:cs typeface="Courier New" panose="02070309020205020404" pitchFamily="49" charset="0"/>
              </a:rPr>
              <a:t>Router#show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nat</a:t>
            </a:r>
            <a:r>
              <a:rPr lang="en-US" dirty="0">
                <a:latin typeface="Courier New" panose="02070309020205020404" pitchFamily="49" charset="0"/>
                <a:cs typeface="Courier New" panose="02070309020205020404" pitchFamily="49" charset="0"/>
              </a:rPr>
              <a:t> statistics</a:t>
            </a:r>
          </a:p>
          <a:p>
            <a:pPr marL="0" indent="0">
              <a:buNone/>
            </a:pPr>
            <a:r>
              <a:rPr lang="en-US" dirty="0">
                <a:latin typeface="Courier New" panose="02070309020205020404" pitchFamily="49" charset="0"/>
                <a:cs typeface="Courier New" panose="02070309020205020404" pitchFamily="49" charset="0"/>
              </a:rPr>
              <a:t>Total active translations: 1 (1 static, 0 dynamic; 0 extended)</a:t>
            </a:r>
          </a:p>
          <a:p>
            <a:pPr marL="0" indent="0">
              <a:buNone/>
            </a:pPr>
            <a:r>
              <a:rPr lang="en-US" dirty="0">
                <a:latin typeface="Courier New" panose="02070309020205020404" pitchFamily="49" charset="0"/>
                <a:cs typeface="Courier New" panose="02070309020205020404" pitchFamily="49" charset="0"/>
              </a:rPr>
              <a:t>Peak translations: 2, occurred 00:00:21 ago</a:t>
            </a:r>
          </a:p>
          <a:p>
            <a:pPr marL="0" indent="0">
              <a:buNone/>
            </a:pPr>
            <a:r>
              <a:rPr lang="en-US" dirty="0">
                <a:latin typeface="Courier New" panose="02070309020205020404" pitchFamily="49" charset="0"/>
                <a:cs typeface="Courier New" panose="02070309020205020404" pitchFamily="49" charset="0"/>
              </a:rPr>
              <a:t>Outside interfaces:</a:t>
            </a:r>
          </a:p>
          <a:p>
            <a:pPr marL="0" indent="0">
              <a:buNone/>
            </a:pPr>
            <a:r>
              <a:rPr lang="en-US" dirty="0">
                <a:latin typeface="Courier New" panose="02070309020205020404" pitchFamily="49" charset="0"/>
                <a:cs typeface="Courier New" panose="02070309020205020404" pitchFamily="49" charset="0"/>
              </a:rPr>
              <a:t>	Serial0/1/0</a:t>
            </a:r>
          </a:p>
          <a:p>
            <a:pPr marL="0" indent="0">
              <a:buNone/>
            </a:pPr>
            <a:r>
              <a:rPr lang="en-US" dirty="0">
                <a:latin typeface="Courier New" panose="02070309020205020404" pitchFamily="49" charset="0"/>
                <a:cs typeface="Courier New" panose="02070309020205020404" pitchFamily="49" charset="0"/>
              </a:rPr>
              <a:t>Inside interfaces:</a:t>
            </a:r>
          </a:p>
          <a:p>
            <a:pPr marL="0" indent="0">
              <a:buNone/>
            </a:pPr>
            <a:r>
              <a:rPr lang="en-US" dirty="0">
                <a:latin typeface="Courier New" panose="02070309020205020404" pitchFamily="49" charset="0"/>
                <a:cs typeface="Courier New" panose="02070309020205020404" pitchFamily="49" charset="0"/>
              </a:rPr>
              <a:t>	Serial0/0/0</a:t>
            </a:r>
          </a:p>
          <a:p>
            <a:pPr marL="0" indent="0">
              <a:buNone/>
            </a:pPr>
            <a:r>
              <a:rPr lang="en-US" dirty="0">
                <a:latin typeface="Courier New" panose="02070309020205020404" pitchFamily="49" charset="0"/>
                <a:cs typeface="Courier New" panose="02070309020205020404" pitchFamily="49" charset="0"/>
              </a:rPr>
              <a:t>Hits:7 Misses:0</a:t>
            </a:r>
            <a:endParaRPr lang="ru-RU"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053872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статического </a:t>
            </a:r>
            <a:r>
              <a:rPr lang="en-US" sz="4000" b="1" dirty="0"/>
              <a:t>NAT</a:t>
            </a:r>
          </a:p>
        </p:txBody>
      </p:sp>
      <p:sp>
        <p:nvSpPr>
          <p:cNvPr id="3" name="Объект 2"/>
          <p:cNvSpPr txBox="1">
            <a:spLocks/>
          </p:cNvSpPr>
          <p:nvPr/>
        </p:nvSpPr>
        <p:spPr>
          <a:xfrm>
            <a:off x="772886" y="1328057"/>
            <a:ext cx="10570028" cy="51178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Чтобы убедиться, что трансляция NAT работает, лучше всего очистить статистику из любых прошлых переводов, используя команду </a:t>
            </a:r>
            <a:r>
              <a:rPr lang="ru-RU" sz="2800" b="1" dirty="0" err="1"/>
              <a:t>clear</a:t>
            </a:r>
            <a:r>
              <a:rPr lang="ru-RU" sz="2800" b="1" dirty="0"/>
              <a:t> </a:t>
            </a:r>
            <a:r>
              <a:rPr lang="ru-RU" sz="2800" b="1" dirty="0" err="1"/>
              <a:t>ip</a:t>
            </a:r>
            <a:r>
              <a:rPr lang="ru-RU" sz="2800" b="1" dirty="0"/>
              <a:t> </a:t>
            </a:r>
            <a:r>
              <a:rPr lang="ru-RU" sz="2800" b="1" dirty="0" err="1"/>
              <a:t>nat</a:t>
            </a:r>
            <a:r>
              <a:rPr lang="ru-RU" sz="2800" b="1" dirty="0"/>
              <a:t> </a:t>
            </a:r>
            <a:r>
              <a:rPr lang="ru-RU" sz="2800" b="1" dirty="0" err="1"/>
              <a:t>statistics</a:t>
            </a:r>
            <a:r>
              <a:rPr lang="ru-RU" sz="2800" b="1" dirty="0"/>
              <a:t> </a:t>
            </a:r>
            <a:r>
              <a:rPr lang="ru-RU" sz="2800" dirty="0"/>
              <a:t>перед тестированием.</a:t>
            </a:r>
          </a:p>
        </p:txBody>
      </p:sp>
    </p:spTree>
    <p:extLst>
      <p:ext uri="{BB962C8B-B14F-4D97-AF65-F5344CB8AC3E}">
        <p14:creationId xmlns:p14="http://schemas.microsoft.com/office/powerpoint/2010/main" val="33227099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2" y="1940770"/>
            <a:ext cx="9580417"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Tree>
    <p:extLst>
      <p:ext uri="{BB962C8B-B14F-4D97-AF65-F5344CB8AC3E}">
        <p14:creationId xmlns:p14="http://schemas.microsoft.com/office/powerpoint/2010/main" val="38013907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772886" y="1328057"/>
            <a:ext cx="10570028" cy="51178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В то время пока статический NAT постоянное сопоставление между внутренним локальным и внутренним глобальным адресом, динамический NAT позволяет автоматически сопоставлять внутренние локальные и глобальные адреса (которые обычно являются публичными IP-адресами). </a:t>
            </a:r>
          </a:p>
          <a:p>
            <a:pPr marL="0" indent="0">
              <a:buNone/>
            </a:pPr>
            <a:r>
              <a:rPr lang="ru-RU" sz="2800" dirty="0"/>
              <a:t>Динамический NAT использует группу или пул публичных адресов IPv4 для перевода. </a:t>
            </a:r>
          </a:p>
          <a:p>
            <a:pPr marL="0" indent="0">
              <a:buNone/>
            </a:pPr>
            <a:r>
              <a:rPr lang="ru-RU" sz="2800" dirty="0"/>
              <a:t>Динамический NAT, как и статический NAT, требует настройки внутреннего и внешнего интерфейсов, участвующих в NAT.</a:t>
            </a:r>
          </a:p>
        </p:txBody>
      </p:sp>
    </p:spTree>
    <p:extLst>
      <p:ext uri="{BB962C8B-B14F-4D97-AF65-F5344CB8AC3E}">
        <p14:creationId xmlns:p14="http://schemas.microsoft.com/office/powerpoint/2010/main" val="2819740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201333" y="1028699"/>
            <a:ext cx="7416800" cy="5235389"/>
          </a:xfrm>
          <a:prstGeom prst="rect">
            <a:avLst/>
          </a:prstGeom>
        </p:spPr>
      </p:pic>
      <p:sp>
        <p:nvSpPr>
          <p:cNvPr id="3" name="Заголовок 1"/>
          <p:cNvSpPr txBox="1">
            <a:spLocks/>
          </p:cNvSpPr>
          <p:nvPr/>
        </p:nvSpPr>
        <p:spPr>
          <a:xfrm>
            <a:off x="424543" y="108343"/>
            <a:ext cx="11353799"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p>
        </p:txBody>
      </p:sp>
    </p:spTree>
    <p:extLst>
      <p:ext uri="{BB962C8B-B14F-4D97-AF65-F5344CB8AC3E}">
        <p14:creationId xmlns:p14="http://schemas.microsoft.com/office/powerpoint/2010/main" val="40904469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772886" y="1371599"/>
            <a:ext cx="10570028" cy="507435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Рассмотрим на примере этой схемы. </a:t>
            </a:r>
          </a:p>
          <a:p>
            <a:pPr marL="0" indent="0">
              <a:buNone/>
            </a:pPr>
            <a:r>
              <a:rPr lang="ru-RU" sz="2800" dirty="0"/>
              <a:t>Видим внутреннюю сеть с двумя подсетями 192.168.1.0/24 и 192.168.2.0/24 и пограничным маршрутизатором, на котором настроен динамический NAT с пулом публичных адресов 208.165.100.5 - 208.165.100.15.</a:t>
            </a:r>
          </a:p>
          <a:p>
            <a:pPr marL="0" indent="0">
              <a:buNone/>
            </a:pPr>
            <a:r>
              <a:rPr lang="ru-RU" sz="2800" dirty="0"/>
              <a:t>Пул публичных адресов (</a:t>
            </a:r>
            <a:r>
              <a:rPr lang="ru-RU" sz="2800" b="1" dirty="0" err="1"/>
              <a:t>inside</a:t>
            </a:r>
            <a:r>
              <a:rPr lang="ru-RU" sz="2800" b="1" dirty="0"/>
              <a:t> </a:t>
            </a:r>
            <a:r>
              <a:rPr lang="ru-RU" sz="2800" b="1" dirty="0" err="1"/>
              <a:t>global</a:t>
            </a:r>
            <a:r>
              <a:rPr lang="ru-RU" sz="2800" b="1" dirty="0"/>
              <a:t> </a:t>
            </a:r>
            <a:r>
              <a:rPr lang="ru-RU" sz="2800" b="1" dirty="0" err="1"/>
              <a:t>address</a:t>
            </a:r>
            <a:r>
              <a:rPr lang="ru-RU" sz="2800" b="1" dirty="0"/>
              <a:t> </a:t>
            </a:r>
            <a:r>
              <a:rPr lang="ru-RU" sz="2800" b="1" dirty="0" err="1"/>
              <a:t>pool</a:t>
            </a:r>
            <a:r>
              <a:rPr lang="ru-RU" sz="2800" dirty="0"/>
              <a:t>) доступен для любого устройства во внутренней сети по принципу «первым пришел – первым обслужили». </a:t>
            </a:r>
          </a:p>
        </p:txBody>
      </p:sp>
    </p:spTree>
    <p:extLst>
      <p:ext uri="{BB962C8B-B14F-4D97-AF65-F5344CB8AC3E}">
        <p14:creationId xmlns:p14="http://schemas.microsoft.com/office/powerpoint/2010/main" val="25667782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772886" y="1436913"/>
            <a:ext cx="10570028" cy="50090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С динамическим NAT один внутренний адрес преобразуется в один внешний адрес. </a:t>
            </a:r>
          </a:p>
          <a:p>
            <a:pPr marL="0" indent="0">
              <a:buNone/>
            </a:pPr>
            <a:r>
              <a:rPr lang="ru-RU" sz="2800" dirty="0"/>
              <a:t>При таком типе перевода должно быть достаточно адресов в пуле для одновременного предоставления для всех внутренних устройств, которым необходим доступ к внешней сети. </a:t>
            </a:r>
          </a:p>
          <a:p>
            <a:pPr marL="0" indent="0">
              <a:buNone/>
            </a:pPr>
            <a:r>
              <a:rPr lang="ru-RU" sz="2800" dirty="0"/>
              <a:t>Если все адреса в пуле были использованы, то устройство должно ждать доступного адреса, прежде чем оно сможет получить доступ к внешней сети. </a:t>
            </a:r>
          </a:p>
        </p:txBody>
      </p:sp>
    </p:spTree>
    <p:extLst>
      <p:ext uri="{BB962C8B-B14F-4D97-AF65-F5344CB8AC3E}">
        <p14:creationId xmlns:p14="http://schemas.microsoft.com/office/powerpoint/2010/main" val="35126359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609600" y="1077687"/>
            <a:ext cx="10733314" cy="5368270"/>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Рассмотрим настойку по шагам:</a:t>
            </a:r>
          </a:p>
          <a:p>
            <a:pPr marL="0" indent="0">
              <a:buNone/>
            </a:pPr>
            <a:r>
              <a:rPr lang="ru-RU" sz="2800" dirty="0"/>
              <a:t>1. Определить пул которые будут использоваться для перевода, используя команду </a:t>
            </a:r>
            <a:r>
              <a:rPr lang="ru-RU" sz="2800" b="1" dirty="0" err="1"/>
              <a:t>ip</a:t>
            </a:r>
            <a:r>
              <a:rPr lang="ru-RU" sz="2800" b="1" dirty="0"/>
              <a:t> </a:t>
            </a:r>
            <a:r>
              <a:rPr lang="ru-RU" sz="2800" b="1" dirty="0" err="1"/>
              <a:t>nat</a:t>
            </a:r>
            <a:r>
              <a:rPr lang="ru-RU" sz="2800" b="1" dirty="0"/>
              <a:t> </a:t>
            </a:r>
            <a:r>
              <a:rPr lang="ru-RU" sz="2800" b="1" dirty="0" err="1"/>
              <a:t>pool</a:t>
            </a:r>
            <a:r>
              <a:rPr lang="ru-RU" sz="2800" b="1" dirty="0"/>
              <a:t> [имя </a:t>
            </a:r>
            <a:r>
              <a:rPr lang="ru-RU" sz="2800" b="1" dirty="0" err="1"/>
              <a:t>начальный_ip</a:t>
            </a:r>
            <a:r>
              <a:rPr lang="ru-RU" sz="2800" b="1" dirty="0"/>
              <a:t> </a:t>
            </a:r>
            <a:r>
              <a:rPr lang="ru-RU" sz="2800" b="1" dirty="0" err="1"/>
              <a:t>конечный_ip</a:t>
            </a:r>
            <a:r>
              <a:rPr lang="ru-RU" sz="2800" b="1" dirty="0"/>
              <a:t>]</a:t>
            </a:r>
            <a:r>
              <a:rPr lang="ru-RU" sz="2800" dirty="0"/>
              <a:t>. Этот пул адресов обычно представляет собой группу публичных общедоступных адресов. Адреса определяются указанием начального IP-адреса и конечного IP-адреса пула. Ключевые слова </a:t>
            </a:r>
            <a:r>
              <a:rPr lang="ru-RU" sz="2800" b="1" dirty="0" err="1"/>
              <a:t>netmask</a:t>
            </a:r>
            <a:r>
              <a:rPr lang="ru-RU" sz="2800" dirty="0"/>
              <a:t> или </a:t>
            </a:r>
            <a:r>
              <a:rPr lang="ru-RU" sz="2800" b="1" dirty="0" err="1"/>
              <a:t>prefix-length</a:t>
            </a:r>
            <a:r>
              <a:rPr lang="ru-RU" sz="2800" dirty="0"/>
              <a:t> указывают маску.</a:t>
            </a:r>
          </a:p>
          <a:p>
            <a:pPr marL="0" indent="0">
              <a:buNone/>
            </a:pPr>
            <a:r>
              <a:rPr lang="ru-RU" sz="2800" dirty="0"/>
              <a:t>2. Нужно настроить стандартный </a:t>
            </a:r>
            <a:r>
              <a:rPr lang="ru-RU" sz="2800" b="1" dirty="0" err="1"/>
              <a:t>access-list</a:t>
            </a:r>
            <a:r>
              <a:rPr lang="ru-RU" sz="2800" b="1" dirty="0"/>
              <a:t> (ACL)</a:t>
            </a:r>
            <a:r>
              <a:rPr lang="ru-RU" sz="2800" dirty="0"/>
              <a:t>, чтобы определить только те адреса, которые будут транслироваться. Введем команду </a:t>
            </a:r>
            <a:r>
              <a:rPr lang="ru-RU" sz="2800" b="1" dirty="0" err="1"/>
              <a:t>access-list</a:t>
            </a:r>
            <a:r>
              <a:rPr lang="ru-RU" sz="2800" b="1" dirty="0"/>
              <a:t> [</a:t>
            </a:r>
            <a:r>
              <a:rPr lang="ru-RU" sz="2800" b="1" dirty="0" err="1"/>
              <a:t>номер_ACL</a:t>
            </a:r>
            <a:r>
              <a:rPr lang="ru-RU" sz="2800" b="1" dirty="0"/>
              <a:t>] </a:t>
            </a:r>
            <a:r>
              <a:rPr lang="ru-RU" sz="2800" b="1" dirty="0" err="1"/>
              <a:t>permit</a:t>
            </a:r>
            <a:r>
              <a:rPr lang="ru-RU" sz="2800" b="1" dirty="0"/>
              <a:t> </a:t>
            </a:r>
            <a:r>
              <a:rPr lang="ru-RU" sz="2800" b="1" dirty="0" err="1"/>
              <a:t>source</a:t>
            </a:r>
            <a:r>
              <a:rPr lang="ru-RU" sz="2800" b="1" dirty="0"/>
              <a:t> [</a:t>
            </a:r>
            <a:r>
              <a:rPr lang="ru-RU" sz="2800" b="1" dirty="0" err="1"/>
              <a:t>wildcard_маска</a:t>
            </a:r>
            <a:r>
              <a:rPr lang="ru-RU" sz="2800" b="1" dirty="0"/>
              <a:t>]</a:t>
            </a:r>
            <a:r>
              <a:rPr lang="ru-RU" sz="2800" dirty="0"/>
              <a:t>. Про стандартные </a:t>
            </a:r>
            <a:r>
              <a:rPr lang="ru-RU" sz="2800" dirty="0" err="1"/>
              <a:t>access-list’ы</a:t>
            </a:r>
            <a:r>
              <a:rPr lang="ru-RU" sz="2800" dirty="0"/>
              <a:t> можно прочитать в этой статье (а про расширенные в этой). ACL который разрешает очень много адресов может привести к непредсказуемым результатам, поэтому в конце листа есть команда </a:t>
            </a:r>
            <a:r>
              <a:rPr lang="ru-RU" sz="2800" b="1" dirty="0" err="1"/>
              <a:t>deny</a:t>
            </a:r>
            <a:r>
              <a:rPr lang="ru-RU" sz="2800" b="1" dirty="0"/>
              <a:t> </a:t>
            </a:r>
            <a:r>
              <a:rPr lang="ru-RU" sz="2800" b="1" dirty="0" err="1"/>
              <a:t>all</a:t>
            </a:r>
            <a:r>
              <a:rPr lang="ru-RU" sz="2800" dirty="0"/>
              <a:t>. </a:t>
            </a:r>
          </a:p>
        </p:txBody>
      </p:sp>
    </p:spTree>
    <p:extLst>
      <p:ext uri="{BB962C8B-B14F-4D97-AF65-F5344CB8AC3E}">
        <p14:creationId xmlns:p14="http://schemas.microsoft.com/office/powerpoint/2010/main" val="34202607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3. Необходимо привязать ACL к пулу, и для этого используется команду </a:t>
            </a:r>
            <a:r>
              <a:rPr lang="ru-RU" sz="2800" b="1" dirty="0" err="1"/>
              <a:t>ip</a:t>
            </a:r>
            <a:r>
              <a:rPr lang="ru-RU" sz="2800" b="1" dirty="0"/>
              <a:t> </a:t>
            </a:r>
            <a:r>
              <a:rPr lang="ru-RU" sz="2800" b="1" dirty="0" err="1"/>
              <a:t>nat</a:t>
            </a:r>
            <a:r>
              <a:rPr lang="ru-RU" sz="2800" b="1" dirty="0"/>
              <a:t> </a:t>
            </a:r>
            <a:r>
              <a:rPr lang="ru-RU" sz="2800" b="1" dirty="0" err="1"/>
              <a:t>inside</a:t>
            </a:r>
            <a:r>
              <a:rPr lang="ru-RU" sz="2800" b="1" dirty="0"/>
              <a:t> </a:t>
            </a:r>
            <a:r>
              <a:rPr lang="ru-RU" sz="2800" b="1" dirty="0" err="1"/>
              <a:t>source</a:t>
            </a:r>
            <a:r>
              <a:rPr lang="ru-RU" sz="2800" b="1" dirty="0"/>
              <a:t> </a:t>
            </a:r>
            <a:r>
              <a:rPr lang="ru-RU" sz="2800" b="1" dirty="0" err="1"/>
              <a:t>list</a:t>
            </a:r>
            <a:r>
              <a:rPr lang="ru-RU" sz="2800" b="1" dirty="0"/>
              <a:t> [</a:t>
            </a:r>
            <a:r>
              <a:rPr lang="ru-RU" sz="2800" b="1" dirty="0" err="1"/>
              <a:t>номер_ACL</a:t>
            </a:r>
            <a:r>
              <a:rPr lang="ru-RU" sz="2800" b="1" dirty="0"/>
              <a:t>] </a:t>
            </a:r>
            <a:r>
              <a:rPr lang="ru-RU" sz="2800" b="1" dirty="0" err="1"/>
              <a:t>number</a:t>
            </a:r>
            <a:r>
              <a:rPr lang="ru-RU" sz="2800" b="1" dirty="0"/>
              <a:t> </a:t>
            </a:r>
            <a:r>
              <a:rPr lang="ru-RU" sz="2800" b="1" dirty="0" err="1"/>
              <a:t>pool</a:t>
            </a:r>
            <a:r>
              <a:rPr lang="ru-RU" sz="2800" b="1" dirty="0"/>
              <a:t> [</a:t>
            </a:r>
            <a:r>
              <a:rPr lang="ru-RU" sz="2800" b="1" dirty="0" err="1"/>
              <a:t>название_пула</a:t>
            </a:r>
            <a:r>
              <a:rPr lang="ru-RU" sz="2800" b="1" dirty="0"/>
              <a:t>]</a:t>
            </a:r>
            <a:r>
              <a:rPr lang="ru-RU" sz="2800" dirty="0"/>
              <a:t>. Эта конфигурация используется маршрутизатором для определения того, какие устройства (список) получают адреса (пул).</a:t>
            </a:r>
          </a:p>
          <a:p>
            <a:pPr marL="0" indent="0">
              <a:buNone/>
            </a:pPr>
            <a:r>
              <a:rPr lang="ru-RU" sz="2800" dirty="0"/>
              <a:t>4. Определить, какие интерфейсы находятся внутри, по отношению к NAT, то есть любой интерфейс, который подключен к внутренней сети.</a:t>
            </a:r>
          </a:p>
          <a:p>
            <a:pPr marL="0" indent="0">
              <a:buNone/>
            </a:pPr>
            <a:r>
              <a:rPr lang="ru-RU" sz="2800" dirty="0"/>
              <a:t>5. Определить, какие интерфейсы находятся снаружи, по отношению к NAT, то есть любой интерфейс, который подключен к внешней сети. </a:t>
            </a:r>
          </a:p>
        </p:txBody>
      </p:sp>
    </p:spTree>
    <p:extLst>
      <p:ext uri="{BB962C8B-B14F-4D97-AF65-F5344CB8AC3E}">
        <p14:creationId xmlns:p14="http://schemas.microsoft.com/office/powerpoint/2010/main" val="18711228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540504"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p>
        </p:txBody>
      </p:sp>
      <p:sp>
        <p:nvSpPr>
          <p:cNvPr id="3" name="Объект 2"/>
          <p:cNvSpPr txBox="1">
            <a:spLocks/>
          </p:cNvSpPr>
          <p:nvPr/>
        </p:nvSpPr>
        <p:spPr>
          <a:xfrm>
            <a:off x="0" y="1404257"/>
            <a:ext cx="12191999" cy="504169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       Пример:</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ip</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nat</a:t>
            </a:r>
            <a:r>
              <a:rPr lang="en-US" sz="1600" dirty="0">
                <a:latin typeface="Courier New" panose="02070309020205020404" pitchFamily="49" charset="0"/>
                <a:cs typeface="Courier New" panose="02070309020205020404" pitchFamily="49" charset="0"/>
              </a:rPr>
              <a:t> pool </a:t>
            </a:r>
            <a:r>
              <a:rPr lang="en-US" sz="1600" dirty="0" err="1">
                <a:latin typeface="Courier New" panose="02070309020205020404" pitchFamily="49" charset="0"/>
                <a:cs typeface="Courier New" panose="02070309020205020404" pitchFamily="49" charset="0"/>
              </a:rPr>
              <a:t>MerionNetworksPool</a:t>
            </a:r>
            <a:r>
              <a:rPr lang="en-US" sz="1600" dirty="0">
                <a:latin typeface="Courier New" panose="02070309020205020404" pitchFamily="49" charset="0"/>
                <a:cs typeface="Courier New" panose="02070309020205020404" pitchFamily="49" charset="0"/>
              </a:rPr>
              <a:t> 208.165.100.5 208.165.100.15 </a:t>
            </a:r>
            <a:r>
              <a:rPr lang="en-US" sz="1600" dirty="0" err="1">
                <a:latin typeface="Courier New" panose="02070309020205020404" pitchFamily="49" charset="0"/>
                <a:cs typeface="Courier New" panose="02070309020205020404" pitchFamily="49" charset="0"/>
              </a:rPr>
              <a:t>netmask</a:t>
            </a:r>
            <a:r>
              <a:rPr lang="en-US" sz="1600" dirty="0">
                <a:latin typeface="Courier New" panose="02070309020205020404" pitchFamily="49" charset="0"/>
                <a:cs typeface="Courier New" panose="02070309020205020404" pitchFamily="49" charset="0"/>
              </a:rPr>
              <a:t> 255.255.255.0</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 access-list 1 permit 192.168.0.0 0.0.255.255</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ip</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nat</a:t>
            </a:r>
            <a:r>
              <a:rPr lang="en-US" sz="1600" dirty="0">
                <a:latin typeface="Courier New" panose="02070309020205020404" pitchFamily="49" charset="0"/>
                <a:cs typeface="Courier New" panose="02070309020205020404" pitchFamily="49" charset="0"/>
              </a:rPr>
              <a:t> inside source list 1 pool </a:t>
            </a:r>
            <a:r>
              <a:rPr lang="en-US" sz="1600" dirty="0" err="1">
                <a:latin typeface="Courier New" panose="02070309020205020404" pitchFamily="49" charset="0"/>
                <a:cs typeface="Courier New" panose="02070309020205020404" pitchFamily="49" charset="0"/>
              </a:rPr>
              <a:t>MerionNetworksPool</a:t>
            </a:r>
            <a:endParaRPr lang="en-US" sz="1600"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 interface serial0/0/0</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-if)#</a:t>
            </a:r>
            <a:r>
              <a:rPr lang="en-US" sz="1600" dirty="0" err="1">
                <a:latin typeface="Courier New" panose="02070309020205020404" pitchFamily="49" charset="0"/>
                <a:cs typeface="Courier New" panose="02070309020205020404" pitchFamily="49" charset="0"/>
              </a:rPr>
              <a:t>ip</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nat</a:t>
            </a:r>
            <a:r>
              <a:rPr lang="en-US" sz="1600" dirty="0">
                <a:latin typeface="Courier New" panose="02070309020205020404" pitchFamily="49" charset="0"/>
                <a:cs typeface="Courier New" panose="02070309020205020404" pitchFamily="49" charset="0"/>
              </a:rPr>
              <a:t> inside</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-if)#exit</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 interface serial0/1/0</a:t>
            </a:r>
          </a:p>
          <a:p>
            <a:pPr marL="0" indent="0">
              <a:buNone/>
            </a:pPr>
            <a:r>
              <a:rPr lang="en-US" sz="1600" dirty="0">
                <a:latin typeface="Courier New" panose="02070309020205020404" pitchFamily="49" charset="0"/>
                <a:cs typeface="Courier New" panose="02070309020205020404" pitchFamily="49" charset="0"/>
              </a:rPr>
              <a:t>Router(</a:t>
            </a:r>
            <a:r>
              <a:rPr lang="en-US" sz="1600" dirty="0" err="1">
                <a:latin typeface="Courier New" panose="02070309020205020404" pitchFamily="49" charset="0"/>
                <a:cs typeface="Courier New" panose="02070309020205020404" pitchFamily="49" charset="0"/>
              </a:rPr>
              <a:t>config</a:t>
            </a:r>
            <a:r>
              <a:rPr lang="en-US" sz="1600" dirty="0">
                <a:latin typeface="Courier New" panose="02070309020205020404" pitchFamily="49" charset="0"/>
                <a:cs typeface="Courier New" panose="02070309020205020404" pitchFamily="49" charset="0"/>
              </a:rPr>
              <a:t>-if)#</a:t>
            </a:r>
            <a:r>
              <a:rPr lang="en-US" sz="1600" dirty="0" err="1">
                <a:latin typeface="Courier New" panose="02070309020205020404" pitchFamily="49" charset="0"/>
                <a:cs typeface="Courier New" panose="02070309020205020404" pitchFamily="49" charset="0"/>
              </a:rPr>
              <a:t>ip</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nat</a:t>
            </a:r>
            <a:r>
              <a:rPr lang="en-US" sz="1600" dirty="0">
                <a:latin typeface="Courier New" panose="02070309020205020404" pitchFamily="49" charset="0"/>
                <a:cs typeface="Courier New" panose="02070309020205020404" pitchFamily="49" charset="0"/>
              </a:rPr>
              <a:t> outside</a:t>
            </a:r>
          </a:p>
        </p:txBody>
      </p:sp>
    </p:spTree>
    <p:extLst>
      <p:ext uri="{BB962C8B-B14F-4D97-AF65-F5344CB8AC3E}">
        <p14:creationId xmlns:p14="http://schemas.microsoft.com/office/powerpoint/2010/main" val="34387122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20306" y="0"/>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990601" y="947058"/>
            <a:ext cx="10221686" cy="549890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Как это будет работать на нашей схеме:</a:t>
            </a:r>
          </a:p>
          <a:p>
            <a:pPr marL="0" indent="0">
              <a:buNone/>
            </a:pPr>
            <a:r>
              <a:rPr lang="ru-RU" sz="2800" dirty="0"/>
              <a:t>1. Компьютеры с адресами 192.168.1.10 и 192.168.2.10 отправляют пакеты в сторону сервера по публичному адресу 208.165.100.70</a:t>
            </a:r>
          </a:p>
          <a:p>
            <a:pPr marL="0" indent="0">
              <a:buNone/>
            </a:pPr>
            <a:r>
              <a:rPr lang="ru-RU" sz="2800" dirty="0"/>
              <a:t>2. Маршрутизатор принимает первый пакет от хоста 192.168.1.10. Поскольку этот пакет был получен на интерфейсе, сконфигурированном как внутренний интерфейс NAT, маршрутизатор проверяет конфигурацию NAT, чтобы определить, должен ли этот пакет быть транслирован. ACL разрешает этот пакет, и роутер проверяет свою таблицу NAT. Поскольку для этого IP-адреса нет записи трансляции, роутер определяет, что исходный адрес 192.168.1.10 должен быть переведен динамически. </a:t>
            </a:r>
          </a:p>
        </p:txBody>
      </p:sp>
    </p:spTree>
    <p:extLst>
      <p:ext uri="{BB962C8B-B14F-4D97-AF65-F5344CB8AC3E}">
        <p14:creationId xmlns:p14="http://schemas.microsoft.com/office/powerpoint/2010/main" val="37799838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Роутер выбирает доступный глобальный адрес из пула динамических адресов и создает запись перевода, 208.165.200.5. Исходный IPv4-адрес источника (192.168.1.10) является внутренним локальным адресом, а переведенный адрес является внутренним глобальным адресом (208.165.200.5) в таблице NAT. Для второго хоста 192.168.2.10 маршрутизатор повторяет эту процедуру, выбирая следующий доступный глобальный адрес из пула динамических адресов, создает вторую запись перевода - 208.165.200.6.</a:t>
            </a:r>
          </a:p>
          <a:p>
            <a:pPr marL="0" indent="0">
              <a:buNone/>
            </a:pPr>
            <a:r>
              <a:rPr lang="ru-RU" sz="2800" dirty="0"/>
              <a:t>3. После замены внутреннего локального адреса источника в пакетах маршрутизатор перенаправляет пакет. </a:t>
            </a:r>
          </a:p>
        </p:txBody>
      </p:sp>
    </p:spTree>
    <p:extLst>
      <p:ext uri="{BB962C8B-B14F-4D97-AF65-F5344CB8AC3E}">
        <p14:creationId xmlns:p14="http://schemas.microsoft.com/office/powerpoint/2010/main" val="1328504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динамического NAT (</a:t>
            </a:r>
            <a:r>
              <a:rPr lang="ru-RU" sz="4000" b="1" dirty="0" err="1"/>
              <a:t>Dynamic</a:t>
            </a:r>
            <a:r>
              <a:rPr lang="ru-RU" sz="4000" b="1" dirty="0"/>
              <a:t> NAT)</a:t>
            </a:r>
            <a:endParaRPr lang="en-US" sz="4000" b="1" dirty="0"/>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4. Сервер получает пакет от первого ПК и отвечает, используя адрес назначения 208.165.200.5. Когда сервер получает пакет от второго ПК, то в ответе в адресе назначения будет стоять 208.165.200.6.</a:t>
            </a:r>
          </a:p>
          <a:p>
            <a:pPr marL="0" indent="0">
              <a:buNone/>
            </a:pPr>
            <a:r>
              <a:rPr lang="ru-RU" sz="2800" dirty="0"/>
              <a:t>5. Когда роутер получает с адресом назначения 208.165.200.5, то он выполняет поиск в таблице NAT и переводит адрес назначения во внутренний локальный адрес 192.168.1.10 и направляет в сторону ПК. То же самое происходит с пакетом, направленным ко второму ПК.</a:t>
            </a:r>
          </a:p>
          <a:p>
            <a:pPr marL="0" indent="0">
              <a:buNone/>
            </a:pPr>
            <a:r>
              <a:rPr lang="ru-RU" sz="2800" dirty="0"/>
              <a:t>6. Оба ПК получают пакеты, и обмен пакетами продолжается. Для каждого следующего пакета выполняются предыдущие шаги. </a:t>
            </a:r>
          </a:p>
        </p:txBody>
      </p:sp>
    </p:spTree>
    <p:extLst>
      <p:ext uri="{BB962C8B-B14F-4D97-AF65-F5344CB8AC3E}">
        <p14:creationId xmlns:p14="http://schemas.microsoft.com/office/powerpoint/2010/main" val="5864704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динамического </a:t>
            </a:r>
            <a:r>
              <a:rPr lang="en-US" sz="4000" b="1" dirty="0"/>
              <a:t>NAT</a:t>
            </a:r>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Для проверки также используется команда </a:t>
            </a:r>
            <a:r>
              <a:rPr lang="ru-RU" sz="2800" b="1" dirty="0" err="1"/>
              <a:t>show</a:t>
            </a:r>
            <a:r>
              <a:rPr lang="ru-RU" sz="2800" b="1" dirty="0"/>
              <a:t> </a:t>
            </a:r>
            <a:r>
              <a:rPr lang="ru-RU" sz="2800" b="1" dirty="0" err="1"/>
              <a:t>ip</a:t>
            </a:r>
            <a:r>
              <a:rPr lang="ru-RU" sz="2800" b="1" dirty="0"/>
              <a:t> </a:t>
            </a:r>
            <a:r>
              <a:rPr lang="ru-RU" sz="2800" b="1" dirty="0" err="1"/>
              <a:t>nat</a:t>
            </a:r>
            <a:r>
              <a:rPr lang="ru-RU" sz="2800" b="1" dirty="0"/>
              <a:t> </a:t>
            </a:r>
            <a:r>
              <a:rPr lang="ru-RU" sz="2800" dirty="0"/>
              <a:t>отображает все статические переводы, которые были настроены, и любые динамические переводы, которые были созданы трафиком. </a:t>
            </a:r>
          </a:p>
          <a:p>
            <a:pPr marL="0" indent="0">
              <a:buNone/>
            </a:pPr>
            <a:r>
              <a:rPr lang="ru-RU" sz="2800" dirty="0"/>
              <a:t>Добавление ключевого слова </a:t>
            </a:r>
            <a:r>
              <a:rPr lang="ru-RU" sz="2800" b="1" dirty="0" err="1"/>
              <a:t>verbose</a:t>
            </a:r>
            <a:r>
              <a:rPr lang="ru-RU" sz="2800" dirty="0"/>
              <a:t> отображает дополнительную информацию о каждом переводе, включая то, как давно запись была создана и использовалась. </a:t>
            </a:r>
          </a:p>
          <a:p>
            <a:pPr marL="0" indent="0">
              <a:buNone/>
            </a:pPr>
            <a:r>
              <a:rPr lang="ru-RU" sz="2800" dirty="0"/>
              <a:t>По умолчанию данные о переводах истекают через 24 часа, если таймеры не были переконфигурированы с помощью команды </a:t>
            </a:r>
            <a:r>
              <a:rPr lang="ru-RU" sz="2800" b="1" dirty="0" err="1"/>
              <a:t>ip</a:t>
            </a:r>
            <a:r>
              <a:rPr lang="ru-RU" sz="2800" b="1" dirty="0"/>
              <a:t> </a:t>
            </a:r>
            <a:r>
              <a:rPr lang="ru-RU" sz="2800" b="1" dirty="0" err="1"/>
              <a:t>nat</a:t>
            </a:r>
            <a:r>
              <a:rPr lang="ru-RU" sz="2800" b="1" dirty="0"/>
              <a:t> </a:t>
            </a:r>
            <a:r>
              <a:rPr lang="ru-RU" sz="2800" b="1" dirty="0" err="1"/>
              <a:t>translation</a:t>
            </a:r>
            <a:r>
              <a:rPr lang="ru-RU" sz="2800" b="1" dirty="0"/>
              <a:t> </a:t>
            </a:r>
            <a:r>
              <a:rPr lang="ru-RU" sz="2800" b="1" dirty="0" err="1"/>
              <a:t>timeout</a:t>
            </a:r>
            <a:r>
              <a:rPr lang="ru-RU" sz="2800" b="1" dirty="0"/>
              <a:t> [</a:t>
            </a:r>
            <a:r>
              <a:rPr lang="ru-RU" sz="2800" b="1" dirty="0" err="1"/>
              <a:t>время_в_секундах</a:t>
            </a:r>
            <a:r>
              <a:rPr lang="ru-RU" sz="2800" b="1" dirty="0"/>
              <a:t>]</a:t>
            </a:r>
            <a:r>
              <a:rPr lang="ru-RU" sz="2800" dirty="0"/>
              <a:t> в режиме глобальной конфигурации.</a:t>
            </a:r>
          </a:p>
        </p:txBody>
      </p:sp>
    </p:spTree>
    <p:extLst>
      <p:ext uri="{BB962C8B-B14F-4D97-AF65-F5344CB8AC3E}">
        <p14:creationId xmlns:p14="http://schemas.microsoft.com/office/powerpoint/2010/main" val="16915365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динамического </a:t>
            </a:r>
            <a:r>
              <a:rPr lang="en-US" sz="4000" b="1" dirty="0"/>
              <a:t>NAT</a:t>
            </a:r>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Чтобы очистить динамические записи до истечения времени ожидания, можно использовать команду </a:t>
            </a:r>
            <a:r>
              <a:rPr lang="ru-RU" sz="2800" b="1" dirty="0" err="1"/>
              <a:t>clear</a:t>
            </a:r>
            <a:r>
              <a:rPr lang="ru-RU" sz="2800" b="1" dirty="0"/>
              <a:t> </a:t>
            </a:r>
            <a:r>
              <a:rPr lang="ru-RU" sz="2800" b="1" dirty="0" err="1"/>
              <a:t>ip</a:t>
            </a:r>
            <a:r>
              <a:rPr lang="ru-RU" sz="2800" b="1" dirty="0"/>
              <a:t> </a:t>
            </a:r>
            <a:r>
              <a:rPr lang="ru-RU" sz="2800" b="1" dirty="0" err="1"/>
              <a:t>nat</a:t>
            </a:r>
            <a:r>
              <a:rPr lang="ru-RU" sz="2800" b="1" dirty="0"/>
              <a:t> </a:t>
            </a:r>
            <a:r>
              <a:rPr lang="ru-RU" sz="2800" b="1" dirty="0" err="1"/>
              <a:t>translation</a:t>
            </a:r>
            <a:r>
              <a:rPr lang="ru-RU" sz="2800" dirty="0"/>
              <a:t>. </a:t>
            </a:r>
          </a:p>
          <a:p>
            <a:pPr marL="0" indent="0">
              <a:buNone/>
            </a:pPr>
            <a:r>
              <a:rPr lang="ru-RU" sz="2800" dirty="0"/>
              <a:t>Полезно очищать динамические записи при тестировании конфигурации NAT. </a:t>
            </a:r>
          </a:p>
          <a:p>
            <a:pPr marL="0" indent="0">
              <a:buNone/>
            </a:pPr>
            <a:r>
              <a:rPr lang="ru-RU" sz="2800" dirty="0"/>
              <a:t>Эту команду можно использовать с ключевыми словами и переменными, чтобы контролировать, какие записи очищаются. </a:t>
            </a:r>
          </a:p>
          <a:p>
            <a:pPr marL="0" indent="0">
              <a:buNone/>
            </a:pPr>
            <a:r>
              <a:rPr lang="ru-RU" sz="2800" dirty="0"/>
              <a:t>Конкретные записи можно очистить, чтобы не прерывать активные сеансы. </a:t>
            </a:r>
          </a:p>
          <a:p>
            <a:pPr marL="0" indent="0">
              <a:buNone/>
            </a:pPr>
            <a:r>
              <a:rPr lang="ru-RU" sz="2800" dirty="0"/>
              <a:t>Только динамические переводы удаляются из таблицы. </a:t>
            </a:r>
          </a:p>
          <a:p>
            <a:pPr marL="0" indent="0">
              <a:buNone/>
            </a:pPr>
            <a:r>
              <a:rPr lang="ru-RU" sz="2800" dirty="0"/>
              <a:t>Статические переводы не могут быть удалены из таблицы.</a:t>
            </a:r>
          </a:p>
        </p:txBody>
      </p:sp>
    </p:spTree>
    <p:extLst>
      <p:ext uri="{BB962C8B-B14F-4D97-AF65-F5344CB8AC3E}">
        <p14:creationId xmlns:p14="http://schemas.microsoft.com/office/powerpoint/2010/main" val="19167769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5" y="108343"/>
            <a:ext cx="9562275"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Проверка динамического </a:t>
            </a:r>
            <a:r>
              <a:rPr lang="en-US" sz="4000" b="1" dirty="0"/>
              <a:t>NAT</a:t>
            </a:r>
          </a:p>
        </p:txBody>
      </p:sp>
      <p:sp>
        <p:nvSpPr>
          <p:cNvPr id="3" name="Объект 2"/>
          <p:cNvSpPr txBox="1">
            <a:spLocks/>
          </p:cNvSpPr>
          <p:nvPr/>
        </p:nvSpPr>
        <p:spPr>
          <a:xfrm>
            <a:off x="990601" y="1262743"/>
            <a:ext cx="10221686" cy="51832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ru-RU" sz="2800" dirty="0"/>
              <a:t>Также можно использовать команду </a:t>
            </a:r>
            <a:r>
              <a:rPr lang="ru-RU" sz="2800" b="1" dirty="0" err="1"/>
              <a:t>show</a:t>
            </a:r>
            <a:r>
              <a:rPr lang="ru-RU" sz="2800" b="1" dirty="0"/>
              <a:t> </a:t>
            </a:r>
            <a:r>
              <a:rPr lang="ru-RU" sz="2800" b="1" dirty="0" err="1"/>
              <a:t>ip</a:t>
            </a:r>
            <a:r>
              <a:rPr lang="ru-RU" sz="2800" b="1" dirty="0"/>
              <a:t> </a:t>
            </a:r>
            <a:r>
              <a:rPr lang="ru-RU" sz="2800" b="1" dirty="0" err="1"/>
              <a:t>nat</a:t>
            </a:r>
            <a:r>
              <a:rPr lang="ru-RU" sz="2800" b="1" dirty="0"/>
              <a:t> </a:t>
            </a:r>
            <a:r>
              <a:rPr lang="ru-RU" sz="2800" b="1" dirty="0" err="1"/>
              <a:t>statistics</a:t>
            </a:r>
            <a:r>
              <a:rPr lang="ru-RU" sz="2800" b="1" dirty="0"/>
              <a:t> </a:t>
            </a:r>
            <a:r>
              <a:rPr lang="ru-RU" sz="2800" dirty="0"/>
              <a:t>которая отображает информацию об общем количестве активных переводов, параметрах конфигурации NAT, количестве адресов в пуле и количестве переведенных адресов.</a:t>
            </a:r>
          </a:p>
          <a:p>
            <a:pPr marL="0" indent="0">
              <a:buNone/>
            </a:pPr>
            <a:r>
              <a:rPr lang="ru-RU" sz="2800" dirty="0"/>
              <a:t>Поскольку у нас здесь используются листы контроля доступа ACL, то для их проверки можно использовать команду </a:t>
            </a:r>
            <a:r>
              <a:rPr lang="ru-RU" sz="2800" b="1" dirty="0" err="1"/>
              <a:t>show</a:t>
            </a:r>
            <a:r>
              <a:rPr lang="ru-RU" sz="2800" b="1" dirty="0"/>
              <a:t> </a:t>
            </a:r>
            <a:r>
              <a:rPr lang="ru-RU" sz="2800" b="1" dirty="0" err="1"/>
              <a:t>access-lists</a:t>
            </a:r>
            <a:r>
              <a:rPr lang="ru-RU" sz="2800" dirty="0"/>
              <a:t>. </a:t>
            </a:r>
          </a:p>
        </p:txBody>
      </p:sp>
    </p:spTree>
    <p:extLst>
      <p:ext uri="{BB962C8B-B14F-4D97-AF65-F5344CB8AC3E}">
        <p14:creationId xmlns:p14="http://schemas.microsoft.com/office/powerpoint/2010/main" val="42040269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239983" y="1940770"/>
            <a:ext cx="9313718" cy="190188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Port Address Translation (PAT)</a:t>
            </a:r>
          </a:p>
        </p:txBody>
      </p:sp>
    </p:spTree>
    <p:extLst>
      <p:ext uri="{BB962C8B-B14F-4D97-AF65-F5344CB8AC3E}">
        <p14:creationId xmlns:p14="http://schemas.microsoft.com/office/powerpoint/2010/main" val="29104231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Port Address Translation (PAT)</a:t>
            </a:r>
          </a:p>
        </p:txBody>
      </p:sp>
      <p:sp>
        <p:nvSpPr>
          <p:cNvPr id="3" name="Объект 2"/>
          <p:cNvSpPr txBox="1">
            <a:spLocks/>
          </p:cNvSpPr>
          <p:nvPr/>
        </p:nvSpPr>
        <p:spPr>
          <a:xfrm>
            <a:off x="903112" y="1478844"/>
            <a:ext cx="10239021" cy="496711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PAT (также называемый </a:t>
            </a:r>
            <a:r>
              <a:rPr lang="ru-RU" sz="2800" b="1" dirty="0"/>
              <a:t>NAT </a:t>
            </a:r>
            <a:r>
              <a:rPr lang="ru-RU" sz="2800" b="1" dirty="0" err="1"/>
              <a:t>overload</a:t>
            </a:r>
            <a:r>
              <a:rPr lang="ru-RU" sz="2800" dirty="0"/>
              <a:t>) сохраняет адреса во внутреннем глобальном пуле адресов, позволяя маршрутизатору использовать один внутренний глобальный адрес для многих внутренних локальных адресов. </a:t>
            </a:r>
            <a:endParaRPr lang="en-US" sz="2800" dirty="0"/>
          </a:p>
          <a:p>
            <a:r>
              <a:rPr lang="ru-RU" sz="2800" dirty="0"/>
              <a:t>Другими словами, один открытый IPv4-адрес может использоваться для сотен и даже тысяч внутренних частных IPv4-адресов. </a:t>
            </a:r>
            <a:endParaRPr lang="en-US" sz="2800" dirty="0"/>
          </a:p>
          <a:p>
            <a:r>
              <a:rPr lang="ru-RU" sz="2800" dirty="0"/>
              <a:t>Когда несколько внутренних локальных адресов сопоставляются с одним внутренним глобальным адресом, номера портов </a:t>
            </a:r>
            <a:r>
              <a:rPr lang="ru-RU" sz="2800" b="1" dirty="0"/>
              <a:t>TCP</a:t>
            </a:r>
            <a:r>
              <a:rPr lang="ru-RU" sz="2800" dirty="0"/>
              <a:t> или </a:t>
            </a:r>
            <a:r>
              <a:rPr lang="ru-RU" sz="2800" b="1" dirty="0"/>
              <a:t>UDP</a:t>
            </a:r>
            <a:r>
              <a:rPr lang="ru-RU" sz="2800" dirty="0"/>
              <a:t> каждого внутреннего узла различают локальные адреса.</a:t>
            </a:r>
          </a:p>
        </p:txBody>
      </p:sp>
    </p:spTree>
    <p:extLst>
      <p:ext uri="{BB962C8B-B14F-4D97-AF65-F5344CB8AC3E}">
        <p14:creationId xmlns:p14="http://schemas.microsoft.com/office/powerpoint/2010/main" val="20379794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356096" y="108343"/>
            <a:ext cx="9144000"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Port Address Translation (PAT)</a:t>
            </a:r>
          </a:p>
        </p:txBody>
      </p:sp>
      <p:sp>
        <p:nvSpPr>
          <p:cNvPr id="3" name="Объект 2"/>
          <p:cNvSpPr txBox="1">
            <a:spLocks/>
          </p:cNvSpPr>
          <p:nvPr/>
        </p:nvSpPr>
        <p:spPr>
          <a:xfrm>
            <a:off x="903112" y="1061156"/>
            <a:ext cx="10239021" cy="523804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Общее количество внутренних адресов, которые могут быть переведены на один внешний адрес, теоретически может составлять 65 536 на каждый IP-адрес. </a:t>
            </a:r>
            <a:endParaRPr lang="en-US" sz="2800" dirty="0"/>
          </a:p>
          <a:p>
            <a:r>
              <a:rPr lang="ru-RU" sz="2800" dirty="0"/>
              <a:t>Однако на практике число внутренних адресов, которым может быть назначен один IP-адрес, составляет около 4000. </a:t>
            </a:r>
          </a:p>
          <a:p>
            <a:r>
              <a:rPr lang="ru-RU" sz="2800" dirty="0"/>
              <a:t>Существует два способа настройки PAT, в зависимости от того, как провайдер выделяет общедоступные IPv4-адреса. </a:t>
            </a:r>
            <a:endParaRPr lang="en-US" sz="2800" dirty="0"/>
          </a:p>
          <a:p>
            <a:r>
              <a:rPr lang="ru-RU" sz="2800" dirty="0"/>
              <a:t>В первом случае </a:t>
            </a:r>
            <a:r>
              <a:rPr lang="ru-RU" sz="2800" dirty="0" err="1"/>
              <a:t>интернет-провайдер</a:t>
            </a:r>
            <a:r>
              <a:rPr lang="ru-RU" sz="2800" dirty="0"/>
              <a:t> выделяет более одного публичного IPv4-адреса организации, а в другом он выделяет один общедоступный IPv4-адрес, который требуется для организации для подключения к </a:t>
            </a:r>
            <a:r>
              <a:rPr lang="ru-RU" sz="2800" dirty="0" err="1"/>
              <a:t>интернет-провайдеру</a:t>
            </a:r>
            <a:r>
              <a:rPr lang="ru-RU" sz="2800" dirty="0"/>
              <a:t>. </a:t>
            </a:r>
          </a:p>
        </p:txBody>
      </p:sp>
    </p:spTree>
    <p:extLst>
      <p:ext uri="{BB962C8B-B14F-4D97-AF65-F5344CB8AC3E}">
        <p14:creationId xmlns:p14="http://schemas.microsoft.com/office/powerpoint/2010/main" val="13418522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201333" y="1028699"/>
            <a:ext cx="7416800" cy="5235389"/>
          </a:xfrm>
          <a:prstGeom prst="rect">
            <a:avLst/>
          </a:prstGeom>
        </p:spPr>
      </p:pic>
      <p:sp>
        <p:nvSpPr>
          <p:cNvPr id="3" name="Заголовок 1"/>
          <p:cNvSpPr txBox="1">
            <a:spLocks/>
          </p:cNvSpPr>
          <p:nvPr/>
        </p:nvSpPr>
        <p:spPr>
          <a:xfrm>
            <a:off x="424543" y="108343"/>
            <a:ext cx="11353799"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пула публичных </a:t>
            </a:r>
            <a:r>
              <a:rPr lang="en-US" sz="4000" b="1" dirty="0"/>
              <a:t>IP</a:t>
            </a:r>
            <a:r>
              <a:rPr lang="ru-RU" sz="4000" b="1" dirty="0"/>
              <a:t>-адресов</a:t>
            </a:r>
            <a:endParaRPr lang="en-US" sz="4000" b="1" dirty="0"/>
          </a:p>
        </p:txBody>
      </p:sp>
    </p:spTree>
    <p:extLst>
      <p:ext uri="{BB962C8B-B14F-4D97-AF65-F5344CB8AC3E}">
        <p14:creationId xmlns:p14="http://schemas.microsoft.com/office/powerpoint/2010/main" val="9214532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293915" y="108343"/>
            <a:ext cx="11560628"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пула публичных </a:t>
            </a:r>
            <a:r>
              <a:rPr lang="en-US" sz="4000" b="1" dirty="0"/>
              <a:t>IP</a:t>
            </a:r>
            <a:r>
              <a:rPr lang="ru-RU" sz="4000" b="1" dirty="0"/>
              <a:t>-адресов</a:t>
            </a:r>
            <a:endParaRPr lang="en-US" sz="4000" b="1" dirty="0"/>
          </a:p>
        </p:txBody>
      </p:sp>
      <p:sp>
        <p:nvSpPr>
          <p:cNvPr id="3" name="Объект 2"/>
          <p:cNvSpPr txBox="1">
            <a:spLocks/>
          </p:cNvSpPr>
          <p:nvPr/>
        </p:nvSpPr>
        <p:spPr>
          <a:xfrm>
            <a:off x="903112" y="1436914"/>
            <a:ext cx="10239021" cy="486228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Если нам доступно более одного общедоступного IPv4-адреса, то эти адреса могут быть частью пула, который используется PAT. </a:t>
            </a:r>
            <a:endParaRPr lang="en-US" sz="2800" dirty="0"/>
          </a:p>
          <a:p>
            <a:r>
              <a:rPr lang="ru-RU" sz="2800" dirty="0"/>
              <a:t>Это похоже на динамический NAT, за исключением того, что в этом случае недостаточно общих адресов для взаимного сопоставления внутренних адресов. </a:t>
            </a:r>
            <a:endParaRPr lang="en-US" sz="2800" dirty="0"/>
          </a:p>
          <a:p>
            <a:r>
              <a:rPr lang="ru-RU" sz="2800" dirty="0"/>
              <a:t>Небольшой пул адресов распределяется между большим количеством устройств. </a:t>
            </a:r>
          </a:p>
          <a:p>
            <a:r>
              <a:rPr lang="ru-RU" sz="2800" dirty="0"/>
              <a:t>Основное различие между этой конфигурацией и конфигурацией для динамического NAT, заключается в том, что используется ключевое слово </a:t>
            </a:r>
            <a:r>
              <a:rPr lang="ru-RU" sz="2800" b="1" dirty="0" err="1"/>
              <a:t>overload</a:t>
            </a:r>
            <a:r>
              <a:rPr lang="ru-RU" sz="2800" dirty="0"/>
              <a:t>, которое включает PAT. </a:t>
            </a:r>
          </a:p>
        </p:txBody>
      </p:sp>
    </p:spTree>
    <p:extLst>
      <p:ext uri="{BB962C8B-B14F-4D97-AF65-F5344CB8AC3E}">
        <p14:creationId xmlns:p14="http://schemas.microsoft.com/office/powerpoint/2010/main" val="6616409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293914" y="108343"/>
            <a:ext cx="11517086"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пула публичных </a:t>
            </a:r>
            <a:r>
              <a:rPr lang="en-US" sz="4000" b="1" dirty="0"/>
              <a:t>IP</a:t>
            </a:r>
            <a:r>
              <a:rPr lang="ru-RU" sz="4000" b="1" dirty="0"/>
              <a:t>-адресов</a:t>
            </a:r>
            <a:endParaRPr lang="en-US" sz="4000" b="1" dirty="0"/>
          </a:p>
        </p:txBody>
      </p:sp>
      <p:sp>
        <p:nvSpPr>
          <p:cNvPr id="3" name="Объект 2"/>
          <p:cNvSpPr txBox="1">
            <a:spLocks/>
          </p:cNvSpPr>
          <p:nvPr/>
        </p:nvSpPr>
        <p:spPr>
          <a:xfrm>
            <a:off x="903112" y="1534886"/>
            <a:ext cx="10239021" cy="47643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Рассмотрим настойку PAT для пула адресов по шагам: </a:t>
            </a:r>
          </a:p>
          <a:p>
            <a:r>
              <a:rPr lang="en-US" sz="2800" dirty="0"/>
              <a:t>1</a:t>
            </a:r>
            <a:r>
              <a:rPr lang="ru-RU" sz="2800" dirty="0"/>
              <a:t>. Определить пул глобальных адресов, которые будут использоваться для PAT трансляции, используя команду </a:t>
            </a:r>
            <a:r>
              <a:rPr lang="ru-RU" sz="2800" b="1" dirty="0" err="1"/>
              <a:t>ip</a:t>
            </a:r>
            <a:r>
              <a:rPr lang="ru-RU" sz="2800" b="1" dirty="0"/>
              <a:t> </a:t>
            </a:r>
            <a:r>
              <a:rPr lang="ru-RU" sz="2800" b="1" dirty="0" err="1"/>
              <a:t>nat</a:t>
            </a:r>
            <a:r>
              <a:rPr lang="ru-RU" sz="2800" b="1" dirty="0"/>
              <a:t> </a:t>
            </a:r>
            <a:r>
              <a:rPr lang="ru-RU" sz="2800" b="1" dirty="0" err="1"/>
              <a:t>pool</a:t>
            </a:r>
            <a:r>
              <a:rPr lang="ru-RU" sz="2800" b="1" dirty="0"/>
              <a:t> [имя </a:t>
            </a:r>
            <a:r>
              <a:rPr lang="ru-RU" sz="2800" b="1" dirty="0" err="1"/>
              <a:t>начальный_ip</a:t>
            </a:r>
            <a:r>
              <a:rPr lang="ru-RU" sz="2800" b="1" dirty="0"/>
              <a:t> </a:t>
            </a:r>
            <a:r>
              <a:rPr lang="ru-RU" sz="2800" b="1" dirty="0" err="1"/>
              <a:t>конечный_ip</a:t>
            </a:r>
            <a:r>
              <a:rPr lang="ru-RU" sz="2800" b="1" dirty="0"/>
              <a:t>] </a:t>
            </a:r>
            <a:r>
              <a:rPr lang="ru-RU" sz="2800" b="1" dirty="0" err="1"/>
              <a:t>netmask</a:t>
            </a:r>
            <a:r>
              <a:rPr lang="ru-RU" sz="2800" b="1" dirty="0"/>
              <a:t> [маска] | </a:t>
            </a:r>
            <a:r>
              <a:rPr lang="ru-RU" sz="2800" b="1" dirty="0" err="1"/>
              <a:t>prefix-length</a:t>
            </a:r>
            <a:r>
              <a:rPr lang="ru-RU" sz="2800" b="1" dirty="0"/>
              <a:t> [</a:t>
            </a:r>
            <a:r>
              <a:rPr lang="ru-RU" sz="2800" b="1" dirty="0" err="1"/>
              <a:t>длина_префикса</a:t>
            </a:r>
            <a:r>
              <a:rPr lang="ru-RU" sz="2800" b="1" dirty="0"/>
              <a:t>]</a:t>
            </a:r>
            <a:r>
              <a:rPr lang="ru-RU" sz="2800" dirty="0"/>
              <a:t>. </a:t>
            </a:r>
          </a:p>
          <a:p>
            <a:r>
              <a:rPr lang="ru-RU" sz="2800" dirty="0"/>
              <a:t>2. Создать стандартный </a:t>
            </a:r>
            <a:r>
              <a:rPr lang="ru-RU" sz="2800" b="1" dirty="0" err="1"/>
              <a:t>access-list</a:t>
            </a:r>
            <a:r>
              <a:rPr lang="ru-RU" sz="2800" dirty="0"/>
              <a:t>, разрешающий адреса, которые должны быть переведены. </a:t>
            </a:r>
          </a:p>
          <a:p>
            <a:r>
              <a:rPr lang="ru-RU" sz="2800" dirty="0"/>
              <a:t>Используется команда </a:t>
            </a:r>
            <a:r>
              <a:rPr lang="ru-RU" sz="2800" b="1" dirty="0" err="1"/>
              <a:t>access-list</a:t>
            </a:r>
            <a:r>
              <a:rPr lang="ru-RU" sz="2800" b="1" dirty="0"/>
              <a:t> [</a:t>
            </a:r>
            <a:r>
              <a:rPr lang="ru-RU" sz="2800" b="1" dirty="0" err="1"/>
              <a:t>номер_ACL</a:t>
            </a:r>
            <a:r>
              <a:rPr lang="ru-RU" sz="2800" b="1" dirty="0"/>
              <a:t>] </a:t>
            </a:r>
            <a:r>
              <a:rPr lang="ru-RU" sz="2800" b="1" dirty="0" err="1"/>
              <a:t>permit</a:t>
            </a:r>
            <a:r>
              <a:rPr lang="ru-RU" sz="2800" b="1" dirty="0"/>
              <a:t> </a:t>
            </a:r>
            <a:r>
              <a:rPr lang="ru-RU" sz="2800" b="1" dirty="0" err="1"/>
              <a:t>source</a:t>
            </a:r>
            <a:r>
              <a:rPr lang="ru-RU" sz="2800" b="1" dirty="0"/>
              <a:t> [</a:t>
            </a:r>
            <a:r>
              <a:rPr lang="ru-RU" sz="2800" b="1" dirty="0" err="1"/>
              <a:t>wildcard_маска</a:t>
            </a:r>
            <a:r>
              <a:rPr lang="ru-RU" sz="2800" b="1" dirty="0"/>
              <a:t>]</a:t>
            </a:r>
            <a:r>
              <a:rPr lang="ru-RU" sz="2800" dirty="0"/>
              <a:t>. </a:t>
            </a:r>
          </a:p>
        </p:txBody>
      </p:sp>
    </p:spTree>
    <p:extLst>
      <p:ext uri="{BB962C8B-B14F-4D97-AF65-F5344CB8AC3E}">
        <p14:creationId xmlns:p14="http://schemas.microsoft.com/office/powerpoint/2010/main" val="26732427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272143" y="108343"/>
            <a:ext cx="11582399"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пула публичных </a:t>
            </a:r>
            <a:r>
              <a:rPr lang="en-US" sz="4000" b="1" dirty="0"/>
              <a:t>IP</a:t>
            </a:r>
            <a:r>
              <a:rPr lang="ru-RU" sz="4000" b="1" dirty="0"/>
              <a:t>-адресов</a:t>
            </a:r>
            <a:endParaRPr lang="en-US" sz="4000" b="1" dirty="0"/>
          </a:p>
        </p:txBody>
      </p:sp>
      <p:sp>
        <p:nvSpPr>
          <p:cNvPr id="3" name="Объект 2"/>
          <p:cNvSpPr txBox="1">
            <a:spLocks/>
          </p:cNvSpPr>
          <p:nvPr/>
        </p:nvSpPr>
        <p:spPr>
          <a:xfrm>
            <a:off x="903112" y="1611086"/>
            <a:ext cx="10239021" cy="46881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3. Включим </a:t>
            </a:r>
            <a:r>
              <a:rPr lang="en-US" sz="2800" dirty="0"/>
              <a:t>PAT, </a:t>
            </a:r>
            <a:r>
              <a:rPr lang="ru-RU" sz="2800" dirty="0"/>
              <a:t>используя волшебное слово </a:t>
            </a:r>
            <a:r>
              <a:rPr lang="en-US" sz="2800" b="1" dirty="0"/>
              <a:t>Overload</a:t>
            </a:r>
            <a:r>
              <a:rPr lang="en-US" sz="2800" dirty="0"/>
              <a:t>. </a:t>
            </a:r>
            <a:endParaRPr lang="ru-RU" sz="2800" dirty="0"/>
          </a:p>
          <a:p>
            <a:r>
              <a:rPr lang="ru-RU" sz="2800" dirty="0"/>
              <a:t>Вводим команду </a:t>
            </a:r>
            <a:r>
              <a:rPr lang="en-US" sz="2800" b="1" dirty="0" err="1"/>
              <a:t>ip</a:t>
            </a:r>
            <a:r>
              <a:rPr lang="en-US" sz="2800" b="1" dirty="0"/>
              <a:t> </a:t>
            </a:r>
            <a:r>
              <a:rPr lang="en-US" sz="2800" b="1" dirty="0" err="1"/>
              <a:t>nat</a:t>
            </a:r>
            <a:r>
              <a:rPr lang="en-US" sz="2800" b="1" dirty="0"/>
              <a:t> inside source list [</a:t>
            </a:r>
            <a:r>
              <a:rPr lang="ru-RU" sz="2800" b="1" dirty="0"/>
              <a:t>номер_</a:t>
            </a:r>
            <a:r>
              <a:rPr lang="en-US" sz="2800" b="1" dirty="0"/>
              <a:t>ACL] number pool [</a:t>
            </a:r>
            <a:r>
              <a:rPr lang="ru-RU" sz="2800" b="1" dirty="0" err="1"/>
              <a:t>название_пула</a:t>
            </a:r>
            <a:r>
              <a:rPr lang="ru-RU" sz="2800" b="1" dirty="0"/>
              <a:t>] </a:t>
            </a:r>
            <a:r>
              <a:rPr lang="en-US" sz="2800" b="1" dirty="0"/>
              <a:t>overload</a:t>
            </a:r>
            <a:r>
              <a:rPr lang="en-US" sz="2800" dirty="0"/>
              <a:t>.</a:t>
            </a:r>
          </a:p>
          <a:p>
            <a:r>
              <a:rPr lang="ru-RU" sz="2800" dirty="0"/>
              <a:t>4. Определяем, какие интерфейсы находятся внутри, по отношению к </a:t>
            </a:r>
            <a:r>
              <a:rPr lang="en-US" sz="2800" dirty="0"/>
              <a:t>NAT, </a:t>
            </a:r>
            <a:r>
              <a:rPr lang="ru-RU" sz="2800" dirty="0"/>
              <a:t>а какие снаружи. </a:t>
            </a:r>
          </a:p>
          <a:p>
            <a:r>
              <a:rPr lang="ru-RU" sz="2800" dirty="0"/>
              <a:t>Используем команду </a:t>
            </a:r>
            <a:r>
              <a:rPr lang="en-US" sz="2800" b="1" dirty="0" err="1"/>
              <a:t>ip</a:t>
            </a:r>
            <a:r>
              <a:rPr lang="en-US" sz="2800" b="1" dirty="0"/>
              <a:t> </a:t>
            </a:r>
            <a:r>
              <a:rPr lang="en-US" sz="2800" b="1" dirty="0" err="1"/>
              <a:t>nat</a:t>
            </a:r>
            <a:r>
              <a:rPr lang="en-US" sz="2800" b="1" dirty="0"/>
              <a:t> inside </a:t>
            </a:r>
            <a:r>
              <a:rPr lang="ru-RU" sz="2800" dirty="0"/>
              <a:t>и </a:t>
            </a:r>
            <a:r>
              <a:rPr lang="en-US" sz="2800" b="1" dirty="0" err="1"/>
              <a:t>ip</a:t>
            </a:r>
            <a:r>
              <a:rPr lang="en-US" sz="2800" b="1" dirty="0"/>
              <a:t> </a:t>
            </a:r>
            <a:r>
              <a:rPr lang="en-US" sz="2800" b="1" dirty="0" err="1"/>
              <a:t>nat</a:t>
            </a:r>
            <a:r>
              <a:rPr lang="en-US" sz="2800" b="1" dirty="0"/>
              <a:t> outside</a:t>
            </a:r>
            <a:r>
              <a:rPr lang="ru-RU" sz="2800" dirty="0"/>
              <a:t>.</a:t>
            </a:r>
          </a:p>
        </p:txBody>
      </p:sp>
    </p:spTree>
    <p:extLst>
      <p:ext uri="{BB962C8B-B14F-4D97-AF65-F5344CB8AC3E}">
        <p14:creationId xmlns:p14="http://schemas.microsoft.com/office/powerpoint/2010/main" val="36725275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152401" y="108343"/>
            <a:ext cx="11854542"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пула публичных </a:t>
            </a:r>
            <a:r>
              <a:rPr lang="en-US" sz="4000" b="1" dirty="0"/>
              <a:t>IP</a:t>
            </a:r>
            <a:r>
              <a:rPr lang="ru-RU" sz="4000" b="1" dirty="0"/>
              <a:t>-адресов</a:t>
            </a:r>
            <a:endParaRPr lang="en-US" sz="4000" b="1" dirty="0"/>
          </a:p>
        </p:txBody>
      </p:sp>
      <p:sp>
        <p:nvSpPr>
          <p:cNvPr id="3" name="Объект 2"/>
          <p:cNvSpPr txBox="1">
            <a:spLocks/>
          </p:cNvSpPr>
          <p:nvPr/>
        </p:nvSpPr>
        <p:spPr>
          <a:xfrm>
            <a:off x="385590" y="1061156"/>
            <a:ext cx="11806410" cy="523804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Пример настройки PAT:</a:t>
            </a:r>
          </a:p>
          <a:p>
            <a:endParaRPr lang="ru-RU" sz="2800" dirty="0"/>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ip</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nat</a:t>
            </a:r>
            <a:r>
              <a:rPr lang="en-US" sz="1500" dirty="0">
                <a:latin typeface="Courier New" panose="02070309020205020404" pitchFamily="49" charset="0"/>
                <a:cs typeface="Courier New" panose="02070309020205020404" pitchFamily="49" charset="0"/>
              </a:rPr>
              <a:t> pool MerionNetworksPool2 208.165.100.5 208.165.100.15 </a:t>
            </a:r>
            <a:r>
              <a:rPr lang="en-US" sz="1500" dirty="0" err="1">
                <a:latin typeface="Courier New" panose="02070309020205020404" pitchFamily="49" charset="0"/>
                <a:cs typeface="Courier New" panose="02070309020205020404" pitchFamily="49" charset="0"/>
              </a:rPr>
              <a:t>netmask</a:t>
            </a:r>
            <a:r>
              <a:rPr lang="en-US" sz="1500" dirty="0">
                <a:latin typeface="Courier New" panose="02070309020205020404" pitchFamily="49" charset="0"/>
                <a:cs typeface="Courier New" panose="02070309020205020404" pitchFamily="49" charset="0"/>
              </a:rPr>
              <a:t> 255.255.255.0</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 access-list 1 permit 192.168.0.0 0.0.255.255</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ip</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nat</a:t>
            </a:r>
            <a:r>
              <a:rPr lang="en-US" sz="1500" dirty="0">
                <a:latin typeface="Courier New" panose="02070309020205020404" pitchFamily="49" charset="0"/>
                <a:cs typeface="Courier New" panose="02070309020205020404" pitchFamily="49" charset="0"/>
              </a:rPr>
              <a:t> inside source list 1 pool MerionNetworksPool2 overload</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 interface serial0/0/0</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-if)#</a:t>
            </a:r>
            <a:r>
              <a:rPr lang="en-US" sz="1500" dirty="0" err="1">
                <a:latin typeface="Courier New" panose="02070309020205020404" pitchFamily="49" charset="0"/>
                <a:cs typeface="Courier New" panose="02070309020205020404" pitchFamily="49" charset="0"/>
              </a:rPr>
              <a:t>ip</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nat</a:t>
            </a:r>
            <a:r>
              <a:rPr lang="en-US" sz="1500" dirty="0">
                <a:latin typeface="Courier New" panose="02070309020205020404" pitchFamily="49" charset="0"/>
                <a:cs typeface="Courier New" panose="02070309020205020404" pitchFamily="49" charset="0"/>
              </a:rPr>
              <a:t> inside</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-if)#exit</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 interface serial0/1/0</a:t>
            </a:r>
          </a:p>
          <a:p>
            <a:r>
              <a:rPr lang="en-US" sz="1500" dirty="0">
                <a:latin typeface="Courier New" panose="02070309020205020404" pitchFamily="49" charset="0"/>
                <a:cs typeface="Courier New" panose="02070309020205020404" pitchFamily="49" charset="0"/>
              </a:rPr>
              <a:t>Router(</a:t>
            </a:r>
            <a:r>
              <a:rPr lang="en-US" sz="1500" dirty="0" err="1">
                <a:latin typeface="Courier New" panose="02070309020205020404" pitchFamily="49" charset="0"/>
                <a:cs typeface="Courier New" panose="02070309020205020404" pitchFamily="49" charset="0"/>
              </a:rPr>
              <a:t>config</a:t>
            </a:r>
            <a:r>
              <a:rPr lang="en-US" sz="1500" dirty="0">
                <a:latin typeface="Courier New" panose="02070309020205020404" pitchFamily="49" charset="0"/>
                <a:cs typeface="Courier New" panose="02070309020205020404" pitchFamily="49" charset="0"/>
              </a:rPr>
              <a:t>-if)#</a:t>
            </a:r>
            <a:r>
              <a:rPr lang="en-US" sz="1500" dirty="0" err="1">
                <a:latin typeface="Courier New" panose="02070309020205020404" pitchFamily="49" charset="0"/>
                <a:cs typeface="Courier New" panose="02070309020205020404" pitchFamily="49" charset="0"/>
              </a:rPr>
              <a:t>ip</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nat</a:t>
            </a:r>
            <a:r>
              <a:rPr lang="en-US" sz="1500" dirty="0">
                <a:latin typeface="Courier New" panose="02070309020205020404" pitchFamily="49" charset="0"/>
                <a:cs typeface="Courier New" panose="02070309020205020404" pitchFamily="49" charset="0"/>
              </a:rPr>
              <a:t> outside</a:t>
            </a:r>
            <a:endParaRPr lang="ru-RU" sz="15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413508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pic>
        <p:nvPicPr>
          <p:cNvPr id="4" name="Рисунок 3"/>
          <p:cNvPicPr>
            <a:picLocks noChangeAspect="1"/>
          </p:cNvPicPr>
          <p:nvPr/>
        </p:nvPicPr>
        <p:blipFill>
          <a:blip r:embed="rId2"/>
          <a:stretch>
            <a:fillRect/>
          </a:stretch>
        </p:blipFill>
        <p:spPr>
          <a:xfrm>
            <a:off x="1071052" y="1036678"/>
            <a:ext cx="9754992" cy="5177478"/>
          </a:xfrm>
          <a:prstGeom prst="rect">
            <a:avLst/>
          </a:prstGeom>
        </p:spPr>
      </p:pic>
    </p:spTree>
    <p:extLst>
      <p:ext uri="{BB962C8B-B14F-4D97-AF65-F5344CB8AC3E}">
        <p14:creationId xmlns:p14="http://schemas.microsoft.com/office/powerpoint/2010/main" val="3504853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621970"/>
            <a:ext cx="10239021" cy="467722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На схеме показана топология реализации PAT для трансляции одного IP публичного адреса. </a:t>
            </a:r>
          </a:p>
          <a:p>
            <a:r>
              <a:rPr lang="ru-RU" sz="2800" dirty="0"/>
              <a:t>В этом примере все хосты из сети 192.168.0.0/16 (соответствующие ACL), которые отправляют трафик через маршрутизатор, будут переведены на адрес IPv4 208.165.99.225 (адрес IPv4 интерфейса S0 /1/0). </a:t>
            </a:r>
          </a:p>
          <a:p>
            <a:r>
              <a:rPr lang="ru-RU" sz="2800" dirty="0"/>
              <a:t>Трафик будет идентифицироваться по номерам портов в таблице NAT.</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30302078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61156"/>
            <a:ext cx="10239021" cy="523804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Настройка: </a:t>
            </a:r>
          </a:p>
          <a:p>
            <a:r>
              <a:rPr lang="ru-RU" sz="2800" dirty="0"/>
              <a:t>1. Создать лист </a:t>
            </a:r>
            <a:r>
              <a:rPr lang="en-US" sz="2800" dirty="0"/>
              <a:t>access-list </a:t>
            </a:r>
            <a:r>
              <a:rPr lang="ru-RU" sz="2800" dirty="0"/>
              <a:t>разрешающий адреса, которые нужно транслировать – </a:t>
            </a:r>
            <a:r>
              <a:rPr lang="en-US" sz="2800" b="1" dirty="0"/>
              <a:t>access-list [</a:t>
            </a:r>
            <a:r>
              <a:rPr lang="ru-RU" sz="2800" b="1" dirty="0"/>
              <a:t>номер_</a:t>
            </a:r>
            <a:r>
              <a:rPr lang="en-US" sz="2800" b="1" dirty="0"/>
              <a:t>ACL] permit source [wildcard_</a:t>
            </a:r>
            <a:r>
              <a:rPr lang="ru-RU" sz="2800" b="1" dirty="0"/>
              <a:t>маска]</a:t>
            </a:r>
            <a:r>
              <a:rPr lang="ru-RU" sz="2800" dirty="0"/>
              <a:t>.</a:t>
            </a:r>
          </a:p>
          <a:p>
            <a:r>
              <a:rPr lang="ru-RU" sz="2800" dirty="0"/>
              <a:t>2. Настроить преобразование адреса источника в адрес интерфейса, через команду </a:t>
            </a:r>
            <a:r>
              <a:rPr lang="en-US" sz="2800" b="1" dirty="0" err="1"/>
              <a:t>ip</a:t>
            </a:r>
            <a:r>
              <a:rPr lang="en-US" sz="2800" b="1" dirty="0"/>
              <a:t> </a:t>
            </a:r>
            <a:r>
              <a:rPr lang="en-US" sz="2800" b="1" dirty="0" err="1"/>
              <a:t>nat</a:t>
            </a:r>
            <a:r>
              <a:rPr lang="en-US" sz="2800" b="1" dirty="0"/>
              <a:t> inside source list [</a:t>
            </a:r>
            <a:r>
              <a:rPr lang="ru-RU" sz="2800" b="1" dirty="0"/>
              <a:t>номер_</a:t>
            </a:r>
            <a:r>
              <a:rPr lang="en-US" sz="2800" b="1" dirty="0"/>
              <a:t>ACL] interface [</a:t>
            </a:r>
            <a:r>
              <a:rPr lang="ru-RU" sz="2800" b="1" dirty="0"/>
              <a:t>тип номер] </a:t>
            </a:r>
            <a:r>
              <a:rPr lang="en-US" sz="2800" b="1" dirty="0"/>
              <a:t>overload</a:t>
            </a:r>
            <a:endParaRPr lang="en-US" sz="2800" dirty="0"/>
          </a:p>
          <a:p>
            <a:r>
              <a:rPr lang="ru-RU" sz="2800" dirty="0"/>
              <a:t>3. Определить внешние и внутренние интерфейсы через команды </a:t>
            </a:r>
            <a:r>
              <a:rPr lang="en-US" sz="2800" b="1" dirty="0" err="1"/>
              <a:t>ip</a:t>
            </a:r>
            <a:r>
              <a:rPr lang="en-US" sz="2800" b="1" dirty="0"/>
              <a:t> </a:t>
            </a:r>
            <a:r>
              <a:rPr lang="en-US" sz="2800" b="1" dirty="0" err="1"/>
              <a:t>nat</a:t>
            </a:r>
            <a:r>
              <a:rPr lang="en-US" sz="2800" b="1" dirty="0"/>
              <a:t> inside</a:t>
            </a:r>
            <a:r>
              <a:rPr lang="en-US" sz="2800" dirty="0"/>
              <a:t> </a:t>
            </a:r>
            <a:r>
              <a:rPr lang="ru-RU" sz="2800" dirty="0"/>
              <a:t>и </a:t>
            </a:r>
            <a:r>
              <a:rPr lang="en-US" sz="2800" b="1" dirty="0" err="1"/>
              <a:t>ip</a:t>
            </a:r>
            <a:r>
              <a:rPr lang="en-US" sz="2800" b="1" dirty="0"/>
              <a:t> </a:t>
            </a:r>
            <a:r>
              <a:rPr lang="en-US" sz="2800" b="1" dirty="0" err="1"/>
              <a:t>nat</a:t>
            </a:r>
            <a:r>
              <a:rPr lang="en-US" sz="2800" b="1" dirty="0"/>
              <a:t> outside</a:t>
            </a:r>
            <a:r>
              <a:rPr lang="en-US" sz="2800" dirty="0"/>
              <a:t>. </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2075638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729343" y="1061156"/>
            <a:ext cx="10885713" cy="523804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Пример:</a:t>
            </a:r>
          </a:p>
          <a:p>
            <a:endParaRPr lang="ru-RU" sz="2800" dirty="0"/>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access-list 1 permit 192.168.0.0 0.0.255.255</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nat</a:t>
            </a:r>
            <a:r>
              <a:rPr lang="en-US" dirty="0">
                <a:latin typeface="Courier New" panose="02070309020205020404" pitchFamily="49" charset="0"/>
                <a:cs typeface="Courier New" panose="02070309020205020404" pitchFamily="49" charset="0"/>
              </a:rPr>
              <a:t> source list 1 interface serial0/1/0 overload</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interface serial0/0/0</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-if)#</a:t>
            </a:r>
            <a:r>
              <a:rPr lang="en-US" dirty="0" err="1">
                <a:latin typeface="Courier New" panose="02070309020205020404" pitchFamily="49" charset="0"/>
                <a:cs typeface="Courier New" panose="02070309020205020404" pitchFamily="49" charset="0"/>
              </a:rPr>
              <a:t>ip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nat</a:t>
            </a:r>
            <a:r>
              <a:rPr lang="en-US" dirty="0">
                <a:latin typeface="Courier New" panose="02070309020205020404" pitchFamily="49" charset="0"/>
                <a:cs typeface="Courier New" panose="02070309020205020404" pitchFamily="49" charset="0"/>
              </a:rPr>
              <a:t> inside</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-if)#exit</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interface serial0/1/0</a:t>
            </a:r>
          </a:p>
          <a:p>
            <a:r>
              <a:rPr lang="en-US" dirty="0">
                <a:latin typeface="Courier New" panose="02070309020205020404" pitchFamily="49" charset="0"/>
                <a:cs typeface="Courier New" panose="02070309020205020404" pitchFamily="49" charset="0"/>
              </a:rPr>
              <a:t>Router(</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-if)#</a:t>
            </a:r>
            <a:r>
              <a:rPr lang="en-US" dirty="0" err="1">
                <a:latin typeface="Courier New" panose="02070309020205020404" pitchFamily="49" charset="0"/>
                <a:cs typeface="Courier New" panose="02070309020205020404" pitchFamily="49" charset="0"/>
              </a:rPr>
              <a:t>ip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nat</a:t>
            </a:r>
            <a:r>
              <a:rPr lang="en-US" dirty="0">
                <a:latin typeface="Courier New" panose="02070309020205020404" pitchFamily="49" charset="0"/>
                <a:cs typeface="Courier New" panose="02070309020205020404" pitchFamily="49" charset="0"/>
              </a:rPr>
              <a:t> outside</a:t>
            </a:r>
          </a:p>
        </p:txBody>
      </p:sp>
      <p:sp>
        <p:nvSpPr>
          <p:cNvPr id="5"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29014739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Процесс PAT не изменятся при использовании одного адреса, или пула адресов. </a:t>
            </a:r>
          </a:p>
          <a:p>
            <a:r>
              <a:rPr lang="ru-RU" sz="2800" dirty="0"/>
              <a:t>Рассмотрим процесс PAT по шагам: </a:t>
            </a:r>
          </a:p>
          <a:p>
            <a:r>
              <a:rPr lang="ru-RU" sz="2800" dirty="0"/>
              <a:t>1. На схеме два разных ПК связываются с двумя разными веб-серверами. </a:t>
            </a:r>
          </a:p>
          <a:p>
            <a:r>
              <a:rPr lang="ru-RU" sz="2800" dirty="0"/>
              <a:t>Первый ПК имеет адрес источника 192.168.1.10 и использует TCP порт 1444, а второй ПК имеет адрес источника 192.168.2.10 и по совпадению использует то же TCP порт 1444</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41577768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ru-RU" sz="2800" dirty="0"/>
          </a:p>
          <a:p>
            <a:r>
              <a:rPr lang="ru-RU" sz="2800" dirty="0"/>
              <a:t>2. Пакет с первого ПК сначала достигает роутера и он, используя PAT, изменяет исходный IPv4-адрес на 208.165.99.225 (</a:t>
            </a:r>
            <a:r>
              <a:rPr lang="ru-RU" sz="2800" b="1" dirty="0" err="1"/>
              <a:t>inside</a:t>
            </a:r>
            <a:r>
              <a:rPr lang="ru-RU" sz="2800" b="1" dirty="0"/>
              <a:t> </a:t>
            </a:r>
            <a:r>
              <a:rPr lang="ru-RU" sz="2800" b="1" dirty="0" err="1"/>
              <a:t>global</a:t>
            </a:r>
            <a:r>
              <a:rPr lang="ru-RU" sz="2800" b="1" dirty="0"/>
              <a:t> </a:t>
            </a:r>
            <a:r>
              <a:rPr lang="ru-RU" sz="2800" b="1" dirty="0" err="1"/>
              <a:t>address</a:t>
            </a:r>
            <a:r>
              <a:rPr lang="ru-RU" sz="2800" dirty="0"/>
              <a:t>). </a:t>
            </a:r>
          </a:p>
          <a:p>
            <a:r>
              <a:rPr lang="ru-RU" sz="2800" dirty="0"/>
              <a:t>В таблице NAT нет других устройств с портом 1444, поэтому PAT использует тот же номер порта и пакет отправляется в направлении сервера по 208.165.101.20. </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6589214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4. Далее пакет со второго компьютера поступает в маршрутизатор, где PAT настроен на использование одного глобального IPv4-адреса для всех переводов - 208.165.99.225. </a:t>
            </a:r>
          </a:p>
          <a:p>
            <a:r>
              <a:rPr lang="ru-RU" sz="2800" dirty="0"/>
              <a:t>Подобно процессу перевода для первого ПК, PAT изменяет исходящий адрес второго ПК на внутренний глобальный адрес 208.165.99.225. </a:t>
            </a:r>
          </a:p>
          <a:p>
            <a:r>
              <a:rPr lang="ru-RU" sz="2800" dirty="0"/>
              <a:t>Однако второй ПК имеет тот же номер порта источника, что и текущая запись PAT первого ПК, поэтому PAT увеличивает номер порта источника до тех пор, пока он не станет уникальным в своей таблице. </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28309136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В этом случае запись исходного порта в таблице NAT и пакет для второго ПК получает 1445 порт. </a:t>
            </a:r>
          </a:p>
          <a:p>
            <a:r>
              <a:rPr lang="ru-RU" sz="2800" dirty="0"/>
              <a:t>Хотя оба ПК используют один и тот же внутренний глобальный адрес 208.165.99.225 и тот же номер порта источника – 1444, измененный номер порта для второго ПК (1445) делает каждую запись в таблице NAT уникальной. </a:t>
            </a:r>
          </a:p>
          <a:p>
            <a:r>
              <a:rPr lang="ru-RU" sz="2800" dirty="0"/>
              <a:t>Это станет очевидным при отправке пакетов с серверов обратно клиентам.</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41599338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4. Сервера отвечают на запросы от компьютеров, и используют исходный порт из принятого пакета в качестве порта назначения и исходный адрес как адрес назначения. Может казаться, что они общаются одним и тем же хостом по адресу 208.165.99.225, однако, это не так – они имеют разные порты.</a:t>
            </a:r>
          </a:p>
          <a:p>
            <a:r>
              <a:rPr lang="ru-RU" sz="2800" dirty="0"/>
              <a:t>5. Когда пакеты возвращаются на роутер, он находит уникальную запись в своей таблице NAT с использованием адреса назначения и порта назначения каждого пакета. В случае пакета от первого сервера адрес назначения 208.165.99.255 имеет несколько записей, но только одну с портом назначения 1444. Используя эту запись в своей таблице, роутер изменяет адрес IPv4 адресата пакета на 192.168.1.10, не меняя порт назначения. Затем пакет перенаправляется на первый ПК.</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9422595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txBox="1">
            <a:spLocks/>
          </p:cNvSpPr>
          <p:nvPr/>
        </p:nvSpPr>
        <p:spPr>
          <a:xfrm>
            <a:off x="903112" y="1077686"/>
            <a:ext cx="10239021" cy="552994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2800" dirty="0"/>
              <a:t>6. Когда пакет от второго сервера прилетает на маршрутизатор, он выполняет аналогичный перевод. </a:t>
            </a:r>
          </a:p>
          <a:p>
            <a:r>
              <a:rPr lang="ru-RU" sz="2800" dirty="0"/>
              <a:t>Адрес IPv4 назначения 208.165.99.225 имеет несколько записей, однако используя порт назначения 1445, роутер может однозначно идентифицировать запись трансляции. </a:t>
            </a:r>
          </a:p>
          <a:p>
            <a:r>
              <a:rPr lang="ru-RU" sz="2800" dirty="0"/>
              <a:t>Адрес IPv4 назначения будет изменен на 192.168.2.10 и в этом случае порт назначения также должен быть изменен до исходного значения 1444, которое хранится в таблице NAT. </a:t>
            </a:r>
          </a:p>
          <a:p>
            <a:r>
              <a:rPr lang="ru-RU" sz="2800" dirty="0"/>
              <a:t>После этого пакет высылается на второй ПК.</a:t>
            </a:r>
          </a:p>
        </p:txBody>
      </p:sp>
      <p:sp>
        <p:nvSpPr>
          <p:cNvPr id="4" name="Заголовок 1"/>
          <p:cNvSpPr txBox="1">
            <a:spLocks/>
          </p:cNvSpPr>
          <p:nvPr/>
        </p:nvSpPr>
        <p:spPr>
          <a:xfrm>
            <a:off x="250371" y="108343"/>
            <a:ext cx="11680371" cy="107457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4000" b="1" dirty="0"/>
              <a:t>Настройка </a:t>
            </a:r>
            <a:r>
              <a:rPr lang="en-US" sz="4000" b="1" dirty="0"/>
              <a:t>PAT</a:t>
            </a:r>
            <a:r>
              <a:rPr lang="ru-RU" sz="4000" b="1" dirty="0"/>
              <a:t> для одного публичного </a:t>
            </a:r>
            <a:r>
              <a:rPr lang="en-US" sz="4000" b="1" dirty="0"/>
              <a:t>IPV</a:t>
            </a:r>
            <a:r>
              <a:rPr lang="en-US" sz="2900" b="1" dirty="0"/>
              <a:t>4</a:t>
            </a:r>
            <a:r>
              <a:rPr lang="ru-RU" sz="4000" b="1" dirty="0"/>
              <a:t>-адреса</a:t>
            </a:r>
            <a:endParaRPr lang="en-US" sz="4000" b="1" dirty="0"/>
          </a:p>
        </p:txBody>
      </p:sp>
    </p:spTree>
    <p:extLst>
      <p:ext uri="{BB962C8B-B14F-4D97-AF65-F5344CB8AC3E}">
        <p14:creationId xmlns:p14="http://schemas.microsoft.com/office/powerpoint/2010/main" val="16741474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577932" y="114752"/>
            <a:ext cx="10917382" cy="1099993"/>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ru-RU" sz="4000" b="1" dirty="0"/>
              <a:t>Контрольные вопросы </a:t>
            </a:r>
          </a:p>
        </p:txBody>
      </p:sp>
      <p:sp>
        <p:nvSpPr>
          <p:cNvPr id="5" name="Объект 2"/>
          <p:cNvSpPr txBox="1">
            <a:spLocks/>
          </p:cNvSpPr>
          <p:nvPr/>
        </p:nvSpPr>
        <p:spPr>
          <a:xfrm>
            <a:off x="1234538" y="1480456"/>
            <a:ext cx="9836233" cy="486591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anose="020F0502020204030204" pitchFamily="34" charset="0"/>
              <a:buAutoNum type="arabicPeriod"/>
            </a:pPr>
            <a:r>
              <a:rPr lang="ru-RU" sz="2800" dirty="0"/>
              <a:t>Назовите</a:t>
            </a:r>
          </a:p>
        </p:txBody>
      </p:sp>
    </p:spTree>
    <p:extLst>
      <p:ext uri="{BB962C8B-B14F-4D97-AF65-F5344CB8AC3E}">
        <p14:creationId xmlns:p14="http://schemas.microsoft.com/office/powerpoint/2010/main" val="3371835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1"/>
          <p:cNvSpPr txBox="1">
            <a:spLocks/>
          </p:cNvSpPr>
          <p:nvPr/>
        </p:nvSpPr>
        <p:spPr>
          <a:xfrm>
            <a:off x="447304" y="272143"/>
            <a:ext cx="10917382" cy="1099993"/>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ru-RU" sz="4000" b="1"/>
              <a:t>Список литературы:</a:t>
            </a:r>
            <a:endParaRPr lang="ru-RU" sz="4000" b="1" dirty="0"/>
          </a:p>
        </p:txBody>
      </p:sp>
      <p:sp>
        <p:nvSpPr>
          <p:cNvPr id="7" name="Объект 2"/>
          <p:cNvSpPr txBox="1">
            <a:spLocks/>
          </p:cNvSpPr>
          <p:nvPr/>
        </p:nvSpPr>
        <p:spPr>
          <a:xfrm>
            <a:off x="615537" y="1099457"/>
            <a:ext cx="11141034" cy="595448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anose="020F0502020204030204" pitchFamily="34" charset="0"/>
              <a:buAutoNum type="arabicPeriod"/>
            </a:pPr>
            <a:r>
              <a:rPr lang="ru-RU" sz="2800" dirty="0"/>
              <a:t>Беленькая М. Н., Малиновский С. Т., Яковенко Н. В.     Администрирование  в  информационных  системах.  Учебное  пособие. -  Москва,  Горячая  линия - Телеком,  2011.</a:t>
            </a:r>
          </a:p>
          <a:p>
            <a:pPr marL="514350" indent="-514350">
              <a:buFont typeface="Calibri" panose="020F0502020204030204" pitchFamily="34" charset="0"/>
              <a:buAutoNum type="arabicPeriod"/>
            </a:pPr>
            <a:r>
              <a:rPr lang="ru-RU" sz="2800" dirty="0"/>
              <a:t>Компьютерные сети. Принципы, технологии, протоколы, В. </a:t>
            </a:r>
            <a:r>
              <a:rPr lang="ru-RU" sz="2800" dirty="0" err="1"/>
              <a:t>Олифер</a:t>
            </a:r>
            <a:r>
              <a:rPr lang="ru-RU" sz="2800" dirty="0"/>
              <a:t>, Н. </a:t>
            </a:r>
            <a:r>
              <a:rPr lang="ru-RU" sz="2800" dirty="0" err="1"/>
              <a:t>Олифер</a:t>
            </a:r>
            <a:r>
              <a:rPr lang="ru-RU" sz="2800" dirty="0"/>
              <a:t> (5-е издание), «Питер», Москва, </a:t>
            </a:r>
            <a:r>
              <a:rPr lang="ru-RU" sz="2800" dirty="0" err="1"/>
              <a:t>Санк</a:t>
            </a:r>
            <a:r>
              <a:rPr lang="ru-RU" sz="2800" dirty="0"/>
              <a:t>-Петербург, 2016.</a:t>
            </a:r>
          </a:p>
          <a:p>
            <a:pPr marL="514350" indent="-514350">
              <a:buFont typeface="Calibri" panose="020F0502020204030204" pitchFamily="34" charset="0"/>
              <a:buAutoNum type="arabicPeriod"/>
            </a:pPr>
            <a:r>
              <a:rPr lang="ru-RU" sz="2800" dirty="0"/>
              <a:t>Компьютерные сети. Э. </a:t>
            </a:r>
            <a:r>
              <a:rPr lang="ru-RU" sz="2800" dirty="0" err="1"/>
              <a:t>Таненбаум</a:t>
            </a:r>
            <a:r>
              <a:rPr lang="ru-RU" sz="2800" dirty="0"/>
              <a:t>, 4-е издание, «Питер», Москва, </a:t>
            </a:r>
            <a:r>
              <a:rPr lang="ru-RU" sz="2800" dirty="0" err="1"/>
              <a:t>Санк</a:t>
            </a:r>
            <a:r>
              <a:rPr lang="ru-RU" sz="2800" dirty="0"/>
              <a:t>-Петербург, 2003.</a:t>
            </a:r>
          </a:p>
          <a:p>
            <a:pPr marL="0" indent="0">
              <a:buFont typeface="Calibri" panose="020F0502020204030204" pitchFamily="34" charset="0"/>
              <a:buNone/>
            </a:pPr>
            <a:endParaRPr lang="ru-RU" dirty="0"/>
          </a:p>
        </p:txBody>
      </p:sp>
    </p:spTree>
    <p:extLst>
      <p:ext uri="{BB962C8B-B14F-4D97-AF65-F5344CB8AC3E}">
        <p14:creationId xmlns:p14="http://schemas.microsoft.com/office/powerpoint/2010/main" val="19762901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1"/>
          <p:cNvSpPr txBox="1">
            <a:spLocks/>
          </p:cNvSpPr>
          <p:nvPr/>
        </p:nvSpPr>
        <p:spPr>
          <a:xfrm>
            <a:off x="381989" y="195943"/>
            <a:ext cx="10917382" cy="1099993"/>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ru-RU" sz="4000" b="1"/>
              <a:t>Список ссылок:</a:t>
            </a:r>
            <a:endParaRPr lang="ru-RU" sz="4000" b="1" dirty="0"/>
          </a:p>
        </p:txBody>
      </p:sp>
      <p:sp>
        <p:nvSpPr>
          <p:cNvPr id="7" name="Объект 3"/>
          <p:cNvSpPr txBox="1">
            <a:spLocks/>
          </p:cNvSpPr>
          <p:nvPr/>
        </p:nvSpPr>
        <p:spPr>
          <a:xfrm>
            <a:off x="838200" y="1143000"/>
            <a:ext cx="10515600" cy="56279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spcBef>
                <a:spcPts val="0"/>
              </a:spcBef>
              <a:buFont typeface="Calibri" panose="020F0502020204030204" pitchFamily="34" charset="0"/>
              <a:buNone/>
            </a:pPr>
            <a:r>
              <a:rPr lang="en-US" sz="1400" dirty="0">
                <a:hlinkClick r:id="rId2"/>
              </a:rPr>
              <a:t>http://polpoz.ru/umot/lokalenaya-sete-ooo-nadejnij-kontakt/10.png</a:t>
            </a:r>
            <a:endParaRPr lang="ru-RU" sz="1400" dirty="0"/>
          </a:p>
          <a:p>
            <a:pPr marL="0" indent="0">
              <a:lnSpc>
                <a:spcPct val="100000"/>
              </a:lnSpc>
              <a:spcBef>
                <a:spcPts val="0"/>
              </a:spcBef>
              <a:buNone/>
            </a:pPr>
            <a:r>
              <a:rPr lang="en-US" sz="1400" dirty="0">
                <a:hlinkClick r:id="rId3"/>
              </a:rPr>
              <a:t>https://wiki.merionet.ru/images/nat-na-palcax-chto-eto/1.PNG</a:t>
            </a:r>
            <a:endParaRPr lang="ru-RU" sz="1400" dirty="0"/>
          </a:p>
          <a:p>
            <a:pPr marL="0" indent="0">
              <a:lnSpc>
                <a:spcPct val="100000"/>
              </a:lnSpc>
              <a:spcBef>
                <a:spcPts val="0"/>
              </a:spcBef>
              <a:buNone/>
            </a:pPr>
            <a:r>
              <a:rPr lang="en-US" sz="1400" dirty="0">
                <a:hlinkClick r:id="rId4"/>
              </a:rPr>
              <a:t>https://wiki.merionet.ru/images/nat-na-palcax-chto-eto/2.PNG</a:t>
            </a:r>
            <a:endParaRPr lang="ru-RU" sz="1400" dirty="0"/>
          </a:p>
          <a:p>
            <a:pPr marL="0" indent="0">
              <a:lnSpc>
                <a:spcPct val="100000"/>
              </a:lnSpc>
              <a:spcBef>
                <a:spcPts val="0"/>
              </a:spcBef>
              <a:buNone/>
            </a:pPr>
            <a:r>
              <a:rPr lang="en-US" sz="1400" dirty="0">
                <a:hlinkClick r:id="rId5"/>
              </a:rPr>
              <a:t>https://wiki.merionet.ru/images/nat-na-palcax-chto-eto/3.PNG</a:t>
            </a:r>
            <a:endParaRPr lang="ru-RU" sz="1400" dirty="0"/>
          </a:p>
          <a:p>
            <a:pPr marL="0" indent="0">
              <a:lnSpc>
                <a:spcPct val="100000"/>
              </a:lnSpc>
              <a:spcBef>
                <a:spcPts val="0"/>
              </a:spcBef>
              <a:buNone/>
            </a:pPr>
            <a:r>
              <a:rPr lang="en-US" sz="1400" dirty="0">
                <a:hlinkClick r:id="rId6"/>
              </a:rPr>
              <a:t>https://wiki.merionet.ru/images/nat-na-palcax-chto-eto/4.PNG</a:t>
            </a:r>
            <a:endParaRPr lang="ru-RU" sz="1400" dirty="0"/>
          </a:p>
          <a:p>
            <a:pPr marL="0" indent="0">
              <a:lnSpc>
                <a:spcPct val="100000"/>
              </a:lnSpc>
              <a:spcBef>
                <a:spcPts val="0"/>
              </a:spcBef>
              <a:buNone/>
            </a:pPr>
            <a:r>
              <a:rPr lang="en-US" sz="1400" dirty="0">
                <a:hlinkClick r:id="rId7"/>
              </a:rPr>
              <a:t>https://wiki.merionet.ru/images/nat-na-palcax-chto-eto/5.PNG</a:t>
            </a:r>
            <a:endParaRPr lang="ru-RU" sz="1400" dirty="0"/>
          </a:p>
          <a:p>
            <a:pPr marL="0" indent="0">
              <a:lnSpc>
                <a:spcPct val="100000"/>
              </a:lnSpc>
              <a:spcBef>
                <a:spcPts val="0"/>
              </a:spcBef>
              <a:buNone/>
            </a:pPr>
            <a:r>
              <a:rPr lang="en-US" sz="1400" dirty="0">
                <a:hlinkClick r:id="rId8"/>
              </a:rPr>
              <a:t>https://wiki.merionet.ru/images/nat-na-palcax-chto-eto/6.PNG</a:t>
            </a:r>
            <a:endParaRPr lang="ru-RU" sz="1400" dirty="0"/>
          </a:p>
          <a:p>
            <a:pPr marL="0" indent="0">
              <a:lnSpc>
                <a:spcPct val="100000"/>
              </a:lnSpc>
              <a:spcBef>
                <a:spcPts val="0"/>
              </a:spcBef>
              <a:buNone/>
            </a:pPr>
            <a:r>
              <a:rPr lang="en-US" sz="1400" dirty="0">
                <a:hlinkClick r:id="rId9"/>
              </a:rPr>
              <a:t>https://wiki.merionet.ru/images/nastrojka-nat-na-cisco/1.PNG</a:t>
            </a:r>
            <a:endParaRPr lang="ru-RU" sz="1400" dirty="0"/>
          </a:p>
          <a:p>
            <a:pPr marL="0" indent="0">
              <a:lnSpc>
                <a:spcPct val="100000"/>
              </a:lnSpc>
              <a:spcBef>
                <a:spcPts val="0"/>
              </a:spcBef>
              <a:buNone/>
            </a:pPr>
            <a:r>
              <a:rPr lang="en-US" sz="1400" dirty="0">
                <a:hlinkClick r:id="rId10"/>
              </a:rPr>
              <a:t>https://wiki.merionet.ru/images/nastrojka-nat-na-cisco/2.PNG</a:t>
            </a:r>
            <a:endParaRPr lang="ru-RU" sz="1400" dirty="0"/>
          </a:p>
          <a:p>
            <a:pPr marL="0" indent="0">
              <a:lnSpc>
                <a:spcPct val="100000"/>
              </a:lnSpc>
              <a:spcBef>
                <a:spcPts val="0"/>
              </a:spcBef>
              <a:buNone/>
            </a:pPr>
            <a:r>
              <a:rPr lang="en-US" sz="1400" dirty="0">
                <a:hlinkClick r:id="rId11"/>
              </a:rPr>
              <a:t>https://wiki.merionet.ru/images/nastrojka-nat-na-cisco/3.PNG</a:t>
            </a:r>
            <a:endParaRPr lang="ru-RU" sz="1400" dirty="0"/>
          </a:p>
          <a:p>
            <a:pPr marL="0" indent="0">
              <a:lnSpc>
                <a:spcPct val="100000"/>
              </a:lnSpc>
              <a:spcBef>
                <a:spcPts val="0"/>
              </a:spcBef>
              <a:buNone/>
            </a:pPr>
            <a:endParaRPr lang="ru-RU" sz="1400" dirty="0"/>
          </a:p>
          <a:p>
            <a:pPr marL="0" indent="0">
              <a:lnSpc>
                <a:spcPct val="100000"/>
              </a:lnSpc>
              <a:spcBef>
                <a:spcPts val="0"/>
              </a:spcBef>
              <a:buNone/>
            </a:pPr>
            <a:endParaRPr lang="ru-RU" sz="1400" dirty="0"/>
          </a:p>
          <a:p>
            <a:pPr marL="0" indent="0">
              <a:lnSpc>
                <a:spcPct val="100000"/>
              </a:lnSpc>
              <a:spcBef>
                <a:spcPts val="0"/>
              </a:spcBef>
              <a:buNone/>
            </a:pPr>
            <a:endParaRPr lang="ru-RU" sz="1400" dirty="0"/>
          </a:p>
          <a:p>
            <a:pPr marL="0" indent="0">
              <a:lnSpc>
                <a:spcPct val="100000"/>
              </a:lnSpc>
              <a:spcBef>
                <a:spcPts val="0"/>
              </a:spcBef>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lnSpc>
                <a:spcPct val="100000"/>
              </a:lnSpc>
              <a:spcBef>
                <a:spcPts val="0"/>
              </a:spcBef>
              <a:buFont typeface="Calibri" panose="020F0502020204030204" pitchFamily="34" charset="0"/>
              <a:buNone/>
            </a:pPr>
            <a:endParaRPr lang="ru-RU" sz="1400" dirty="0"/>
          </a:p>
          <a:p>
            <a:pPr marL="0" indent="0">
              <a:buFont typeface="Calibri" panose="020F0502020204030204" pitchFamily="34" charset="0"/>
              <a:buNone/>
            </a:pPr>
            <a:endParaRPr lang="ru-RU" dirty="0"/>
          </a:p>
        </p:txBody>
      </p:sp>
    </p:spTree>
    <p:extLst>
      <p:ext uri="{BB962C8B-B14F-4D97-AF65-F5344CB8AC3E}">
        <p14:creationId xmlns:p14="http://schemas.microsoft.com/office/powerpoint/2010/main" val="20549155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1"/>
          <p:cNvSpPr txBox="1">
            <a:spLocks/>
          </p:cNvSpPr>
          <p:nvPr/>
        </p:nvSpPr>
        <p:spPr>
          <a:xfrm>
            <a:off x="2504891" y="1409134"/>
            <a:ext cx="8229600" cy="9906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b="1">
                <a:solidFill>
                  <a:schemeClr val="accent2">
                    <a:lumMod val="50000"/>
                  </a:schemeClr>
                </a:solidFill>
                <a:latin typeface="+mn-lt"/>
              </a:rPr>
              <a:t>Благодарю за внимание!</a:t>
            </a:r>
            <a:endParaRPr lang="ru-RU" b="1" dirty="0">
              <a:solidFill>
                <a:schemeClr val="accent2">
                  <a:lumMod val="50000"/>
                </a:schemeClr>
              </a:solidFill>
              <a:latin typeface="+mn-lt"/>
            </a:endParaRPr>
          </a:p>
        </p:txBody>
      </p:sp>
      <p:sp>
        <p:nvSpPr>
          <p:cNvPr id="7" name="Объект 2"/>
          <p:cNvSpPr txBox="1">
            <a:spLocks/>
          </p:cNvSpPr>
          <p:nvPr/>
        </p:nvSpPr>
        <p:spPr>
          <a:xfrm>
            <a:off x="1891145" y="5035414"/>
            <a:ext cx="8229600" cy="160784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ru-RU"/>
              <a:t>Преподаватель: Солодухин Андрей Геннадьевич</a:t>
            </a:r>
          </a:p>
          <a:p>
            <a:pPr marL="0" indent="0">
              <a:buFont typeface="Calibri" panose="020F0502020204030204" pitchFamily="34" charset="0"/>
              <a:buNone/>
            </a:pPr>
            <a:r>
              <a:rPr lang="ru-RU"/>
              <a:t>Электронная почта:  </a:t>
            </a:r>
            <a:r>
              <a:rPr lang="en-US">
                <a:hlinkClick r:id="rId2"/>
              </a:rPr>
              <a:t>asoloduhin@kait20.ru</a:t>
            </a:r>
            <a:endParaRPr lang="ru-RU"/>
          </a:p>
          <a:p>
            <a:pPr marL="0" indent="0">
              <a:buFont typeface="Calibri" panose="020F0502020204030204" pitchFamily="34" charset="0"/>
              <a:buNone/>
            </a:pPr>
            <a:endParaRPr lang="en-US"/>
          </a:p>
          <a:p>
            <a:pPr marL="0" indent="0">
              <a:buFont typeface="Calibri" panose="020F0502020204030204" pitchFamily="34" charset="0"/>
              <a:buNone/>
            </a:pPr>
            <a:endParaRPr lang="ru-RU" dirty="0"/>
          </a:p>
        </p:txBody>
      </p:sp>
    </p:spTree>
    <p:extLst>
      <p:ext uri="{BB962C8B-B14F-4D97-AF65-F5344CB8AC3E}">
        <p14:creationId xmlns:p14="http://schemas.microsoft.com/office/powerpoint/2010/main" val="75196395"/>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8112</TotalTime>
  <Words>5870</Words>
  <Application>Microsoft Office PowerPoint</Application>
  <PresentationFormat>Широкоэкранный</PresentationFormat>
  <Paragraphs>436</Paragraphs>
  <Slides>96</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96</vt:i4>
      </vt:variant>
    </vt:vector>
  </HeadingPairs>
  <TitlesOfParts>
    <vt:vector size="100" baseType="lpstr">
      <vt:lpstr>Calibri</vt:lpstr>
      <vt:lpstr>Calibri Light</vt:lpstr>
      <vt:lpstr>Courier New</vt:lpstr>
      <vt:lpstr>Ретро</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МДК.01.01  Организация, принципы построения и функционирования компьютерных сетей 3-курс</dc:title>
  <dc:creator>RePack by Diakov</dc:creator>
  <cp:lastModifiedBy>local</cp:lastModifiedBy>
  <cp:revision>321</cp:revision>
  <dcterms:created xsi:type="dcterms:W3CDTF">2019-09-01T16:25:33Z</dcterms:created>
  <dcterms:modified xsi:type="dcterms:W3CDTF">2026-10-05T12:02:00Z</dcterms:modified>
</cp:coreProperties>
</file>