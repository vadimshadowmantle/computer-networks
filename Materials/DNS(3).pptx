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5" r:id="rId17"/>
    <p:sldId id="276" r:id="rId18"/>
    <p:sldId id="271" r:id="rId19"/>
    <p:sldId id="272" r:id="rId20"/>
    <p:sldId id="273" r:id="rId21"/>
    <p:sldId id="277" r:id="rId22"/>
    <p:sldId id="278" r:id="rId23"/>
    <p:sldId id="279" r:id="rId24"/>
    <p:sldId id="281" r:id="rId25"/>
    <p:sldId id="282" r:id="rId26"/>
    <p:sldId id="274" r:id="rId2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4" d="100"/>
          <a:sy n="114" d="100"/>
        </p:scale>
        <p:origin x="47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E0C76B81-981B-4A86-B5CB-CBF2D2D8190B}" type="datetimeFigureOut">
              <a:rPr lang="ru-RU" smtClean="0"/>
              <a:t>08.09.2024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F561D3F-B460-4F2F-A145-57BDBA9797E6}" type="slidenum">
              <a:rPr lang="ru-RU" smtClean="0"/>
              <a:t>‹#›</a:t>
            </a:fld>
            <a:endParaRPr lang="ru-RU"/>
          </a:p>
        </p:txBody>
      </p:sp>
    </p:spTree>
    <p:extLst>
      <p:ext uri="{BB962C8B-B14F-4D97-AF65-F5344CB8AC3E}">
        <p14:creationId xmlns:p14="http://schemas.microsoft.com/office/powerpoint/2010/main" val="2279387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E0C76B81-981B-4A86-B5CB-CBF2D2D8190B}" type="datetimeFigureOut">
              <a:rPr lang="ru-RU" smtClean="0"/>
              <a:t>08.09.2024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F561D3F-B460-4F2F-A145-57BDBA9797E6}" type="slidenum">
              <a:rPr lang="ru-RU" smtClean="0"/>
              <a:t>‹#›</a:t>
            </a:fld>
            <a:endParaRPr lang="ru-RU"/>
          </a:p>
        </p:txBody>
      </p:sp>
    </p:spTree>
    <p:extLst>
      <p:ext uri="{BB962C8B-B14F-4D97-AF65-F5344CB8AC3E}">
        <p14:creationId xmlns:p14="http://schemas.microsoft.com/office/powerpoint/2010/main" val="4085866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E0C76B81-981B-4A86-B5CB-CBF2D2D8190B}" type="datetimeFigureOut">
              <a:rPr lang="ru-RU" smtClean="0"/>
              <a:t>08.09.2024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F561D3F-B460-4F2F-A145-57BDBA9797E6}" type="slidenum">
              <a:rPr lang="ru-RU" smtClean="0"/>
              <a:t>‹#›</a:t>
            </a:fld>
            <a:endParaRPr lang="ru-RU"/>
          </a:p>
        </p:txBody>
      </p:sp>
    </p:spTree>
    <p:extLst>
      <p:ext uri="{BB962C8B-B14F-4D97-AF65-F5344CB8AC3E}">
        <p14:creationId xmlns:p14="http://schemas.microsoft.com/office/powerpoint/2010/main" val="3899661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E0C76B81-981B-4A86-B5CB-CBF2D2D8190B}" type="datetimeFigureOut">
              <a:rPr lang="ru-RU" smtClean="0"/>
              <a:t>08.09.2024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F561D3F-B460-4F2F-A145-57BDBA9797E6}" type="slidenum">
              <a:rPr lang="ru-RU" smtClean="0"/>
              <a:t>‹#›</a:t>
            </a:fld>
            <a:endParaRPr lang="ru-RU"/>
          </a:p>
        </p:txBody>
      </p:sp>
    </p:spTree>
    <p:extLst>
      <p:ext uri="{BB962C8B-B14F-4D97-AF65-F5344CB8AC3E}">
        <p14:creationId xmlns:p14="http://schemas.microsoft.com/office/powerpoint/2010/main" val="581727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E0C76B81-981B-4A86-B5CB-CBF2D2D8190B}" type="datetimeFigureOut">
              <a:rPr lang="ru-RU" smtClean="0"/>
              <a:t>08.09.2024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0F561D3F-B460-4F2F-A145-57BDBA9797E6}" type="slidenum">
              <a:rPr lang="ru-RU" smtClean="0"/>
              <a:t>‹#›</a:t>
            </a:fld>
            <a:endParaRPr lang="ru-RU"/>
          </a:p>
        </p:txBody>
      </p:sp>
    </p:spTree>
    <p:extLst>
      <p:ext uri="{BB962C8B-B14F-4D97-AF65-F5344CB8AC3E}">
        <p14:creationId xmlns:p14="http://schemas.microsoft.com/office/powerpoint/2010/main" val="1055938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E0C76B81-981B-4A86-B5CB-CBF2D2D8190B}" type="datetimeFigureOut">
              <a:rPr lang="ru-RU" smtClean="0"/>
              <a:t>08.09.2024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0F561D3F-B460-4F2F-A145-57BDBA9797E6}" type="slidenum">
              <a:rPr lang="ru-RU" smtClean="0"/>
              <a:t>‹#›</a:t>
            </a:fld>
            <a:endParaRPr lang="ru-RU"/>
          </a:p>
        </p:txBody>
      </p:sp>
    </p:spTree>
    <p:extLst>
      <p:ext uri="{BB962C8B-B14F-4D97-AF65-F5344CB8AC3E}">
        <p14:creationId xmlns:p14="http://schemas.microsoft.com/office/powerpoint/2010/main" val="944717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E0C76B81-981B-4A86-B5CB-CBF2D2D8190B}" type="datetimeFigureOut">
              <a:rPr lang="ru-RU" smtClean="0"/>
              <a:t>08.09.2024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0F561D3F-B460-4F2F-A145-57BDBA9797E6}" type="slidenum">
              <a:rPr lang="ru-RU" smtClean="0"/>
              <a:t>‹#›</a:t>
            </a:fld>
            <a:endParaRPr lang="ru-RU"/>
          </a:p>
        </p:txBody>
      </p:sp>
    </p:spTree>
    <p:extLst>
      <p:ext uri="{BB962C8B-B14F-4D97-AF65-F5344CB8AC3E}">
        <p14:creationId xmlns:p14="http://schemas.microsoft.com/office/powerpoint/2010/main" val="2555506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E0C76B81-981B-4A86-B5CB-CBF2D2D8190B}" type="datetimeFigureOut">
              <a:rPr lang="ru-RU" smtClean="0"/>
              <a:t>08.09.2024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F561D3F-B460-4F2F-A145-57BDBA9797E6}" type="slidenum">
              <a:rPr lang="ru-RU" smtClean="0"/>
              <a:t>‹#›</a:t>
            </a:fld>
            <a:endParaRPr lang="ru-RU"/>
          </a:p>
        </p:txBody>
      </p:sp>
    </p:spTree>
    <p:extLst>
      <p:ext uri="{BB962C8B-B14F-4D97-AF65-F5344CB8AC3E}">
        <p14:creationId xmlns:p14="http://schemas.microsoft.com/office/powerpoint/2010/main" val="4051054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E0C76B81-981B-4A86-B5CB-CBF2D2D8190B}" type="datetimeFigureOut">
              <a:rPr lang="ru-RU" smtClean="0"/>
              <a:t>08.09.2024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F561D3F-B460-4F2F-A145-57BDBA9797E6}" type="slidenum">
              <a:rPr lang="ru-RU" smtClean="0"/>
              <a:t>‹#›</a:t>
            </a:fld>
            <a:endParaRPr lang="ru-RU"/>
          </a:p>
        </p:txBody>
      </p:sp>
    </p:spTree>
    <p:extLst>
      <p:ext uri="{BB962C8B-B14F-4D97-AF65-F5344CB8AC3E}">
        <p14:creationId xmlns:p14="http://schemas.microsoft.com/office/powerpoint/2010/main" val="3212400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E0C76B81-981B-4A86-B5CB-CBF2D2D8190B}" type="datetimeFigureOut">
              <a:rPr lang="ru-RU" smtClean="0"/>
              <a:t>08.09.2024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F561D3F-B460-4F2F-A145-57BDBA9797E6}" type="slidenum">
              <a:rPr lang="ru-RU" smtClean="0"/>
              <a:t>‹#›</a:t>
            </a:fld>
            <a:endParaRPr lang="ru-RU"/>
          </a:p>
        </p:txBody>
      </p:sp>
    </p:spTree>
    <p:extLst>
      <p:ext uri="{BB962C8B-B14F-4D97-AF65-F5344CB8AC3E}">
        <p14:creationId xmlns:p14="http://schemas.microsoft.com/office/powerpoint/2010/main" val="2171195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E0C76B81-981B-4A86-B5CB-CBF2D2D8190B}" type="datetimeFigureOut">
              <a:rPr lang="ru-RU" smtClean="0"/>
              <a:t>08.09.2024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F561D3F-B460-4F2F-A145-57BDBA9797E6}" type="slidenum">
              <a:rPr lang="ru-RU" smtClean="0"/>
              <a:t>‹#›</a:t>
            </a:fld>
            <a:endParaRPr lang="ru-RU"/>
          </a:p>
        </p:txBody>
      </p:sp>
    </p:spTree>
    <p:extLst>
      <p:ext uri="{BB962C8B-B14F-4D97-AF65-F5344CB8AC3E}">
        <p14:creationId xmlns:p14="http://schemas.microsoft.com/office/powerpoint/2010/main" val="3962128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C76B81-981B-4A86-B5CB-CBF2D2D8190B}" type="datetimeFigureOut">
              <a:rPr lang="ru-RU" smtClean="0"/>
              <a:t>08.09.2024</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561D3F-B460-4F2F-A145-57BDBA9797E6}" type="slidenum">
              <a:rPr lang="ru-RU" smtClean="0"/>
              <a:t>‹#›</a:t>
            </a:fld>
            <a:endParaRPr lang="ru-RU"/>
          </a:p>
        </p:txBody>
      </p:sp>
    </p:spTree>
    <p:extLst>
      <p:ext uri="{BB962C8B-B14F-4D97-AF65-F5344CB8AC3E}">
        <p14:creationId xmlns:p14="http://schemas.microsoft.com/office/powerpoint/2010/main" val="2116707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skillbox.ru/media/code/chto-takoe-ipadres-i-maska-podseti-i-zachem-oni-nuzhny/"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skillbox.ru/"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www.skillbox.ru/"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skillbox.ru/media/code/chto-takoe-model-osi-i-zachem-ona-nuzhna-prepariruem-sloyenyy-pirog-interneta/"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en-US" dirty="0"/>
              <a:t>DNS</a:t>
            </a:r>
            <a:endParaRPr lang="ru-RU" dirty="0"/>
          </a:p>
        </p:txBody>
      </p:sp>
      <p:sp>
        <p:nvSpPr>
          <p:cNvPr id="3" name="Подзаголовок 2"/>
          <p:cNvSpPr>
            <a:spLocks noGrp="1"/>
          </p:cNvSpPr>
          <p:nvPr>
            <p:ph type="subTitle" idx="1"/>
          </p:nvPr>
        </p:nvSpPr>
        <p:spPr/>
        <p:txBody>
          <a:bodyPr>
            <a:normAutofit/>
          </a:bodyPr>
          <a:lstStyle/>
          <a:p>
            <a:endParaRPr lang="ru-RU" dirty="0"/>
          </a:p>
        </p:txBody>
      </p:sp>
    </p:spTree>
    <p:extLst>
      <p:ext uri="{BB962C8B-B14F-4D97-AF65-F5344CB8AC3E}">
        <p14:creationId xmlns:p14="http://schemas.microsoft.com/office/powerpoint/2010/main" val="1832490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Что такое </a:t>
            </a:r>
            <a:r>
              <a:rPr lang="en-US" b="1" dirty="0"/>
              <a:t>DNS</a:t>
            </a:r>
            <a:br>
              <a:rPr lang="en-US" b="1" dirty="0"/>
            </a:br>
            <a:endParaRPr lang="ru-RU" dirty="0"/>
          </a:p>
        </p:txBody>
      </p:sp>
      <p:sp>
        <p:nvSpPr>
          <p:cNvPr id="3" name="Объект 2"/>
          <p:cNvSpPr>
            <a:spLocks noGrp="1"/>
          </p:cNvSpPr>
          <p:nvPr>
            <p:ph idx="1"/>
          </p:nvPr>
        </p:nvSpPr>
        <p:spPr>
          <a:xfrm>
            <a:off x="838200" y="1244338"/>
            <a:ext cx="10515600" cy="4932625"/>
          </a:xfrm>
        </p:spPr>
        <p:txBody>
          <a:bodyPr/>
          <a:lstStyle/>
          <a:p>
            <a:pPr marL="0" indent="0" algn="just" fontAlgn="base">
              <a:buNone/>
            </a:pPr>
            <a:r>
              <a:rPr lang="ru-RU" dirty="0"/>
              <a:t>До того как появилась DNS, всю информацию о сайтах заносили в общую базу вручную. Это было во времена работы ARPANET — первой компьютерной сети, которую создали американские программисты. Она походила на огромную таблицу с тысячами сайтов. Чтобы добавить в неё новый, нужно было позвонить в сетевой информационный центр и рассказать им, что у вас за ресурс.</a:t>
            </a:r>
          </a:p>
          <a:p>
            <a:pPr marL="0" indent="0" algn="just" fontAlgn="base">
              <a:buNone/>
            </a:pPr>
            <a:r>
              <a:rPr lang="ru-RU" dirty="0"/>
              <a:t>В какой-то момент ARPANET стала слишком сложна в обслуживании: появлялось всё больше сайтов, а запись в таблицу всё ещё велась вручную. Поэтому разработчики придумали новую — на этот раз автоматизированную — систему, DNS.</a:t>
            </a:r>
          </a:p>
          <a:p>
            <a:endParaRPr lang="ru-RU" dirty="0"/>
          </a:p>
        </p:txBody>
      </p:sp>
    </p:spTree>
    <p:extLst>
      <p:ext uri="{BB962C8B-B14F-4D97-AF65-F5344CB8AC3E}">
        <p14:creationId xmlns:p14="http://schemas.microsoft.com/office/powerpoint/2010/main" val="2675452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659876"/>
            <a:ext cx="10515600" cy="5517087"/>
          </a:xfrm>
        </p:spPr>
        <p:txBody>
          <a:bodyPr/>
          <a:lstStyle/>
          <a:p>
            <a:pPr marL="0" indent="0" algn="just" fontAlgn="base">
              <a:buNone/>
            </a:pPr>
            <a:r>
              <a:rPr lang="ru-RU" dirty="0"/>
              <a:t>DNS — это распределённая система, которая помогает браузерам находить адреса сайтов по их именам. Работает она благодаря разветвлённой сети серверов, на которых хранится информация обо всех сайтах интернета. То есть сам принцип работы остался прежним — база данных (табличка) с перечнем всех сайтов мира, просто заносятся в неё данные уже не вручную, одним оператором, а автоматически.</a:t>
            </a:r>
          </a:p>
          <a:p>
            <a:pPr marL="0" indent="0" algn="just" fontAlgn="base">
              <a:buNone/>
            </a:pPr>
            <a:r>
              <a:rPr lang="ru-RU" dirty="0"/>
              <a:t>Например, когда вы заходите на сайт </a:t>
            </a:r>
            <a:r>
              <a:rPr lang="ru-RU" dirty="0" err="1"/>
              <a:t>Skillbox</a:t>
            </a:r>
            <a:r>
              <a:rPr lang="ru-RU" dirty="0"/>
              <a:t>, вы вводите в адресной строке его имя: skillbox.ru. Но браузер не сможет подключить вас к нему просто по имени, потому что ему нужен </a:t>
            </a:r>
            <a:r>
              <a:rPr lang="ru-RU" u="sng" dirty="0">
                <a:hlinkClick r:id="rId2"/>
              </a:rPr>
              <a:t>IP-адрес</a:t>
            </a:r>
            <a:r>
              <a:rPr lang="ru-RU" dirty="0"/>
              <a:t>.</a:t>
            </a:r>
          </a:p>
          <a:p>
            <a:pPr marL="0" indent="0">
              <a:buNone/>
            </a:pPr>
            <a:endParaRPr lang="ru-RU" dirty="0"/>
          </a:p>
        </p:txBody>
      </p:sp>
    </p:spTree>
    <p:extLst>
      <p:ext uri="{BB962C8B-B14F-4D97-AF65-F5344CB8AC3E}">
        <p14:creationId xmlns:p14="http://schemas.microsoft.com/office/powerpoint/2010/main" val="3673710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527901"/>
            <a:ext cx="10515600" cy="2441542"/>
          </a:xfrm>
        </p:spPr>
        <p:txBody>
          <a:bodyPr/>
          <a:lstStyle/>
          <a:p>
            <a:pPr marL="0" indent="0" algn="just">
              <a:buNone/>
            </a:pPr>
            <a:r>
              <a:rPr lang="ru-RU" dirty="0"/>
              <a:t>На самом деле весь интернет работает именно с системой IP-адресов, а привычные нам названия нужны только для удобства людей: их проще запоминать и вводить. Поэтому всё, что вам нужно, — написать в адресной строке браузера </a:t>
            </a:r>
            <a:r>
              <a:rPr lang="ru-RU" u="sng" dirty="0">
                <a:hlinkClick r:id="rId2"/>
              </a:rPr>
              <a:t>skillbox.ru</a:t>
            </a:r>
            <a:r>
              <a:rPr lang="ru-RU" dirty="0"/>
              <a:t> и нажать </a:t>
            </a:r>
            <a:r>
              <a:rPr lang="ru-RU" dirty="0" err="1"/>
              <a:t>Enter</a:t>
            </a:r>
            <a:r>
              <a:rPr lang="ru-RU" dirty="0"/>
              <a:t>. Дальше браузер всё сделает сам: отправит нужные запросы, разыщет IP-адрес и откроет страницу.</a:t>
            </a:r>
          </a:p>
        </p:txBody>
      </p:sp>
      <p:pic>
        <p:nvPicPr>
          <p:cNvPr id="1026" name="Picture 2" descr="https://skillbox.ru/upload/setka_images/15081511012023_e3039f248dd555899a396179b51a05be377f997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1057" y="3057831"/>
            <a:ext cx="7321034" cy="3321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6441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Как работает </a:t>
            </a:r>
            <a:r>
              <a:rPr lang="en-US" b="1" dirty="0"/>
              <a:t>DNS</a:t>
            </a:r>
            <a:endParaRPr lang="ru-RU" dirty="0"/>
          </a:p>
        </p:txBody>
      </p:sp>
      <p:sp>
        <p:nvSpPr>
          <p:cNvPr id="3" name="Объект 2"/>
          <p:cNvSpPr>
            <a:spLocks noGrp="1"/>
          </p:cNvSpPr>
          <p:nvPr>
            <p:ph idx="1"/>
          </p:nvPr>
        </p:nvSpPr>
        <p:spPr/>
        <p:txBody>
          <a:bodyPr/>
          <a:lstStyle/>
          <a:p>
            <a:pPr marL="0" indent="0" algn="just">
              <a:buNone/>
            </a:pPr>
            <a:r>
              <a:rPr lang="ru-RU" dirty="0"/>
              <a:t>Принципы DNS применяют уже довольно давно. По сути, это что-то вроде телефонной книги — как у наших бабушек и дедушек. Благодаря этим телефонным книгам они могли легко определить, кто пытался им позвонить, или найти номер телефона соседа, родственника, друга. Если же номер в книге не находился — значит, звонил какой-то незнакомец и разговаривать с ним вообще не нужно.</a:t>
            </a:r>
          </a:p>
        </p:txBody>
      </p:sp>
    </p:spTree>
    <p:extLst>
      <p:ext uri="{BB962C8B-B14F-4D97-AF65-F5344CB8AC3E}">
        <p14:creationId xmlns:p14="http://schemas.microsoft.com/office/powerpoint/2010/main" val="1555359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141403"/>
            <a:ext cx="10515600" cy="2130458"/>
          </a:xfrm>
        </p:spPr>
        <p:txBody>
          <a:bodyPr>
            <a:normAutofit/>
          </a:bodyPr>
          <a:lstStyle/>
          <a:p>
            <a:pPr marL="0" indent="0" algn="just">
              <a:buNone/>
            </a:pPr>
            <a:r>
              <a:rPr lang="ru-RU" sz="2400" dirty="0"/>
              <a:t>Когда вы заходите на сайт, вы вводите «номер», или его имя — например, vk.com, в браузере (аналоге телефона). Затем «телефонная станция», или DNS-сервер, соединяет вас с нужным абонентом. А чтобы сделать это, у сервера есть своя внутренняя «телефонная книга» с адресами разных сайтов. Если он нашёл в списке сайт с введённым вами именем, он без проблем подключит вас к нему. Если нет — браузер выдаст ошибку.</a:t>
            </a:r>
          </a:p>
        </p:txBody>
      </p:sp>
      <p:pic>
        <p:nvPicPr>
          <p:cNvPr id="2052" name="Picture 4" descr="https://skillbox.ru/upload/setka_images/15081711012023_cece785eb92cd643f5e788e5f37e3d933a76f56c.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102" y="2271861"/>
            <a:ext cx="10223795" cy="397665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3068760" y="6248520"/>
            <a:ext cx="6054478" cy="276999"/>
          </a:xfrm>
          <a:prstGeom prst="rect">
            <a:avLst/>
          </a:prstGeom>
          <a:noFill/>
        </p:spPr>
        <p:txBody>
          <a:bodyPr wrap="none" rtlCol="0">
            <a:spAutoFit/>
          </a:bodyPr>
          <a:lstStyle/>
          <a:p>
            <a:r>
              <a:rPr lang="ru-RU" sz="1200" dirty="0"/>
              <a:t>Если ввести название несуществующего сайта, вы получите примерно такое сообщение</a:t>
            </a:r>
          </a:p>
        </p:txBody>
      </p:sp>
    </p:spTree>
    <p:extLst>
      <p:ext uri="{BB962C8B-B14F-4D97-AF65-F5344CB8AC3E}">
        <p14:creationId xmlns:p14="http://schemas.microsoft.com/office/powerpoint/2010/main" val="785236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584462"/>
            <a:ext cx="10515600" cy="5592501"/>
          </a:xfrm>
        </p:spPr>
        <p:txBody>
          <a:bodyPr/>
          <a:lstStyle/>
          <a:p>
            <a:pPr marL="0" indent="0" algn="just">
              <a:buNone/>
            </a:pPr>
            <a:r>
              <a:rPr lang="ru-RU" dirty="0"/>
              <a:t>Единственное различие между телефонной книгой и DNS заключается в том, что по телефону вы звоните с помощью номеров, а к сайтам подключаетесь по их названиям. Но при этом у каждого есть свой номер — IP-адрес, по которому как раз и ищет DNS. Поэтому, когда вы набираете имя сайта и просите систему соединить вас с ним, на самом деле вы просите его узнать, есть ли IP-адрес с таким названием, и вернуть вам этот адрес.</a:t>
            </a:r>
          </a:p>
        </p:txBody>
      </p:sp>
    </p:spTree>
    <p:extLst>
      <p:ext uri="{BB962C8B-B14F-4D97-AF65-F5344CB8AC3E}">
        <p14:creationId xmlns:p14="http://schemas.microsoft.com/office/powerpoint/2010/main" val="1855436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386499"/>
            <a:ext cx="10515600" cy="1687398"/>
          </a:xfrm>
        </p:spPr>
        <p:txBody>
          <a:bodyPr/>
          <a:lstStyle/>
          <a:p>
            <a:pPr marL="0" indent="0" algn="just">
              <a:buNone/>
            </a:pPr>
            <a:r>
              <a:rPr lang="ru-RU" dirty="0"/>
              <a:t>Кстати, в браузер можно вводить и IP-адреса, просто запоминать их муторно и неудобно. Хотя до того, как придумали DNS, программисты именно так и подключались к сайтам — по их адресам напрямую.</a:t>
            </a:r>
          </a:p>
        </p:txBody>
      </p:sp>
      <p:pic>
        <p:nvPicPr>
          <p:cNvPr id="3074" name="Picture 2" descr="https://skillbox.ru/upload/setka_images/15081411012023_278cadb5c5a600fd354bbb4a32acf34407bf98f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5206" y="2073897"/>
            <a:ext cx="7701587" cy="45391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1885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48033" y="275304"/>
            <a:ext cx="10515600" cy="2507226"/>
          </a:xfrm>
        </p:spPr>
        <p:txBody>
          <a:bodyPr/>
          <a:lstStyle/>
          <a:p>
            <a:pPr marL="0" indent="0" algn="just">
              <a:buNone/>
            </a:pPr>
            <a:r>
              <a:rPr lang="ru-RU" dirty="0"/>
              <a:t>Например, вы заходите на </a:t>
            </a:r>
            <a:r>
              <a:rPr lang="ru-RU" u="sng" dirty="0">
                <a:hlinkClick r:id="rId2"/>
              </a:rPr>
              <a:t>www.skillbox.ru</a:t>
            </a:r>
            <a:r>
              <a:rPr lang="ru-RU" dirty="0"/>
              <a:t> и просите браузер подключить вас к нему. Он обращается к серверу, а тот — к своей базе адресов, чтобы найти похожее название. Если находит — возвращает браузеру IP-адрес, а браузер, в свою очередь, использует его, чтобы запросить главную страницу и показать её вам. Сайту skillbox.ru соответствует IP-адрес 178.248.237.96.</a:t>
            </a:r>
          </a:p>
        </p:txBody>
      </p:sp>
      <p:pic>
        <p:nvPicPr>
          <p:cNvPr id="4098" name="Picture 2" descr="https://skillbox.ru/upload/setka_images/15081411012023_a3e9b924b0c79cb7169afa563a255fa0a5b1cadd.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6383" y="2782530"/>
            <a:ext cx="6598899" cy="35510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9866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75907" y="405352"/>
            <a:ext cx="10515600" cy="669303"/>
          </a:xfrm>
        </p:spPr>
        <p:txBody>
          <a:bodyPr>
            <a:normAutofit fontScale="90000"/>
          </a:bodyPr>
          <a:lstStyle/>
          <a:p>
            <a:pPr algn="ctr"/>
            <a:r>
              <a:rPr lang="ru-RU" b="1" dirty="0"/>
              <a:t>Что такое </a:t>
            </a:r>
            <a:r>
              <a:rPr lang="en-US" b="1" dirty="0"/>
              <a:t>DNS-</a:t>
            </a:r>
            <a:r>
              <a:rPr lang="ru-RU" b="1" dirty="0"/>
              <a:t>сервер</a:t>
            </a:r>
            <a:endParaRPr lang="ru-RU" dirty="0"/>
          </a:p>
        </p:txBody>
      </p:sp>
      <p:sp>
        <p:nvSpPr>
          <p:cNvPr id="3" name="Объект 2"/>
          <p:cNvSpPr>
            <a:spLocks noGrp="1"/>
          </p:cNvSpPr>
          <p:nvPr>
            <p:ph idx="1"/>
          </p:nvPr>
        </p:nvSpPr>
        <p:spPr>
          <a:xfrm>
            <a:off x="273377" y="1376313"/>
            <a:ext cx="6381947" cy="5344998"/>
          </a:xfrm>
        </p:spPr>
        <p:txBody>
          <a:bodyPr>
            <a:normAutofit fontScale="85000" lnSpcReduction="20000"/>
          </a:bodyPr>
          <a:lstStyle/>
          <a:p>
            <a:pPr marL="0" indent="0" fontAlgn="base">
              <a:buNone/>
            </a:pPr>
            <a:r>
              <a:rPr lang="ru-RU" dirty="0"/>
              <a:t>Информацию обо всех сайтах (а их очень много) нужно где-то хранить. Для этого используют DNS-серверы.</a:t>
            </a:r>
          </a:p>
          <a:p>
            <a:pPr marL="0" indent="0" fontAlgn="base">
              <a:buNone/>
            </a:pPr>
            <a:r>
              <a:rPr lang="ru-RU" dirty="0"/>
              <a:t>Сервер — это один или несколько специальных компьютеров, на которых хранятся IP-адреса сайтов. Каждый такой адрес привязан к своему имени, а имена нужны, чтобы их писать в адресной строке браузера.</a:t>
            </a:r>
          </a:p>
          <a:p>
            <a:pPr marL="0" indent="0" fontAlgn="base">
              <a:buNone/>
            </a:pPr>
            <a:r>
              <a:rPr lang="ru-RU" dirty="0"/>
              <a:t>В интернете таких серверов очень много. Они точно есть у каждого </a:t>
            </a:r>
            <a:r>
              <a:rPr lang="ru-RU" dirty="0" err="1"/>
              <a:t>интернет-провайдера</a:t>
            </a:r>
            <a:r>
              <a:rPr lang="ru-RU" dirty="0"/>
              <a:t>, VPN-сервиса или других IT-компаний поменьше. Через них каждую минуту проходят мегабайты информации от пользователей со всего мира.</a:t>
            </a:r>
          </a:p>
          <a:p>
            <a:pPr marL="0" indent="0" fontAlgn="base">
              <a:buNone/>
            </a:pPr>
            <a:r>
              <a:rPr lang="ru-RU" dirty="0"/>
              <a:t>Кроме крупных, есть ещё и маленькие, или персональные. Персональный — это тот, который можно настроить даже на телефоне. Благодаря нему можно, например, заблокировать рекламу.</a:t>
            </a:r>
          </a:p>
          <a:p>
            <a:pPr marL="0" indent="0">
              <a:buNone/>
            </a:pPr>
            <a:endParaRPr lang="ru-RU" dirty="0"/>
          </a:p>
        </p:txBody>
      </p:sp>
      <p:pic>
        <p:nvPicPr>
          <p:cNvPr id="5122" name="Picture 2" descr="https://skillbox.ru/upload/setka_images/15081511012023_ee673444daa2c4c150863fb4fe2e59385df85324.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4130" r="13309"/>
          <a:stretch/>
        </p:blipFill>
        <p:spPr bwMode="auto">
          <a:xfrm>
            <a:off x="6971072" y="1801040"/>
            <a:ext cx="4493342" cy="3676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0224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577555"/>
          </a:xfrm>
        </p:spPr>
        <p:txBody>
          <a:bodyPr>
            <a:normAutofit fontScale="90000"/>
          </a:bodyPr>
          <a:lstStyle/>
          <a:p>
            <a:pPr algn="ctr"/>
            <a:r>
              <a:rPr lang="ru-RU" sz="4000" b="1" dirty="0"/>
              <a:t>Зачем нужны DNS-серверы и какими они бывают</a:t>
            </a:r>
            <a:endParaRPr lang="ru-RU" sz="4000" dirty="0"/>
          </a:p>
        </p:txBody>
      </p:sp>
      <p:sp>
        <p:nvSpPr>
          <p:cNvPr id="3" name="Объект 2"/>
          <p:cNvSpPr>
            <a:spLocks noGrp="1"/>
          </p:cNvSpPr>
          <p:nvPr>
            <p:ph idx="1"/>
          </p:nvPr>
        </p:nvSpPr>
        <p:spPr>
          <a:xfrm>
            <a:off x="838200" y="1018096"/>
            <a:ext cx="10515600" cy="2226550"/>
          </a:xfrm>
        </p:spPr>
        <p:txBody>
          <a:bodyPr/>
          <a:lstStyle/>
          <a:p>
            <a:pPr marL="0" indent="0" algn="just" fontAlgn="base">
              <a:buNone/>
            </a:pPr>
            <a:r>
              <a:rPr lang="ru-RU" sz="2400" dirty="0"/>
              <a:t>Главная задача серверов — хранить данные о доменах и предоставлять информацию о них по запросам пользователей. А ещё они кэшируют DNS-записи с других серверов. Это позволяет браузерам быстрее получать данные о сайтах.</a:t>
            </a:r>
          </a:p>
          <a:p>
            <a:pPr marL="0" indent="0" algn="just" fontAlgn="base">
              <a:buNone/>
            </a:pPr>
            <a:r>
              <a:rPr lang="ru-RU" sz="2400" dirty="0"/>
              <a:t>Один сервер не может хранить информацию обо всех сайтах в интернете. Поэтому они всегда работают в связке.</a:t>
            </a:r>
          </a:p>
          <a:p>
            <a:pPr marL="0" indent="0">
              <a:buNone/>
            </a:pPr>
            <a:endParaRPr lang="ru-RU" dirty="0"/>
          </a:p>
        </p:txBody>
      </p:sp>
      <p:pic>
        <p:nvPicPr>
          <p:cNvPr id="6146" name="Picture 2" descr="https://skillbox.ru/upload/setka_images/15081611012023_bd473197c461193ea9b6d317f4c236910d065887.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76920" y="3244646"/>
            <a:ext cx="5016474" cy="3436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6220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433633"/>
            <a:ext cx="10515600" cy="2479249"/>
          </a:xfrm>
        </p:spPr>
        <p:txBody>
          <a:bodyPr>
            <a:normAutofit fontScale="92500" lnSpcReduction="20000"/>
          </a:bodyPr>
          <a:lstStyle/>
          <a:p>
            <a:pPr marL="0" indent="0" algn="just" fontAlgn="base">
              <a:buNone/>
            </a:pPr>
            <a:r>
              <a:rPr lang="ru-RU" dirty="0"/>
              <a:t>Давайте подробнее рассмотрим, как браузер обращается к серверам и как они после этого ищут нужный IP-адрес.</a:t>
            </a:r>
          </a:p>
          <a:p>
            <a:pPr marL="0" indent="0" algn="just" fontAlgn="base">
              <a:buNone/>
            </a:pPr>
            <a:r>
              <a:rPr lang="ru-RU" dirty="0"/>
              <a:t>Когда пользователь вводит имя сайта в адресную строку браузера, компьютер сначала обращается к локальному файлу настроек DNS — файлу </a:t>
            </a:r>
            <a:r>
              <a:rPr lang="ru-RU" u="sng" dirty="0" err="1"/>
              <a:t>hosts</a:t>
            </a:r>
            <a:r>
              <a:rPr lang="ru-RU" dirty="0"/>
              <a:t>. В нём содержатся IP-адреса всех сайтов, на которые пользователь заходил с этого устройства. Если нужного адреса там нет, компьютер направляет запрос на локальный сервер </a:t>
            </a:r>
            <a:r>
              <a:rPr lang="ru-RU" dirty="0" err="1"/>
              <a:t>интернет-провайдера</a:t>
            </a:r>
            <a:r>
              <a:rPr lang="ru-RU" dirty="0"/>
              <a:t> пользователя.</a:t>
            </a:r>
          </a:p>
          <a:p>
            <a:pPr marL="0" indent="0">
              <a:buNone/>
            </a:pPr>
            <a:endParaRPr lang="ru-RU" dirty="0"/>
          </a:p>
        </p:txBody>
      </p:sp>
      <p:pic>
        <p:nvPicPr>
          <p:cNvPr id="7170" name="Picture 2" descr="https://skillbox.ru/upload/setka_images/15081411012023_5c20dcbcfbab07ab6c2df7e27444d5ac2afca569.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18852" y="3077497"/>
            <a:ext cx="5154296" cy="3221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5329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363794"/>
            <a:ext cx="10515600" cy="2094271"/>
          </a:xfrm>
        </p:spPr>
        <p:txBody>
          <a:bodyPr/>
          <a:lstStyle/>
          <a:p>
            <a:pPr marL="0" indent="0" algn="just" fontAlgn="base">
              <a:buNone/>
            </a:pPr>
            <a:r>
              <a:rPr lang="ru-RU" dirty="0"/>
              <a:t>На локальном сервере происходит взаимодействие между другими серверами из региона, в котором находится запрошенный сайт. Локальный сервер несколько раз обращается к разным региональным и наконец получает информацию о сайте, а затем отправляет его обратно пользователю.</a:t>
            </a:r>
          </a:p>
        </p:txBody>
      </p:sp>
      <p:pic>
        <p:nvPicPr>
          <p:cNvPr id="8194" name="Picture 2" descr="https://skillbox.ru/upload/setka_images/15081411012023_cae856732bd4226855875d839121e46dd85999a9.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35102" y="2753032"/>
            <a:ext cx="5521796" cy="345112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095927" y="6191345"/>
            <a:ext cx="4230389" cy="307777"/>
          </a:xfrm>
          <a:prstGeom prst="rect">
            <a:avLst/>
          </a:prstGeom>
          <a:noFill/>
        </p:spPr>
        <p:txBody>
          <a:bodyPr wrap="none" rtlCol="0">
            <a:spAutoFit/>
          </a:bodyPr>
          <a:lstStyle/>
          <a:p>
            <a:pPr algn="ctr"/>
            <a:r>
              <a:rPr lang="ru-RU" sz="1400" dirty="0"/>
              <a:t>Не нашли адрес в своём регионе — найдём в других</a:t>
            </a:r>
          </a:p>
        </p:txBody>
      </p:sp>
    </p:spTree>
    <p:extLst>
      <p:ext uri="{BB962C8B-B14F-4D97-AF65-F5344CB8AC3E}">
        <p14:creationId xmlns:p14="http://schemas.microsoft.com/office/powerpoint/2010/main" val="2018695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386499"/>
            <a:ext cx="10515600" cy="5957740"/>
          </a:xfrm>
        </p:spPr>
        <p:txBody>
          <a:bodyPr>
            <a:normAutofit/>
          </a:bodyPr>
          <a:lstStyle/>
          <a:p>
            <a:pPr marL="0" indent="0" algn="just" fontAlgn="base">
              <a:buNone/>
            </a:pPr>
            <a:r>
              <a:rPr lang="ru-RU" dirty="0"/>
              <a:t>Чтобы локальный сервер облегчил себе жизнь в будущем и меньше обращался к другим, при получении нужного IP-адреса он сохраняет его у себя в памяти. Это и называется кэшированием.</a:t>
            </a:r>
          </a:p>
          <a:p>
            <a:pPr marL="0" indent="0" algn="just" fontAlgn="base">
              <a:buNone/>
            </a:pPr>
            <a:r>
              <a:rPr lang="ru-RU" dirty="0"/>
              <a:t>Теперь при повторном обращении к сайту он откроется быстрее, потому что информация находится недалеко. Но кэш не хранится вечно — время от времени он очищается, а значит, редко запрашиваемые сайты почти каждый раз будут искаться «где-то там».</a:t>
            </a:r>
          </a:p>
          <a:p>
            <a:pPr marL="0" indent="0" algn="just" fontAlgn="base">
              <a:buNone/>
            </a:pPr>
            <a:r>
              <a:rPr lang="ru-RU" dirty="0"/>
              <a:t>Бывает так, что IP-адрес меняется, — например, когда сайт переходит на другого хостинг-провайдера. В этом случае при попытке зайти на него пользователи будут некоторое время попадать на прежний IP-адрес, на котором уже ничего нет. Но в течение суток кэш локальных серверов обновится и всё начнёт открываться как надо.</a:t>
            </a:r>
          </a:p>
          <a:p>
            <a:pPr marL="0" indent="0">
              <a:buNone/>
            </a:pPr>
            <a:endParaRPr lang="ru-RU" dirty="0"/>
          </a:p>
        </p:txBody>
      </p:sp>
    </p:spTree>
    <p:extLst>
      <p:ext uri="{BB962C8B-B14F-4D97-AF65-F5344CB8AC3E}">
        <p14:creationId xmlns:p14="http://schemas.microsoft.com/office/powerpoint/2010/main" val="4075716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709531"/>
          </a:xfrm>
        </p:spPr>
        <p:txBody>
          <a:bodyPr/>
          <a:lstStyle/>
          <a:p>
            <a:r>
              <a:rPr lang="ru-RU" b="1" dirty="0"/>
              <a:t>Что такое типы записей DNS-сервера</a:t>
            </a:r>
            <a:endParaRPr lang="ru-RU" dirty="0"/>
          </a:p>
        </p:txBody>
      </p:sp>
      <p:sp>
        <p:nvSpPr>
          <p:cNvPr id="3" name="Объект 2"/>
          <p:cNvSpPr>
            <a:spLocks noGrp="1"/>
          </p:cNvSpPr>
          <p:nvPr>
            <p:ph idx="1"/>
          </p:nvPr>
        </p:nvSpPr>
        <p:spPr>
          <a:xfrm>
            <a:off x="838200" y="1291472"/>
            <a:ext cx="10515600" cy="4885491"/>
          </a:xfrm>
        </p:spPr>
        <p:txBody>
          <a:bodyPr>
            <a:normAutofit fontScale="85000" lnSpcReduction="20000"/>
          </a:bodyPr>
          <a:lstStyle/>
          <a:p>
            <a:pPr marL="0" indent="0" algn="just" fontAlgn="base">
              <a:buNone/>
            </a:pPr>
            <a:r>
              <a:rPr lang="ru-RU" dirty="0"/>
              <a:t>В DNS есть специальные файлы, которые хранят связи между доменами и их IP-адресами. Также они хранят там информацию о </a:t>
            </a:r>
            <a:r>
              <a:rPr lang="ru-RU" dirty="0" err="1"/>
              <a:t>поддоменах</a:t>
            </a:r>
            <a:r>
              <a:rPr lang="ru-RU" dirty="0"/>
              <a:t> и почтовых серверах, если те есть у сайта. И всё это называется DNS-зоной.</a:t>
            </a:r>
          </a:p>
          <a:p>
            <a:pPr marL="0" indent="0" algn="just" fontAlgn="base">
              <a:buNone/>
            </a:pPr>
            <a:r>
              <a:rPr lang="ru-RU" dirty="0"/>
              <a:t>Зоны содержат разные виды записей и помогают серверам понять, что за домен перед ними. Вот основные типы записей:</a:t>
            </a:r>
          </a:p>
          <a:p>
            <a:pPr algn="just" fontAlgn="base"/>
            <a:r>
              <a:rPr lang="ru-RU" b="1" dirty="0"/>
              <a:t>A</a:t>
            </a:r>
            <a:r>
              <a:rPr lang="ru-RU" dirty="0"/>
              <a:t> — IP-адрес обычного сайта;</a:t>
            </a:r>
          </a:p>
          <a:p>
            <a:pPr algn="just" fontAlgn="base"/>
            <a:r>
              <a:rPr lang="ru-RU" b="1" dirty="0"/>
              <a:t>MX</a:t>
            </a:r>
            <a:r>
              <a:rPr lang="ru-RU" dirty="0"/>
              <a:t> — адрес почтового сервера;</a:t>
            </a:r>
          </a:p>
          <a:p>
            <a:pPr algn="just" fontAlgn="base"/>
            <a:r>
              <a:rPr lang="ru-RU" b="1" dirty="0"/>
              <a:t>CNAME</a:t>
            </a:r>
            <a:r>
              <a:rPr lang="ru-RU" dirty="0"/>
              <a:t> — запись для </a:t>
            </a:r>
            <a:r>
              <a:rPr lang="ru-RU" dirty="0" err="1"/>
              <a:t>поддоменов</a:t>
            </a:r>
            <a:r>
              <a:rPr lang="ru-RU" dirty="0"/>
              <a:t>, которая указывает, к каким адресам прикреплён основной домен;</a:t>
            </a:r>
          </a:p>
          <a:p>
            <a:pPr algn="just" fontAlgn="base"/>
            <a:r>
              <a:rPr lang="ru-RU" b="1" dirty="0"/>
              <a:t>NS</a:t>
            </a:r>
            <a:r>
              <a:rPr lang="ru-RU" dirty="0"/>
              <a:t> — адрес сервера, где находятся все ресурсные записи;</a:t>
            </a:r>
          </a:p>
          <a:p>
            <a:pPr algn="just" fontAlgn="base"/>
            <a:r>
              <a:rPr lang="ru-RU" b="1" dirty="0"/>
              <a:t>TXT</a:t>
            </a:r>
            <a:r>
              <a:rPr lang="ru-RU" dirty="0"/>
              <a:t> — текстовая информация, которая относится к конкретному домену;</a:t>
            </a:r>
          </a:p>
          <a:p>
            <a:pPr algn="just" fontAlgn="base"/>
            <a:r>
              <a:rPr lang="ru-RU" b="1" dirty="0"/>
              <a:t>SPF</a:t>
            </a:r>
            <a:r>
              <a:rPr lang="ru-RU" dirty="0"/>
              <a:t> — список серверов, которые могут отправлять сообщения от имени указанного домена;</a:t>
            </a:r>
          </a:p>
          <a:p>
            <a:pPr algn="just" fontAlgn="base"/>
            <a:r>
              <a:rPr lang="ru-RU" b="1" dirty="0"/>
              <a:t>SOA</a:t>
            </a:r>
            <a:r>
              <a:rPr lang="ru-RU" dirty="0"/>
              <a:t> — главная запись зоны, где указаны все сведения о сервере.</a:t>
            </a:r>
          </a:p>
          <a:p>
            <a:pPr marL="0" indent="0" algn="just">
              <a:buNone/>
            </a:pPr>
            <a:endParaRPr lang="ru-RU" dirty="0"/>
          </a:p>
        </p:txBody>
      </p:sp>
    </p:spTree>
    <p:extLst>
      <p:ext uri="{BB962C8B-B14F-4D97-AF65-F5344CB8AC3E}">
        <p14:creationId xmlns:p14="http://schemas.microsoft.com/office/powerpoint/2010/main" val="39269907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367645"/>
            <a:ext cx="10515600" cy="5809318"/>
          </a:xfrm>
        </p:spPr>
        <p:txBody>
          <a:bodyPr>
            <a:normAutofit fontScale="92500" lnSpcReduction="20000"/>
          </a:bodyPr>
          <a:lstStyle/>
          <a:p>
            <a:pPr marL="0" indent="0" algn="just">
              <a:buNone/>
            </a:pPr>
            <a:r>
              <a:rPr lang="ru-RU" dirty="0"/>
              <a:t>	Одной из наиболее важных считается SOA запись DNS, в которой указаны базовые сведения о домене. И хотя они никак не сказываются на работе домена, они необходимы для функционирования системы. Чтобы сайт работал корректно, его владельцу приходится учитывать множество специфических параметров, настроек. Однако в случае SOA всё довольно просто.</a:t>
            </a:r>
          </a:p>
          <a:p>
            <a:pPr marL="0" indent="0" algn="just">
              <a:buNone/>
            </a:pPr>
            <a:r>
              <a:rPr lang="ru-RU" b="1" dirty="0"/>
              <a:t>	Что такое SOA записи и зачем они нужны</a:t>
            </a:r>
          </a:p>
          <a:p>
            <a:pPr marL="0" indent="0" algn="just">
              <a:buNone/>
            </a:pPr>
            <a:r>
              <a:rPr lang="ru-RU" b="1" dirty="0"/>
              <a:t>	SOA </a:t>
            </a:r>
            <a:r>
              <a:rPr lang="ru-RU" b="1" dirty="0" err="1"/>
              <a:t>record</a:t>
            </a:r>
            <a:r>
              <a:rPr lang="ru-RU" dirty="0"/>
              <a:t> или в переводе </a:t>
            </a:r>
            <a:r>
              <a:rPr lang="ru-RU" b="1" dirty="0"/>
              <a:t>SOA</a:t>
            </a:r>
            <a:r>
              <a:rPr lang="ru-RU" dirty="0"/>
              <a:t> запись расшифровывается как «</a:t>
            </a:r>
            <a:r>
              <a:rPr lang="ru-RU" dirty="0" err="1"/>
              <a:t>Start</a:t>
            </a:r>
            <a:r>
              <a:rPr lang="ru-RU" dirty="0"/>
              <a:t> </a:t>
            </a:r>
            <a:r>
              <a:rPr lang="ru-RU" dirty="0" err="1"/>
              <a:t>Of</a:t>
            </a:r>
            <a:r>
              <a:rPr lang="ru-RU" dirty="0"/>
              <a:t> </a:t>
            </a:r>
            <a:r>
              <a:rPr lang="ru-RU" dirty="0" err="1"/>
              <a:t>Authority</a:t>
            </a:r>
            <a:r>
              <a:rPr lang="ru-RU" dirty="0"/>
              <a:t>» и означает «Начало Зоны».</a:t>
            </a:r>
          </a:p>
          <a:p>
            <a:pPr marL="0" indent="0" algn="just">
              <a:buNone/>
            </a:pPr>
            <a:r>
              <a:rPr lang="ru-RU" dirty="0"/>
              <a:t>	Дело в том, что доменные серверы объединены в кластеры. Их базы данных синхронизируются за счет передачи зон.</a:t>
            </a:r>
          </a:p>
          <a:p>
            <a:pPr marL="0" indent="0" algn="just">
              <a:buNone/>
            </a:pPr>
            <a:r>
              <a:rPr lang="ru-RU" dirty="0"/>
              <a:t>	Зона – это логическое пространство, совокупность ресурсных записей домена. То есть она объединяет доменные имена нескольких ваших ресурсов и хранит сведения о них.</a:t>
            </a:r>
          </a:p>
          <a:p>
            <a:pPr marL="0" indent="0" algn="just">
              <a:buNone/>
            </a:pPr>
            <a:r>
              <a:rPr lang="ru-RU" b="1" dirty="0"/>
              <a:t>	SOA – начальная запись зоны</a:t>
            </a:r>
            <a:r>
              <a:rPr lang="ru-RU" dirty="0"/>
              <a:t>. В ней прописаны сведения, необходимые для полноценного обмена: ее идентификаторы, время кэширования информации, контакты администратора и т.д. То есть без нее обмен невозможен.</a:t>
            </a:r>
          </a:p>
          <a:p>
            <a:pPr marL="0" indent="0" algn="just">
              <a:buNone/>
            </a:pPr>
            <a:endParaRPr lang="ru-RU" dirty="0"/>
          </a:p>
        </p:txBody>
      </p:sp>
    </p:spTree>
    <p:extLst>
      <p:ext uri="{BB962C8B-B14F-4D97-AF65-F5344CB8AC3E}">
        <p14:creationId xmlns:p14="http://schemas.microsoft.com/office/powerpoint/2010/main" val="979379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Формат </a:t>
            </a:r>
            <a:r>
              <a:rPr lang="en-US" b="1" dirty="0"/>
              <a:t>SOA-</a:t>
            </a:r>
            <a:r>
              <a:rPr lang="ru-RU" b="1" dirty="0"/>
              <a:t>записи</a:t>
            </a:r>
            <a:endParaRPr lang="ru-RU" dirty="0"/>
          </a:p>
        </p:txBody>
      </p:sp>
      <p:sp>
        <p:nvSpPr>
          <p:cNvPr id="3" name="Объект 2"/>
          <p:cNvSpPr>
            <a:spLocks noGrp="1"/>
          </p:cNvSpPr>
          <p:nvPr>
            <p:ph idx="1"/>
          </p:nvPr>
        </p:nvSpPr>
        <p:spPr>
          <a:xfrm>
            <a:off x="432847" y="1913642"/>
            <a:ext cx="11190402" cy="4668674"/>
          </a:xfrm>
        </p:spPr>
        <p:txBody>
          <a:bodyPr>
            <a:noAutofit/>
          </a:bodyPr>
          <a:lstStyle/>
          <a:p>
            <a:r>
              <a:rPr lang="ru-RU" sz="1600" u="sng" dirty="0" err="1"/>
              <a:t>Primary</a:t>
            </a:r>
            <a:r>
              <a:rPr lang="ru-RU" sz="1600" u="sng" dirty="0"/>
              <a:t> </a:t>
            </a:r>
            <a:r>
              <a:rPr lang="ru-RU" sz="1600" u="sng" dirty="0" err="1"/>
              <a:t>Name</a:t>
            </a:r>
            <a:r>
              <a:rPr lang="ru-RU" sz="1600" u="sng" dirty="0"/>
              <a:t> </a:t>
            </a:r>
            <a:r>
              <a:rPr lang="ru-RU" sz="1600" u="sng" dirty="0" err="1"/>
              <a:t>Server</a:t>
            </a:r>
            <a:r>
              <a:rPr lang="ru-RU" sz="1600" dirty="0"/>
              <a:t>: Имя первичного DNS-сервера зоны</a:t>
            </a:r>
          </a:p>
          <a:p>
            <a:r>
              <a:rPr lang="ru-RU" sz="1600" u="sng" dirty="0" err="1"/>
              <a:t>Hostmaster</a:t>
            </a:r>
            <a:r>
              <a:rPr lang="ru-RU" sz="1600" dirty="0"/>
              <a:t>: Контактный адрес лица, ответственного за администрирование файла зоны. Обратите внимание на то, что вместо «@» используется «.»</a:t>
            </a:r>
          </a:p>
          <a:p>
            <a:r>
              <a:rPr lang="ru-RU" sz="1600" u="sng" dirty="0" err="1"/>
              <a:t>Serial</a:t>
            </a:r>
            <a:r>
              <a:rPr lang="ru-RU" sz="1600" u="sng" dirty="0"/>
              <a:t> </a:t>
            </a:r>
            <a:r>
              <a:rPr lang="ru-RU" sz="1600" u="sng" dirty="0" err="1"/>
              <a:t>number</a:t>
            </a:r>
            <a:r>
              <a:rPr lang="ru-RU" sz="1600" dirty="0"/>
              <a:t>: Серийный номер файла зоны. 32-разрядное целое число, меняющееся при каждом обновлении зоны.</a:t>
            </a:r>
          </a:p>
          <a:p>
            <a:r>
              <a:rPr lang="ru-RU" sz="1600" u="sng" dirty="0" err="1"/>
              <a:t>Refresh</a:t>
            </a:r>
            <a:r>
              <a:rPr lang="ru-RU" sz="1600" dirty="0"/>
              <a:t>: Время (в секундах) ожидания вторичного DNS перед запросом SOA-записи с первичного. По истечении данного времени, вторичный DNS обращается к первичному, для получения копии текущей SOA-записи. Первичный DNS-сервер выполняет этот запрос. Вторичный DNS-сервер сравнивает полученный серийный номер зоны с имеющимся. Если они отличаются, то осуществляется запрос к первичному DNS-серверу на трансфер зоны.</a:t>
            </a:r>
          </a:p>
          <a:p>
            <a:r>
              <a:rPr lang="ru-RU" sz="1600" u="sng" dirty="0" err="1"/>
              <a:t>Retry</a:t>
            </a:r>
            <a:r>
              <a:rPr lang="ru-RU" sz="1600" dirty="0"/>
              <a:t>: Время в секундах, вступает в действие тогда, когда первичный DNS-сервер недоступен. Интервал времени, по истечении которого вторичный DNS должен повторить попытку синхронизировать описание зоны с первичным.</a:t>
            </a:r>
          </a:p>
          <a:p>
            <a:r>
              <a:rPr lang="ru-RU" sz="1600" u="sng" dirty="0" err="1"/>
              <a:t>Expire</a:t>
            </a:r>
            <a:r>
              <a:rPr lang="ru-RU" sz="1600" dirty="0"/>
              <a:t>: Время (в секундах), в течение которого вторичный DNS будет пытаться завершить синхронизацию зоны с первичным. Если это время истечет до того, как синхронизация осуществится, зона на вторичном DNS-сервере истечет, и он перестанет обслуживать запросы об этой зоне.</a:t>
            </a:r>
          </a:p>
          <a:p>
            <a:r>
              <a:rPr lang="ru-RU" sz="1600" u="sng" dirty="0" err="1"/>
              <a:t>Minimum</a:t>
            </a:r>
            <a:r>
              <a:rPr lang="ru-RU" sz="1600" u="sng" dirty="0"/>
              <a:t> TTL</a:t>
            </a:r>
            <a:r>
              <a:rPr lang="ru-RU" sz="1600" dirty="0"/>
              <a:t>: Минимальное время жизни, применяемое ко всем ресурсным записям зоны. Это значение применяется в ответах на запросы с целью проинформировать остальные серверы, сколько времени они могут хранить данные в кэше.</a:t>
            </a:r>
          </a:p>
          <a:p>
            <a:pPr marL="0" indent="0">
              <a:buNone/>
            </a:pPr>
            <a:r>
              <a:rPr lang="ru-RU" sz="1600" dirty="0"/>
              <a:t>Записи SOA </a:t>
            </a:r>
            <a:r>
              <a:rPr lang="ru-RU" sz="1600" u="sng" dirty="0"/>
              <a:t>обязательны</a:t>
            </a:r>
            <a:r>
              <a:rPr lang="ru-RU" sz="1600" dirty="0"/>
              <a:t> в файлах описания зон.</a:t>
            </a:r>
          </a:p>
          <a:p>
            <a:pPr marL="0" indent="0">
              <a:buNone/>
            </a:pPr>
            <a:endParaRPr lang="ru-RU" sz="1600" dirty="0"/>
          </a:p>
        </p:txBody>
      </p:sp>
      <p:pic>
        <p:nvPicPr>
          <p:cNvPr id="4" name="Рисунок 3"/>
          <p:cNvPicPr>
            <a:picLocks noChangeAspect="1"/>
          </p:cNvPicPr>
          <p:nvPr/>
        </p:nvPicPr>
        <p:blipFill>
          <a:blip r:embed="rId2"/>
          <a:stretch>
            <a:fillRect/>
          </a:stretch>
        </p:blipFill>
        <p:spPr>
          <a:xfrm>
            <a:off x="6096000" y="214296"/>
            <a:ext cx="5131064" cy="2057506"/>
          </a:xfrm>
          <a:prstGeom prst="rect">
            <a:avLst/>
          </a:prstGeom>
        </p:spPr>
      </p:pic>
    </p:spTree>
    <p:extLst>
      <p:ext uri="{BB962C8B-B14F-4D97-AF65-F5344CB8AC3E}">
        <p14:creationId xmlns:p14="http://schemas.microsoft.com/office/powerpoint/2010/main" val="2814188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690677"/>
          </a:xfrm>
        </p:spPr>
        <p:txBody>
          <a:bodyPr>
            <a:normAutofit fontScale="90000"/>
          </a:bodyPr>
          <a:lstStyle/>
          <a:p>
            <a:r>
              <a:rPr lang="ru-RU" b="1" dirty="0"/>
              <a:t>Где находятся главные </a:t>
            </a:r>
            <a:r>
              <a:rPr lang="en-US" b="1" dirty="0"/>
              <a:t>DNS-</a:t>
            </a:r>
            <a:r>
              <a:rPr lang="ru-RU" b="1" dirty="0"/>
              <a:t>серверы</a:t>
            </a:r>
            <a:endParaRPr lang="ru-RU" dirty="0"/>
          </a:p>
        </p:txBody>
      </p:sp>
      <p:sp>
        <p:nvSpPr>
          <p:cNvPr id="3" name="Объект 2"/>
          <p:cNvSpPr>
            <a:spLocks noGrp="1"/>
          </p:cNvSpPr>
          <p:nvPr>
            <p:ph idx="1"/>
          </p:nvPr>
        </p:nvSpPr>
        <p:spPr>
          <a:xfrm>
            <a:off x="838200" y="1253765"/>
            <a:ext cx="10515600" cy="4923198"/>
          </a:xfrm>
        </p:spPr>
        <p:txBody>
          <a:bodyPr>
            <a:normAutofit fontScale="85000" lnSpcReduction="20000"/>
          </a:bodyPr>
          <a:lstStyle/>
          <a:p>
            <a:pPr marL="0" indent="0" algn="just" fontAlgn="base">
              <a:buNone/>
            </a:pPr>
            <a:r>
              <a:rPr lang="ru-RU" dirty="0"/>
              <a:t>Всего существует 13 главных DNS-серверов. Они называются корневыми, и в них содержится информация обо всех сайтах интернета. Чтобы обезопасить Сеть и не потерять все данные разом из-за катаклизмов или чего-то ещё, у этих изначальных корневых есть полные копии, которые размещены в разных странах мира. Вместе с копиями количество корневых выросло до 123.</a:t>
            </a:r>
          </a:p>
          <a:p>
            <a:pPr marL="0" indent="0" algn="just" fontAlgn="base">
              <a:buNone/>
            </a:pPr>
            <a:r>
              <a:rPr lang="ru-RU" dirty="0"/>
              <a:t>Распределились они так:</a:t>
            </a:r>
          </a:p>
          <a:p>
            <a:pPr algn="just" fontAlgn="base"/>
            <a:r>
              <a:rPr lang="ru-RU" dirty="0"/>
              <a:t>40 — в Северной Америке;</a:t>
            </a:r>
          </a:p>
          <a:p>
            <a:pPr algn="just" fontAlgn="base"/>
            <a:r>
              <a:rPr lang="ru-RU" dirty="0"/>
              <a:t>35 — в Европе;</a:t>
            </a:r>
          </a:p>
          <a:p>
            <a:pPr algn="just" fontAlgn="base"/>
            <a:r>
              <a:rPr lang="ru-RU" dirty="0"/>
              <a:t>6 — в Южной Америке;</a:t>
            </a:r>
          </a:p>
          <a:p>
            <a:pPr algn="just" fontAlgn="base"/>
            <a:r>
              <a:rPr lang="ru-RU" dirty="0"/>
              <a:t>3 — в Африке;</a:t>
            </a:r>
          </a:p>
          <a:p>
            <a:pPr algn="just" fontAlgn="base"/>
            <a:r>
              <a:rPr lang="ru-RU" dirty="0"/>
              <a:t>39 — в остальных странах.</a:t>
            </a:r>
          </a:p>
          <a:p>
            <a:pPr marL="0" indent="0" algn="just" fontAlgn="base">
              <a:buNone/>
            </a:pPr>
            <a:r>
              <a:rPr lang="ru-RU" dirty="0"/>
              <a:t>Такое расположение связано с интенсивностью обращений к ним по регионам. В России находится пять копий корневых — в Москве, Санкт-Петербурге, Ростове-на-Дону, Новосибирске и Екатеринбурге.</a:t>
            </a:r>
          </a:p>
          <a:p>
            <a:pPr marL="0" indent="0" algn="just">
              <a:buNone/>
            </a:pPr>
            <a:endParaRPr lang="ru-RU" dirty="0"/>
          </a:p>
        </p:txBody>
      </p:sp>
    </p:spTree>
    <p:extLst>
      <p:ext uri="{BB962C8B-B14F-4D97-AF65-F5344CB8AC3E}">
        <p14:creationId xmlns:p14="http://schemas.microsoft.com/office/powerpoint/2010/main" val="2321718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b="1" dirty="0"/>
              <a:t>DNS </a:t>
            </a:r>
            <a:r>
              <a:rPr lang="ru-RU" b="1" dirty="0"/>
              <a:t>как протокол</a:t>
            </a:r>
            <a:endParaRPr lang="ru-RU" dirty="0"/>
          </a:p>
        </p:txBody>
      </p:sp>
      <p:sp>
        <p:nvSpPr>
          <p:cNvPr id="3" name="Объект 2"/>
          <p:cNvSpPr>
            <a:spLocks noGrp="1"/>
          </p:cNvSpPr>
          <p:nvPr>
            <p:ph idx="1"/>
          </p:nvPr>
        </p:nvSpPr>
        <p:spPr>
          <a:xfrm>
            <a:off x="838200" y="1517715"/>
            <a:ext cx="10515600" cy="4659248"/>
          </a:xfrm>
        </p:spPr>
        <p:txBody>
          <a:bodyPr>
            <a:normAutofit lnSpcReduction="10000"/>
          </a:bodyPr>
          <a:lstStyle/>
          <a:p>
            <a:pPr marL="0" indent="0" algn="just" fontAlgn="base">
              <a:buNone/>
            </a:pPr>
            <a:r>
              <a:rPr lang="ru-RU" dirty="0"/>
              <a:t>DNS принадлежит к семейству интернет-протоколов и </a:t>
            </a:r>
            <a:r>
              <a:rPr lang="ru-RU" u="sng" dirty="0">
                <a:hlinkClick r:id="rId2"/>
              </a:rPr>
              <a:t>модели OSI</a:t>
            </a:r>
            <a:r>
              <a:rPr lang="ru-RU" dirty="0"/>
              <a:t> (а именно прикладному уровню). Он по умолчанию содержится во всех операционных системах, чтобы компьютер мог общаться с другими машинами по сети. Плюс в него включены разные дополнительные </a:t>
            </a:r>
            <a:r>
              <a:rPr lang="ru-RU" dirty="0" err="1"/>
              <a:t>фичи</a:t>
            </a:r>
            <a:r>
              <a:rPr lang="ru-RU" dirty="0"/>
              <a:t> — для проверки целостности передаваемых данных и тому подобного.</a:t>
            </a:r>
          </a:p>
          <a:p>
            <a:pPr marL="0" indent="0" algn="just" fontAlgn="base">
              <a:buNone/>
            </a:pPr>
            <a:r>
              <a:rPr lang="ru-RU" dirty="0"/>
              <a:t>Например, в 2010 году в DNS встроили расширение DNS </a:t>
            </a:r>
            <a:r>
              <a:rPr lang="ru-RU" dirty="0" err="1"/>
              <a:t>Security</a:t>
            </a:r>
            <a:r>
              <a:rPr lang="ru-RU" dirty="0"/>
              <a:t> </a:t>
            </a:r>
            <a:r>
              <a:rPr lang="ru-RU" dirty="0" err="1"/>
              <a:t>Extensions</a:t>
            </a:r>
            <a:r>
              <a:rPr lang="ru-RU" dirty="0"/>
              <a:t> (DNSSEC), которое отвечает за то, чтобы браузер получал надёжную, проверенную информацию. Конечно, </a:t>
            </a:r>
            <a:r>
              <a:rPr lang="ru-RU" dirty="0" err="1"/>
              <a:t>фейковые</a:t>
            </a:r>
            <a:r>
              <a:rPr lang="ru-RU" dirty="0"/>
              <a:t> новости это расширение не отсеет, а вот атаки злоумышленников, которые могут попытаться подменить нужный вам IP-адрес на что-то своё негодяйское, отразит.</a:t>
            </a:r>
          </a:p>
          <a:p>
            <a:pPr marL="0" indent="0">
              <a:buNone/>
            </a:pPr>
            <a:endParaRPr lang="ru-RU" dirty="0"/>
          </a:p>
        </p:txBody>
      </p:sp>
    </p:spTree>
    <p:extLst>
      <p:ext uri="{BB962C8B-B14F-4D97-AF65-F5344CB8AC3E}">
        <p14:creationId xmlns:p14="http://schemas.microsoft.com/office/powerpoint/2010/main" val="2695351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556181"/>
            <a:ext cx="10515600" cy="5620782"/>
          </a:xfrm>
        </p:spPr>
        <p:txBody>
          <a:bodyPr>
            <a:normAutofit fontScale="92500" lnSpcReduction="20000"/>
          </a:bodyPr>
          <a:lstStyle/>
          <a:p>
            <a:pPr marL="0" indent="0" algn="just" fontAlgn="base">
              <a:buNone/>
            </a:pPr>
            <a:r>
              <a:rPr lang="ru-RU" dirty="0"/>
              <a:t>Система должна обладать следующими важными характеристиками:</a:t>
            </a:r>
          </a:p>
          <a:p>
            <a:pPr algn="just" fontAlgn="base"/>
            <a:r>
              <a:rPr lang="ru-RU" dirty="0" err="1"/>
              <a:t>распределённость</a:t>
            </a:r>
            <a:r>
              <a:rPr lang="ru-RU" dirty="0"/>
              <a:t> администрирования — за разные части системы отвечают разные люди или организации;</a:t>
            </a:r>
          </a:p>
          <a:p>
            <a:pPr algn="just" fontAlgn="base"/>
            <a:r>
              <a:rPr lang="ru-RU" dirty="0" err="1"/>
              <a:t>распределённость</a:t>
            </a:r>
            <a:r>
              <a:rPr lang="ru-RU" dirty="0"/>
              <a:t> хранения информации — каждый сервер должен хранить информацию, которая находится в его зоне ответственности, а также данные из корневых серверов;</a:t>
            </a:r>
          </a:p>
          <a:p>
            <a:pPr algn="just" fontAlgn="base"/>
            <a:r>
              <a:rPr lang="ru-RU" dirty="0"/>
              <a:t>кэширование информации — для обеспечения снижения нагрузки на DNS сервер может временно хранить данные не из своей зоны ответственности;</a:t>
            </a:r>
          </a:p>
          <a:p>
            <a:pPr algn="just" fontAlgn="base"/>
            <a:r>
              <a:rPr lang="ru-RU" dirty="0"/>
              <a:t>иерархическая структура — серверы объединены в древовидную структуру, где каждый вышестоящий может делегировать работу нижестоящим;</a:t>
            </a:r>
          </a:p>
          <a:p>
            <a:pPr algn="just" fontAlgn="base"/>
            <a:r>
              <a:rPr lang="ru-RU" dirty="0"/>
              <a:t>резервирование — одну и ту же информацию обслуживают несколько серверов, которые должны быть разделены физически и логически, чтобы обеспечить сохранность данных.</a:t>
            </a:r>
          </a:p>
          <a:p>
            <a:pPr marL="0" indent="0" algn="just" fontAlgn="base">
              <a:buNone/>
            </a:pPr>
            <a:r>
              <a:rPr lang="ru-RU" dirty="0"/>
              <a:t>Такая сложная структура нужна для поддержания порядка и эффективности работы интернета.</a:t>
            </a:r>
          </a:p>
          <a:p>
            <a:pPr marL="0" indent="0" algn="just">
              <a:buNone/>
            </a:pPr>
            <a:endParaRPr lang="ru-RU" dirty="0"/>
          </a:p>
        </p:txBody>
      </p:sp>
    </p:spTree>
    <p:extLst>
      <p:ext uri="{BB962C8B-B14F-4D97-AF65-F5344CB8AC3E}">
        <p14:creationId xmlns:p14="http://schemas.microsoft.com/office/powerpoint/2010/main" val="2132165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5679"/>
            <a:ext cx="10515600" cy="1325563"/>
          </a:xfrm>
        </p:spPr>
        <p:txBody>
          <a:bodyPr>
            <a:normAutofit/>
          </a:bodyPr>
          <a:lstStyle/>
          <a:p>
            <a:pPr fontAlgn="base"/>
            <a:r>
              <a:rPr lang="ru-RU" sz="4000" b="1" dirty="0"/>
              <a:t>Уровни доменов: из чего состоит доменное имя</a:t>
            </a:r>
            <a:endParaRPr lang="ru-RU" sz="4000" dirty="0"/>
          </a:p>
        </p:txBody>
      </p:sp>
      <p:sp>
        <p:nvSpPr>
          <p:cNvPr id="3" name="Объект 2"/>
          <p:cNvSpPr>
            <a:spLocks noGrp="1"/>
          </p:cNvSpPr>
          <p:nvPr>
            <p:ph idx="1"/>
          </p:nvPr>
        </p:nvSpPr>
        <p:spPr>
          <a:xfrm>
            <a:off x="838200" y="1341242"/>
            <a:ext cx="10515600" cy="4351338"/>
          </a:xfrm>
        </p:spPr>
        <p:txBody>
          <a:bodyPr>
            <a:normAutofit/>
          </a:bodyPr>
          <a:lstStyle/>
          <a:p>
            <a:pPr marL="0" indent="0">
              <a:buNone/>
            </a:pPr>
            <a:r>
              <a:rPr lang="ru-RU" sz="2400" dirty="0"/>
              <a:t>Доменное имя состоит из нескольких частей, разделённых точками. Эти части образуют иерархическую структуру, в которой уровни доменов перечисляются справа налево.</a:t>
            </a:r>
            <a:endParaRPr lang="en-US" sz="2400" dirty="0"/>
          </a:p>
          <a:p>
            <a:pPr marL="0" indent="0" fontAlgn="base">
              <a:buNone/>
            </a:pPr>
            <a:r>
              <a:rPr lang="ru-RU" b="1" dirty="0"/>
              <a:t>Домен нулевого уровня</a:t>
            </a:r>
            <a:endParaRPr lang="en-US" b="1" dirty="0"/>
          </a:p>
          <a:p>
            <a:pPr marL="0" indent="0" fontAlgn="base">
              <a:buNone/>
            </a:pPr>
            <a:endParaRPr lang="en-US" b="1" dirty="0"/>
          </a:p>
          <a:p>
            <a:pPr marL="0" indent="0" fontAlgn="base">
              <a:buNone/>
            </a:pPr>
            <a:endParaRPr lang="en-US" b="1" dirty="0"/>
          </a:p>
          <a:p>
            <a:pPr marL="0" indent="0" fontAlgn="base">
              <a:buNone/>
            </a:pPr>
            <a:endParaRPr lang="ru-RU" b="1" dirty="0"/>
          </a:p>
          <a:p>
            <a:pPr marL="0" indent="0">
              <a:buNone/>
            </a:pPr>
            <a:r>
              <a:rPr lang="ru-RU" sz="2400" dirty="0"/>
              <a:t>Домен нулевого уровня иначе называется корневым доменом (</a:t>
            </a:r>
            <a:r>
              <a:rPr lang="ru-RU" sz="2400" dirty="0" err="1"/>
              <a:t>root</a:t>
            </a:r>
            <a:r>
              <a:rPr lang="ru-RU" sz="2400" dirty="0"/>
              <a:t> </a:t>
            </a:r>
            <a:r>
              <a:rPr lang="ru-RU" sz="2400" dirty="0" err="1"/>
              <a:t>domain</a:t>
            </a:r>
            <a:r>
              <a:rPr lang="ru-RU" sz="2400" dirty="0"/>
              <a:t>). Он незаметен для пользователей, но нужен для работы системы DNS. Отмечается точкой, которая не отображается в браузере.</a:t>
            </a:r>
            <a:endParaRPr lang="ru-RU" sz="2000" dirty="0"/>
          </a:p>
        </p:txBody>
      </p:sp>
      <p:pic>
        <p:nvPicPr>
          <p:cNvPr id="9218" name="Picture 2" descr="https://skillbox.ru/upload/setka_images/13523415032023_5c20dcbcfbab07ab6c2df7e27444d5ac2afca569.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69932" y="2548975"/>
            <a:ext cx="6383867" cy="18529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963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448733"/>
            <a:ext cx="10515600" cy="5728230"/>
          </a:xfrm>
        </p:spPr>
        <p:txBody>
          <a:bodyPr>
            <a:normAutofit lnSpcReduction="10000"/>
          </a:bodyPr>
          <a:lstStyle/>
          <a:p>
            <a:pPr marL="0" indent="0">
              <a:buNone/>
            </a:pPr>
            <a:r>
              <a:rPr lang="ru-RU" b="1" dirty="0"/>
              <a:t>Домен первого уровня</a:t>
            </a: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fontAlgn="base">
              <a:buNone/>
            </a:pPr>
            <a:r>
              <a:rPr lang="ru-RU" dirty="0"/>
              <a:t>Домены первого уровня называют доменными зонами. Существует два основных их вида.</a:t>
            </a:r>
          </a:p>
          <a:p>
            <a:pPr marL="0" indent="0" fontAlgn="base">
              <a:buNone/>
            </a:pPr>
            <a:r>
              <a:rPr lang="ru-RU" b="1" dirty="0"/>
              <a:t>Национальные домены верхнего уровня</a:t>
            </a:r>
            <a:r>
              <a:rPr lang="ru-RU" dirty="0"/>
              <a:t> (англ. </a:t>
            </a:r>
            <a:r>
              <a:rPr lang="ru-RU" dirty="0" err="1"/>
              <a:t>country</a:t>
            </a:r>
            <a:r>
              <a:rPr lang="ru-RU" dirty="0"/>
              <a:t> </a:t>
            </a:r>
            <a:r>
              <a:rPr lang="ru-RU" dirty="0" err="1"/>
              <a:t>code</a:t>
            </a:r>
            <a:r>
              <a:rPr lang="ru-RU" dirty="0"/>
              <a:t> </a:t>
            </a:r>
            <a:r>
              <a:rPr lang="ru-RU" dirty="0" err="1"/>
              <a:t>Top-Level</a:t>
            </a:r>
            <a:r>
              <a:rPr lang="ru-RU" dirty="0"/>
              <a:t> </a:t>
            </a:r>
            <a:r>
              <a:rPr lang="ru-RU" dirty="0" err="1"/>
              <a:t>Domain</a:t>
            </a:r>
            <a:r>
              <a:rPr lang="ru-RU" dirty="0"/>
              <a:t> — </a:t>
            </a:r>
            <a:r>
              <a:rPr lang="ru-RU" dirty="0" err="1"/>
              <a:t>ccTLD</a:t>
            </a:r>
            <a:r>
              <a:rPr lang="ru-RU" dirty="0"/>
              <a:t>). Группа доменов, которая определяет принадлежность сайта к определённой стране или территории. Территории России соответствуют домены .</a:t>
            </a:r>
            <a:r>
              <a:rPr lang="ru-RU" dirty="0" err="1"/>
              <a:t>ru</a:t>
            </a:r>
            <a:r>
              <a:rPr lang="ru-RU" dirty="0"/>
              <a:t>, .</a:t>
            </a:r>
            <a:r>
              <a:rPr lang="ru-RU" dirty="0" err="1"/>
              <a:t>рф</a:t>
            </a:r>
            <a:r>
              <a:rPr lang="ru-RU" dirty="0"/>
              <a:t>, .</a:t>
            </a:r>
            <a:r>
              <a:rPr lang="ru-RU" dirty="0" err="1"/>
              <a:t>su</a:t>
            </a:r>
            <a:r>
              <a:rPr lang="ru-RU" dirty="0"/>
              <a:t>; Германии — .</a:t>
            </a:r>
            <a:r>
              <a:rPr lang="ru-RU" dirty="0" err="1"/>
              <a:t>de</a:t>
            </a:r>
            <a:r>
              <a:rPr lang="ru-RU" dirty="0"/>
              <a:t>; Великобритании — .</a:t>
            </a:r>
            <a:r>
              <a:rPr lang="ru-RU" dirty="0" err="1"/>
              <a:t>uk</a:t>
            </a:r>
            <a:r>
              <a:rPr lang="ru-RU" dirty="0"/>
              <a:t>.</a:t>
            </a:r>
          </a:p>
          <a:p>
            <a:pPr marL="0" indent="0">
              <a:buNone/>
            </a:pPr>
            <a:endParaRPr lang="ru-RU" b="1" dirty="0"/>
          </a:p>
          <a:p>
            <a:pPr marL="0" indent="0">
              <a:buNone/>
            </a:pPr>
            <a:endParaRPr lang="ru-RU" dirty="0"/>
          </a:p>
        </p:txBody>
      </p:sp>
      <p:pic>
        <p:nvPicPr>
          <p:cNvPr id="10242" name="Picture 2" descr="https://skillbox.ru/upload/setka_images/13523415032023_278cadb5c5a600fd354bbb4a32acf34407bf98f0.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1045185"/>
            <a:ext cx="6882353" cy="1997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33950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603315"/>
            <a:ext cx="10515600" cy="5573648"/>
          </a:xfrm>
        </p:spPr>
        <p:txBody>
          <a:bodyPr>
            <a:normAutofit fontScale="77500" lnSpcReduction="20000"/>
          </a:bodyPr>
          <a:lstStyle/>
          <a:p>
            <a:pPr marL="0" indent="0" fontAlgn="base">
              <a:buNone/>
            </a:pPr>
            <a:r>
              <a:rPr lang="ru-RU" dirty="0"/>
              <a:t>На практике это правило может не соблюдаться. За исключением некоторых зон, где домен могут зарегистрировать только граждане страны или местные организации:</a:t>
            </a:r>
          </a:p>
          <a:p>
            <a:pPr fontAlgn="base"/>
            <a:r>
              <a:rPr lang="ru-RU" dirty="0"/>
              <a:t>США (.</a:t>
            </a:r>
            <a:r>
              <a:rPr lang="ru-RU" dirty="0" err="1"/>
              <a:t>us</a:t>
            </a:r>
            <a:r>
              <a:rPr lang="ru-RU" dirty="0"/>
              <a:t>);</a:t>
            </a:r>
          </a:p>
          <a:p>
            <a:pPr fontAlgn="base"/>
            <a:r>
              <a:rPr lang="ru-RU" dirty="0"/>
              <a:t>Европейский союз (.</a:t>
            </a:r>
            <a:r>
              <a:rPr lang="ru-RU" dirty="0" err="1"/>
              <a:t>eu</a:t>
            </a:r>
            <a:r>
              <a:rPr lang="ru-RU" dirty="0"/>
              <a:t>);</a:t>
            </a:r>
          </a:p>
          <a:p>
            <a:pPr fontAlgn="base"/>
            <a:r>
              <a:rPr lang="ru-RU" dirty="0"/>
              <a:t>Эстония (.</a:t>
            </a:r>
            <a:r>
              <a:rPr lang="ru-RU" dirty="0" err="1"/>
              <a:t>ee</a:t>
            </a:r>
            <a:r>
              <a:rPr lang="ru-RU" dirty="0"/>
              <a:t>);</a:t>
            </a:r>
          </a:p>
          <a:p>
            <a:pPr fontAlgn="base"/>
            <a:r>
              <a:rPr lang="ru-RU" dirty="0"/>
              <a:t>Украина (.</a:t>
            </a:r>
            <a:r>
              <a:rPr lang="ru-RU" dirty="0" err="1"/>
              <a:t>ua</a:t>
            </a:r>
            <a:r>
              <a:rPr lang="ru-RU" dirty="0"/>
              <a:t>);</a:t>
            </a:r>
          </a:p>
          <a:p>
            <a:pPr fontAlgn="base"/>
            <a:r>
              <a:rPr lang="ru-RU" dirty="0"/>
              <a:t>Азербайджан (.</a:t>
            </a:r>
            <a:r>
              <a:rPr lang="ru-RU" dirty="0" err="1"/>
              <a:t>az</a:t>
            </a:r>
            <a:r>
              <a:rPr lang="ru-RU" dirty="0"/>
              <a:t>);</a:t>
            </a:r>
          </a:p>
          <a:p>
            <a:pPr fontAlgn="base"/>
            <a:r>
              <a:rPr lang="ru-RU" dirty="0"/>
              <a:t>Ирландия (.</a:t>
            </a:r>
            <a:r>
              <a:rPr lang="ru-RU" dirty="0" err="1"/>
              <a:t>ie</a:t>
            </a:r>
            <a:r>
              <a:rPr lang="ru-RU" dirty="0"/>
              <a:t>).</a:t>
            </a:r>
          </a:p>
          <a:p>
            <a:pPr marL="0" indent="0" fontAlgn="base">
              <a:buNone/>
            </a:pPr>
            <a:r>
              <a:rPr lang="ru-RU" b="1" dirty="0"/>
              <a:t>Общие домены верхнего уровня</a:t>
            </a:r>
            <a:r>
              <a:rPr lang="ru-RU" dirty="0"/>
              <a:t> (англ. </a:t>
            </a:r>
            <a:r>
              <a:rPr lang="ru-RU" dirty="0" err="1"/>
              <a:t>generic</a:t>
            </a:r>
            <a:r>
              <a:rPr lang="ru-RU" dirty="0"/>
              <a:t> </a:t>
            </a:r>
            <a:r>
              <a:rPr lang="ru-RU" dirty="0" err="1"/>
              <a:t>Top-Level</a:t>
            </a:r>
            <a:r>
              <a:rPr lang="ru-RU" dirty="0"/>
              <a:t> </a:t>
            </a:r>
            <a:r>
              <a:rPr lang="ru-RU" dirty="0" err="1"/>
              <a:t>Domain</a:t>
            </a:r>
            <a:r>
              <a:rPr lang="ru-RU" dirty="0"/>
              <a:t> — </a:t>
            </a:r>
            <a:r>
              <a:rPr lang="ru-RU" dirty="0" err="1"/>
              <a:t>gTLD</a:t>
            </a:r>
            <a:r>
              <a:rPr lang="ru-RU" dirty="0"/>
              <a:t>). Домены, определяющие тематику сайта:</a:t>
            </a:r>
          </a:p>
          <a:p>
            <a:pPr fontAlgn="base"/>
            <a:r>
              <a:rPr lang="ru-RU" dirty="0"/>
              <a:t>.</a:t>
            </a:r>
            <a:r>
              <a:rPr lang="ru-RU" dirty="0" err="1"/>
              <a:t>com</a:t>
            </a:r>
            <a:r>
              <a:rPr lang="ru-RU" dirty="0"/>
              <a:t> — для коммерческих организаций,</a:t>
            </a:r>
          </a:p>
          <a:p>
            <a:pPr fontAlgn="base"/>
            <a:r>
              <a:rPr lang="ru-RU" dirty="0"/>
              <a:t>.</a:t>
            </a:r>
            <a:r>
              <a:rPr lang="ru-RU" dirty="0" err="1"/>
              <a:t>info</a:t>
            </a:r>
            <a:r>
              <a:rPr lang="ru-RU" dirty="0"/>
              <a:t> — для информационных сайтов,</a:t>
            </a:r>
          </a:p>
          <a:p>
            <a:pPr fontAlgn="base"/>
            <a:r>
              <a:rPr lang="ru-RU" dirty="0"/>
              <a:t>.</a:t>
            </a:r>
            <a:r>
              <a:rPr lang="ru-RU" dirty="0" err="1"/>
              <a:t>biz</a:t>
            </a:r>
            <a:r>
              <a:rPr lang="ru-RU" dirty="0"/>
              <a:t> — для бизнес-структур,</a:t>
            </a:r>
          </a:p>
          <a:p>
            <a:pPr fontAlgn="base"/>
            <a:r>
              <a:rPr lang="ru-RU" dirty="0"/>
              <a:t>.</a:t>
            </a:r>
            <a:r>
              <a:rPr lang="ru-RU" dirty="0" err="1"/>
              <a:t>name</a:t>
            </a:r>
            <a:r>
              <a:rPr lang="ru-RU" dirty="0"/>
              <a:t> — для персональных сайтов</a:t>
            </a:r>
          </a:p>
          <a:p>
            <a:pPr fontAlgn="base"/>
            <a:r>
              <a:rPr lang="ru-RU" dirty="0"/>
              <a:t>.</a:t>
            </a:r>
            <a:r>
              <a:rPr lang="ru-RU" dirty="0" err="1"/>
              <a:t>org</a:t>
            </a:r>
            <a:r>
              <a:rPr lang="ru-RU" dirty="0"/>
              <a:t> — для некоммерческих организаций.</a:t>
            </a:r>
          </a:p>
          <a:p>
            <a:pPr marL="0" indent="0">
              <a:buNone/>
            </a:pPr>
            <a:endParaRPr lang="ru-RU" dirty="0"/>
          </a:p>
        </p:txBody>
      </p:sp>
    </p:spTree>
    <p:extLst>
      <p:ext uri="{BB962C8B-B14F-4D97-AF65-F5344CB8AC3E}">
        <p14:creationId xmlns:p14="http://schemas.microsoft.com/office/powerpoint/2010/main" val="37785013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537328"/>
            <a:ext cx="10515600" cy="6023728"/>
          </a:xfrm>
        </p:spPr>
        <p:txBody>
          <a:bodyPr>
            <a:normAutofit fontScale="92500" lnSpcReduction="10000"/>
          </a:bodyPr>
          <a:lstStyle/>
          <a:p>
            <a:pPr marL="0" indent="0">
              <a:buNone/>
            </a:pPr>
            <a:r>
              <a:rPr lang="ru-RU" b="1" dirty="0"/>
              <a:t>Домен второго уровня</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just" fontAlgn="base">
              <a:buNone/>
            </a:pPr>
            <a:r>
              <a:rPr lang="ru-RU" dirty="0"/>
              <a:t>Домен второго уровня называют основным доменом — это название сайта, придуманное его создателем.</a:t>
            </a:r>
          </a:p>
          <a:p>
            <a:pPr marL="0" indent="0" algn="just" fontAlgn="base">
              <a:buNone/>
            </a:pPr>
            <a:r>
              <a:rPr lang="ru-RU" dirty="0"/>
              <a:t>Сочетание основного домена и доменной зоны должно быть уникальным. С точки зрения DNS, skillbox.ru и skillbox.com — это два разных имени. Из-за этого владельцам сайтов рекомендуют регистрировать домен в разных зонах. Такое решение позволяет получить преимущество в поисковой выдаче.</a:t>
            </a:r>
          </a:p>
          <a:p>
            <a:pPr marL="0" indent="0" algn="just" fontAlgn="base">
              <a:buNone/>
            </a:pPr>
            <a:r>
              <a:rPr lang="ru-RU" dirty="0"/>
              <a:t>Регистрацией доменов второго уровня занимаются аккредитованные ICANN организации. Они могут регистрировать новые домены или продлевать действие существующих.</a:t>
            </a:r>
          </a:p>
          <a:p>
            <a:pPr marL="0" indent="0">
              <a:buNone/>
            </a:pPr>
            <a:endParaRPr lang="en-US" dirty="0"/>
          </a:p>
        </p:txBody>
      </p:sp>
      <p:pic>
        <p:nvPicPr>
          <p:cNvPr id="11266" name="Picture 2" descr="https://skillbox.ru/upload/setka_images/13523415032023_bd473197c461193ea9b6d317f4c236910d065887.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1073110"/>
            <a:ext cx="5387975" cy="1563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53836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336884"/>
            <a:ext cx="10515600" cy="6063916"/>
          </a:xfrm>
        </p:spPr>
        <p:txBody>
          <a:bodyPr>
            <a:normAutofit fontScale="70000" lnSpcReduction="20000"/>
          </a:bodyPr>
          <a:lstStyle/>
          <a:p>
            <a:pPr marL="0" indent="0" algn="just" fontAlgn="base">
              <a:buNone/>
            </a:pPr>
            <a:r>
              <a:rPr lang="ru-RU" sz="4600" b="1" dirty="0"/>
              <a:t>Домен третьего уровня</a:t>
            </a:r>
          </a:p>
          <a:p>
            <a:pPr marL="0" indent="0" algn="just" fontAlgn="base">
              <a:buNone/>
            </a:pPr>
            <a:endParaRPr lang="en-US" dirty="0"/>
          </a:p>
          <a:p>
            <a:pPr marL="0" indent="0" algn="just" fontAlgn="base">
              <a:buNone/>
            </a:pPr>
            <a:endParaRPr lang="en-US" dirty="0"/>
          </a:p>
          <a:p>
            <a:pPr marL="0" indent="0" algn="just" fontAlgn="base">
              <a:buNone/>
            </a:pPr>
            <a:endParaRPr lang="en-US" dirty="0"/>
          </a:p>
          <a:p>
            <a:pPr marL="0" indent="0" algn="just" fontAlgn="base">
              <a:buNone/>
            </a:pPr>
            <a:endParaRPr lang="en-US" dirty="0"/>
          </a:p>
          <a:p>
            <a:pPr marL="0" indent="0" algn="just" fontAlgn="base">
              <a:buNone/>
            </a:pPr>
            <a:endParaRPr lang="en-US" dirty="0"/>
          </a:p>
          <a:p>
            <a:pPr marL="0" indent="0" algn="just" fontAlgn="base">
              <a:buNone/>
            </a:pPr>
            <a:endParaRPr lang="en-US" dirty="0"/>
          </a:p>
          <a:p>
            <a:pPr marL="0" indent="0" algn="just" fontAlgn="base">
              <a:buNone/>
            </a:pPr>
            <a:r>
              <a:rPr lang="ru-RU" dirty="0"/>
              <a:t>Домен третьего уровня ещё называют </a:t>
            </a:r>
            <a:r>
              <a:rPr lang="ru-RU" dirty="0" err="1"/>
              <a:t>поддоменом</a:t>
            </a:r>
            <a:r>
              <a:rPr lang="ru-RU" dirty="0"/>
              <a:t> или </a:t>
            </a:r>
            <a:r>
              <a:rPr lang="ru-RU" dirty="0" err="1"/>
              <a:t>субдоменом</a:t>
            </a:r>
            <a:r>
              <a:rPr lang="ru-RU" dirty="0"/>
              <a:t>. Он базируется на домене второго уровня.</a:t>
            </a:r>
          </a:p>
          <a:p>
            <a:pPr marL="0" indent="0" algn="just" fontAlgn="base">
              <a:buNone/>
            </a:pPr>
            <a:r>
              <a:rPr lang="ru-RU" dirty="0"/>
              <a:t>В основном домен третьего уровня используется для логичного разделения сайта на части. Они становятся самостоятельными ресурсами и приобретают все свойства отдельного сайта.</a:t>
            </a:r>
          </a:p>
          <a:p>
            <a:pPr marL="0" indent="0" algn="just" fontAlgn="base">
              <a:buNone/>
            </a:pPr>
            <a:r>
              <a:rPr lang="ru-RU" dirty="0"/>
              <a:t>Примером может служить сайт wikipedia.org. Его части на разных языках оформлены как </a:t>
            </a:r>
            <a:r>
              <a:rPr lang="ru-RU" dirty="0" err="1"/>
              <a:t>субдомены</a:t>
            </a:r>
            <a:r>
              <a:rPr lang="ru-RU" dirty="0"/>
              <a:t>. Есть сайт ru.wikipedia.org для русскоязычной аудитории. Есть сайт en.wikipedia.org — на английском. И так для каждого языка.</a:t>
            </a:r>
            <a:endParaRPr lang="en-US" dirty="0"/>
          </a:p>
          <a:p>
            <a:pPr marL="0" indent="0" algn="just" fontAlgn="base">
              <a:buNone/>
            </a:pPr>
            <a:r>
              <a:rPr lang="ru-RU" dirty="0" err="1"/>
              <a:t>Субдомены</a:t>
            </a:r>
            <a:r>
              <a:rPr lang="ru-RU" dirty="0"/>
              <a:t> также используют для оформления форума сайта, отдельных видов услуг или региональных представительств.</a:t>
            </a:r>
          </a:p>
          <a:p>
            <a:pPr marL="0" indent="0" algn="just" fontAlgn="base">
              <a:buNone/>
            </a:pPr>
            <a:r>
              <a:rPr lang="ru-RU" dirty="0"/>
              <a:t>Также существуют четвёртые, пятые и последующие уровни доменных имён. Но их редко используют, так как имя сайта становится слишком длинным. Его сложно запомнить и долго набирать.</a:t>
            </a:r>
          </a:p>
          <a:p>
            <a:pPr marL="0" indent="0" algn="just" fontAlgn="base">
              <a:buNone/>
            </a:pPr>
            <a:endParaRPr lang="ru-RU" dirty="0"/>
          </a:p>
          <a:p>
            <a:pPr marL="0" indent="0" algn="just">
              <a:buNone/>
            </a:pPr>
            <a:endParaRPr lang="ru-RU" dirty="0"/>
          </a:p>
        </p:txBody>
      </p:sp>
      <p:pic>
        <p:nvPicPr>
          <p:cNvPr id="12290" name="Picture 2" descr="https://skillbox.ru/upload/setka_images/13523415032023_e3039f248dd555899a396179b51a05be377f997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861817"/>
            <a:ext cx="5743179" cy="1667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00054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Что запомнить</a:t>
            </a:r>
            <a:endParaRPr lang="ru-RU" dirty="0"/>
          </a:p>
        </p:txBody>
      </p:sp>
      <p:sp>
        <p:nvSpPr>
          <p:cNvPr id="3" name="Объект 2"/>
          <p:cNvSpPr>
            <a:spLocks noGrp="1"/>
          </p:cNvSpPr>
          <p:nvPr>
            <p:ph idx="1"/>
          </p:nvPr>
        </p:nvSpPr>
        <p:spPr/>
        <p:txBody>
          <a:bodyPr>
            <a:normAutofit/>
          </a:bodyPr>
          <a:lstStyle/>
          <a:p>
            <a:pPr fontAlgn="base"/>
            <a:r>
              <a:rPr lang="ru-RU" dirty="0"/>
              <a:t>DNS — это проводник в интернете. Он помогает браузерам находить адреса сайтов и успешно подключаться к ним.</a:t>
            </a:r>
          </a:p>
          <a:p>
            <a:pPr fontAlgn="base"/>
            <a:r>
              <a:rPr lang="ru-RU" dirty="0"/>
              <a:t>DNS состоит из двух частей: протокола и серверов. Протокол отвечает за передачу данных и поиск IP-адресов сайтов, а серверы хранят всю информацию о них.</a:t>
            </a:r>
          </a:p>
          <a:p>
            <a:pPr fontAlgn="base"/>
            <a:r>
              <a:rPr lang="ru-RU" dirty="0"/>
              <a:t>На самих серверах данные хранятся в упорядоченном виде. Там есть разные виды записей, которые говорят о том, что это за сайт, чтобы сделать поиск удобнее.</a:t>
            </a:r>
          </a:p>
          <a:p>
            <a:pPr marL="0" indent="0">
              <a:buNone/>
            </a:pPr>
            <a:endParaRPr lang="ru-RU" dirty="0"/>
          </a:p>
        </p:txBody>
      </p:sp>
    </p:spTree>
    <p:extLst>
      <p:ext uri="{BB962C8B-B14F-4D97-AF65-F5344CB8AC3E}">
        <p14:creationId xmlns:p14="http://schemas.microsoft.com/office/powerpoint/2010/main" val="2792594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2499</Words>
  <Application>Microsoft Office PowerPoint</Application>
  <PresentationFormat>Широкоэкранный</PresentationFormat>
  <Paragraphs>125</Paragraphs>
  <Slides>26</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26</vt:i4>
      </vt:variant>
    </vt:vector>
  </HeadingPairs>
  <TitlesOfParts>
    <vt:vector size="30" baseType="lpstr">
      <vt:lpstr>Arial</vt:lpstr>
      <vt:lpstr>Calibri</vt:lpstr>
      <vt:lpstr>Calibri Light</vt:lpstr>
      <vt:lpstr>Тема Office</vt:lpstr>
      <vt:lpstr>DNS</vt:lpstr>
      <vt:lpstr>Что такое DNS </vt:lpstr>
      <vt:lpstr>Презентация PowerPoint</vt:lpstr>
      <vt:lpstr>Презентация PowerPoint</vt:lpstr>
      <vt:lpstr>Как работает DNS</vt:lpstr>
      <vt:lpstr>Презентация PowerPoint</vt:lpstr>
      <vt:lpstr>Презентация PowerPoint</vt:lpstr>
      <vt:lpstr>Презентация PowerPoint</vt:lpstr>
      <vt:lpstr>Презентация PowerPoint</vt:lpstr>
      <vt:lpstr>Что такое DNS-сервер</vt:lpstr>
      <vt:lpstr>Зачем нужны DNS-серверы и какими они бывают</vt:lpstr>
      <vt:lpstr>Презентация PowerPoint</vt:lpstr>
      <vt:lpstr>Презентация PowerPoint</vt:lpstr>
      <vt:lpstr>Презентация PowerPoint</vt:lpstr>
      <vt:lpstr>Что такое типы записей DNS-сервера</vt:lpstr>
      <vt:lpstr>Презентация PowerPoint</vt:lpstr>
      <vt:lpstr>Формат SOA-записи</vt:lpstr>
      <vt:lpstr>Где находятся главные DNS-серверы</vt:lpstr>
      <vt:lpstr>DNS как протокол</vt:lpstr>
      <vt:lpstr>Презентация PowerPoint</vt:lpstr>
      <vt:lpstr>Уровни доменов: из чего состоит доменное имя</vt:lpstr>
      <vt:lpstr>Презентация PowerPoint</vt:lpstr>
      <vt:lpstr>Презентация PowerPoint</vt:lpstr>
      <vt:lpstr>Презентация PowerPoint</vt:lpstr>
      <vt:lpstr>Презентация PowerPoint</vt:lpstr>
      <vt:lpstr>Что запомнить</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DNS</dc:title>
  <dc:creator>Ksenia Efremova</dc:creator>
  <cp:lastModifiedBy>Дима Кривополенов</cp:lastModifiedBy>
  <cp:revision>9</cp:revision>
  <dcterms:created xsi:type="dcterms:W3CDTF">2023-09-11T06:42:10Z</dcterms:created>
  <dcterms:modified xsi:type="dcterms:W3CDTF">2024-09-08T18:22:34Z</dcterms:modified>
</cp:coreProperties>
</file>