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4" r:id="rId25"/>
    <p:sldId id="281" r:id="rId26"/>
    <p:sldId id="282" r:id="rId27"/>
    <p:sldId id="283" r:id="rId28"/>
    <p:sldId id="280" r:id="rId29"/>
    <p:sldId id="285" r:id="rId30"/>
    <p:sldId id="286" r:id="rId31"/>
    <p:sldId id="287" r:id="rId32"/>
    <p:sldId id="278" r:id="rId33"/>
    <p:sldId id="292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288" r:id="rId45"/>
    <p:sldId id="289" r:id="rId46"/>
    <p:sldId id="290" r:id="rId47"/>
    <p:sldId id="302" r:id="rId48"/>
    <p:sldId id="303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89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1BC08-06FA-4942-B8B9-CBF845BB05D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73F086D-C55A-470E-9952-F5DC63AD2CE5}">
      <dgm:prSet phldrT="[Текст]" custT="1"/>
      <dgm:spPr/>
      <dgm:t>
        <a:bodyPr/>
        <a:lstStyle/>
        <a:p>
          <a:pPr>
            <a:lnSpc>
              <a:spcPts val="2000"/>
            </a:lnSpc>
          </a:pPr>
          <a:r>
            <a:rPr lang="ru-RU" sz="2400" b="1" dirty="0" smtClean="0">
              <a:solidFill>
                <a:schemeClr val="bg1"/>
              </a:solidFill>
            </a:rPr>
            <a:t>Передача данных между процессами на хостах</a:t>
          </a:r>
        </a:p>
      </dgm:t>
    </dgm:pt>
    <dgm:pt modelId="{4053FB74-4595-4AC6-9ECA-67ACA7DD1B1A}" type="parTrans" cxnId="{22954A1F-20FA-49CA-8659-F43F69E4AFD6}">
      <dgm:prSet/>
      <dgm:spPr/>
      <dgm:t>
        <a:bodyPr/>
        <a:lstStyle/>
        <a:p>
          <a:pPr>
            <a:lnSpc>
              <a:spcPts val="2000"/>
            </a:lnSpc>
          </a:pPr>
          <a:endParaRPr lang="ru-RU" sz="2000" b="1">
            <a:solidFill>
              <a:schemeClr val="bg1"/>
            </a:solidFill>
          </a:endParaRPr>
        </a:p>
      </dgm:t>
    </dgm:pt>
    <dgm:pt modelId="{BF799214-AC53-45E2-BAC8-AA67EF591904}" type="sibTrans" cxnId="{22954A1F-20FA-49CA-8659-F43F69E4AFD6}">
      <dgm:prSet/>
      <dgm:spPr/>
      <dgm:t>
        <a:bodyPr/>
        <a:lstStyle/>
        <a:p>
          <a:pPr>
            <a:lnSpc>
              <a:spcPts val="2000"/>
            </a:lnSpc>
          </a:pPr>
          <a:endParaRPr lang="ru-RU" sz="2000" b="1">
            <a:solidFill>
              <a:schemeClr val="bg1"/>
            </a:solidFill>
          </a:endParaRPr>
        </a:p>
      </dgm:t>
    </dgm:pt>
    <dgm:pt modelId="{34497457-B675-431B-8CC8-C31DFF41EA78}">
      <dgm:prSet phldrT="[Текст]" custT="1"/>
      <dgm:spPr/>
      <dgm:t>
        <a:bodyPr/>
        <a:lstStyle/>
        <a:p>
          <a:pPr>
            <a:lnSpc>
              <a:spcPts val="2000"/>
            </a:lnSpc>
          </a:pPr>
          <a:r>
            <a:rPr lang="ru-RU" sz="2400" b="1" dirty="0" smtClean="0">
              <a:solidFill>
                <a:schemeClr val="bg1"/>
              </a:solidFill>
            </a:rPr>
            <a:t>Адресация</a:t>
          </a:r>
          <a:endParaRPr lang="ru-RU" sz="2400" b="1" dirty="0">
            <a:solidFill>
              <a:schemeClr val="bg1"/>
            </a:solidFill>
          </a:endParaRPr>
        </a:p>
      </dgm:t>
    </dgm:pt>
    <dgm:pt modelId="{231792E9-96BA-4389-B092-D536358BFE40}" type="parTrans" cxnId="{D571FA4D-E4BD-403A-9B06-32618588C803}">
      <dgm:prSet/>
      <dgm:spPr/>
      <dgm:t>
        <a:bodyPr/>
        <a:lstStyle/>
        <a:p>
          <a:pPr>
            <a:lnSpc>
              <a:spcPts val="2000"/>
            </a:lnSpc>
          </a:pPr>
          <a:endParaRPr lang="ru-RU" sz="2000" b="1">
            <a:solidFill>
              <a:schemeClr val="bg1"/>
            </a:solidFill>
          </a:endParaRPr>
        </a:p>
      </dgm:t>
    </dgm:pt>
    <dgm:pt modelId="{65E5D5C0-EE8B-4481-9F0D-7ED7975F8E5E}" type="sibTrans" cxnId="{D571FA4D-E4BD-403A-9B06-32618588C803}">
      <dgm:prSet/>
      <dgm:spPr/>
      <dgm:t>
        <a:bodyPr/>
        <a:lstStyle/>
        <a:p>
          <a:pPr>
            <a:lnSpc>
              <a:spcPts val="2000"/>
            </a:lnSpc>
          </a:pPr>
          <a:endParaRPr lang="ru-RU" sz="2000" b="1">
            <a:solidFill>
              <a:schemeClr val="bg1"/>
            </a:solidFill>
          </a:endParaRPr>
        </a:p>
      </dgm:t>
    </dgm:pt>
    <dgm:pt modelId="{BD6105E3-0387-4B7C-A12D-A58E07D960F3}">
      <dgm:prSet phldrT="[Текст]" custT="1"/>
      <dgm:spPr/>
      <dgm:t>
        <a:bodyPr/>
        <a:lstStyle/>
        <a:p>
          <a:pPr>
            <a:lnSpc>
              <a:spcPts val="2000"/>
            </a:lnSpc>
          </a:pPr>
          <a:r>
            <a:rPr lang="ru-RU" sz="2400" b="1" dirty="0" smtClean="0">
              <a:solidFill>
                <a:schemeClr val="bg1"/>
              </a:solidFill>
            </a:rPr>
            <a:t>Предоставление нужного уровня надежности передачи данных, не зависимого от надежности сети</a:t>
          </a:r>
          <a:endParaRPr lang="ru-RU" sz="2400" b="1" dirty="0">
            <a:solidFill>
              <a:schemeClr val="bg1"/>
            </a:solidFill>
          </a:endParaRPr>
        </a:p>
      </dgm:t>
    </dgm:pt>
    <dgm:pt modelId="{42F618DA-EEDC-47B3-A521-AEA0A2AF62DC}" type="parTrans" cxnId="{1015C6E1-E2D1-4637-A5C6-449B56195730}">
      <dgm:prSet/>
      <dgm:spPr/>
      <dgm:t>
        <a:bodyPr/>
        <a:lstStyle/>
        <a:p>
          <a:pPr>
            <a:lnSpc>
              <a:spcPts val="2000"/>
            </a:lnSpc>
          </a:pPr>
          <a:endParaRPr lang="ru-RU" sz="2000" b="1">
            <a:solidFill>
              <a:schemeClr val="bg1"/>
            </a:solidFill>
          </a:endParaRPr>
        </a:p>
      </dgm:t>
    </dgm:pt>
    <dgm:pt modelId="{6861C118-F4A3-45FD-9934-2C4954D65BC8}" type="sibTrans" cxnId="{1015C6E1-E2D1-4637-A5C6-449B56195730}">
      <dgm:prSet/>
      <dgm:spPr/>
      <dgm:t>
        <a:bodyPr/>
        <a:lstStyle/>
        <a:p>
          <a:pPr>
            <a:lnSpc>
              <a:spcPts val="2000"/>
            </a:lnSpc>
          </a:pPr>
          <a:endParaRPr lang="ru-RU" sz="2000" b="1">
            <a:solidFill>
              <a:schemeClr val="bg1"/>
            </a:solidFill>
          </a:endParaRPr>
        </a:p>
      </dgm:t>
    </dgm:pt>
    <dgm:pt modelId="{11CDC3D8-77D1-4A4D-89D8-4465E2ACBF91}" type="pres">
      <dgm:prSet presAssocID="{4451BC08-06FA-4942-B8B9-CBF845BB05DF}" presName="Name0" presStyleCnt="0">
        <dgm:presLayoutVars>
          <dgm:chMax val="7"/>
          <dgm:chPref val="7"/>
          <dgm:dir/>
        </dgm:presLayoutVars>
      </dgm:prSet>
      <dgm:spPr/>
    </dgm:pt>
    <dgm:pt modelId="{282B158A-6CB7-44B4-9D1B-A66944CC228E}" type="pres">
      <dgm:prSet presAssocID="{4451BC08-06FA-4942-B8B9-CBF845BB05DF}" presName="Name1" presStyleCnt="0"/>
      <dgm:spPr/>
    </dgm:pt>
    <dgm:pt modelId="{489B027A-A60A-4720-A2EA-F6AF6CAF7BE2}" type="pres">
      <dgm:prSet presAssocID="{4451BC08-06FA-4942-B8B9-CBF845BB05DF}" presName="cycle" presStyleCnt="0"/>
      <dgm:spPr/>
    </dgm:pt>
    <dgm:pt modelId="{20E3ED1F-224F-4500-A095-FCAF9ED1F752}" type="pres">
      <dgm:prSet presAssocID="{4451BC08-06FA-4942-B8B9-CBF845BB05DF}" presName="srcNode" presStyleLbl="node1" presStyleIdx="0" presStyleCnt="3"/>
      <dgm:spPr/>
    </dgm:pt>
    <dgm:pt modelId="{93DD81AC-FB8A-446B-A604-0886C4E8813F}" type="pres">
      <dgm:prSet presAssocID="{4451BC08-06FA-4942-B8B9-CBF845BB05DF}" presName="conn" presStyleLbl="parChTrans1D2" presStyleIdx="0" presStyleCnt="1"/>
      <dgm:spPr/>
    </dgm:pt>
    <dgm:pt modelId="{6F005D3F-E193-44C0-A0BF-D355584D97A6}" type="pres">
      <dgm:prSet presAssocID="{4451BC08-06FA-4942-B8B9-CBF845BB05DF}" presName="extraNode" presStyleLbl="node1" presStyleIdx="0" presStyleCnt="3"/>
      <dgm:spPr/>
    </dgm:pt>
    <dgm:pt modelId="{FC198BD4-F58C-4FCE-BEBD-D96FEE83A959}" type="pres">
      <dgm:prSet presAssocID="{4451BC08-06FA-4942-B8B9-CBF845BB05DF}" presName="dstNode" presStyleLbl="node1" presStyleIdx="0" presStyleCnt="3"/>
      <dgm:spPr/>
    </dgm:pt>
    <dgm:pt modelId="{8C5B1F6A-84BA-4E2C-8A02-AF70ED160219}" type="pres">
      <dgm:prSet presAssocID="{573F086D-C55A-470E-9952-F5DC63AD2CE5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7CAF57-DA40-4267-8E92-7462F66C8010}" type="pres">
      <dgm:prSet presAssocID="{573F086D-C55A-470E-9952-F5DC63AD2CE5}" presName="accent_1" presStyleCnt="0"/>
      <dgm:spPr/>
    </dgm:pt>
    <dgm:pt modelId="{367CA1C2-8FAF-4234-BEED-CB0A143ECC92}" type="pres">
      <dgm:prSet presAssocID="{573F086D-C55A-470E-9952-F5DC63AD2CE5}" presName="accentRepeatNode" presStyleLbl="solidFgAcc1" presStyleIdx="0" presStyleCnt="3"/>
      <dgm:spPr/>
    </dgm:pt>
    <dgm:pt modelId="{6CC048DC-AC90-448E-945C-D9DC5DDC927E}" type="pres">
      <dgm:prSet presAssocID="{34497457-B675-431B-8CC8-C31DFF41EA78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0BA22B-9602-4F79-9D3B-6B9A31821A96}" type="pres">
      <dgm:prSet presAssocID="{34497457-B675-431B-8CC8-C31DFF41EA78}" presName="accent_2" presStyleCnt="0"/>
      <dgm:spPr/>
    </dgm:pt>
    <dgm:pt modelId="{7603D85B-961D-4589-B2F7-72E27996BDE5}" type="pres">
      <dgm:prSet presAssocID="{34497457-B675-431B-8CC8-C31DFF41EA78}" presName="accentRepeatNode" presStyleLbl="solidFgAcc1" presStyleIdx="1" presStyleCnt="3"/>
      <dgm:spPr/>
    </dgm:pt>
    <dgm:pt modelId="{3383A5B5-E999-4365-95B1-4E70DAAA3EAA}" type="pres">
      <dgm:prSet presAssocID="{BD6105E3-0387-4B7C-A12D-A58E07D960F3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5A4701-1C0F-4A76-8DEB-0F4AFB3E3777}" type="pres">
      <dgm:prSet presAssocID="{BD6105E3-0387-4B7C-A12D-A58E07D960F3}" presName="accent_3" presStyleCnt="0"/>
      <dgm:spPr/>
    </dgm:pt>
    <dgm:pt modelId="{1876F317-9B54-400F-880A-6278CCB16638}" type="pres">
      <dgm:prSet presAssocID="{BD6105E3-0387-4B7C-A12D-A58E07D960F3}" presName="accentRepeatNode" presStyleLbl="solidFgAcc1" presStyleIdx="2" presStyleCnt="3"/>
      <dgm:spPr/>
    </dgm:pt>
  </dgm:ptLst>
  <dgm:cxnLst>
    <dgm:cxn modelId="{1015C6E1-E2D1-4637-A5C6-449B56195730}" srcId="{4451BC08-06FA-4942-B8B9-CBF845BB05DF}" destId="{BD6105E3-0387-4B7C-A12D-A58E07D960F3}" srcOrd="2" destOrd="0" parTransId="{42F618DA-EEDC-47B3-A521-AEA0A2AF62DC}" sibTransId="{6861C118-F4A3-45FD-9934-2C4954D65BC8}"/>
    <dgm:cxn modelId="{D571FA4D-E4BD-403A-9B06-32618588C803}" srcId="{4451BC08-06FA-4942-B8B9-CBF845BB05DF}" destId="{34497457-B675-431B-8CC8-C31DFF41EA78}" srcOrd="1" destOrd="0" parTransId="{231792E9-96BA-4389-B092-D536358BFE40}" sibTransId="{65E5D5C0-EE8B-4481-9F0D-7ED7975F8E5E}"/>
    <dgm:cxn modelId="{A70CA87C-7177-4112-A48F-AB480D6DEAFE}" type="presOf" srcId="{BD6105E3-0387-4B7C-A12D-A58E07D960F3}" destId="{3383A5B5-E999-4365-95B1-4E70DAAA3EAA}" srcOrd="0" destOrd="0" presId="urn:microsoft.com/office/officeart/2008/layout/VerticalCurvedList"/>
    <dgm:cxn modelId="{2FACAB2D-C5A8-4AB1-AB10-1EEB821E3980}" type="presOf" srcId="{573F086D-C55A-470E-9952-F5DC63AD2CE5}" destId="{8C5B1F6A-84BA-4E2C-8A02-AF70ED160219}" srcOrd="0" destOrd="0" presId="urn:microsoft.com/office/officeart/2008/layout/VerticalCurvedList"/>
    <dgm:cxn modelId="{BD9A36FA-2EAD-412D-BEAA-D4FDF5DEE8D2}" type="presOf" srcId="{34497457-B675-431B-8CC8-C31DFF41EA78}" destId="{6CC048DC-AC90-448E-945C-D9DC5DDC927E}" srcOrd="0" destOrd="0" presId="urn:microsoft.com/office/officeart/2008/layout/VerticalCurvedList"/>
    <dgm:cxn modelId="{40885F8E-A21F-420B-AFD6-9DE7146C2B56}" type="presOf" srcId="{4451BC08-06FA-4942-B8B9-CBF845BB05DF}" destId="{11CDC3D8-77D1-4A4D-89D8-4465E2ACBF91}" srcOrd="0" destOrd="0" presId="urn:microsoft.com/office/officeart/2008/layout/VerticalCurvedList"/>
    <dgm:cxn modelId="{80D3FE73-AE40-42C6-9CAA-1312A895E207}" type="presOf" srcId="{BF799214-AC53-45E2-BAC8-AA67EF591904}" destId="{93DD81AC-FB8A-446B-A604-0886C4E8813F}" srcOrd="0" destOrd="0" presId="urn:microsoft.com/office/officeart/2008/layout/VerticalCurvedList"/>
    <dgm:cxn modelId="{22954A1F-20FA-49CA-8659-F43F69E4AFD6}" srcId="{4451BC08-06FA-4942-B8B9-CBF845BB05DF}" destId="{573F086D-C55A-470E-9952-F5DC63AD2CE5}" srcOrd="0" destOrd="0" parTransId="{4053FB74-4595-4AC6-9ECA-67ACA7DD1B1A}" sibTransId="{BF799214-AC53-45E2-BAC8-AA67EF591904}"/>
    <dgm:cxn modelId="{AA9FA567-4091-43B4-BB66-77642131A3A3}" type="presParOf" srcId="{11CDC3D8-77D1-4A4D-89D8-4465E2ACBF91}" destId="{282B158A-6CB7-44B4-9D1B-A66944CC228E}" srcOrd="0" destOrd="0" presId="urn:microsoft.com/office/officeart/2008/layout/VerticalCurvedList"/>
    <dgm:cxn modelId="{78D6312B-9C4E-4AF5-BEBA-04E5DE1F8ABE}" type="presParOf" srcId="{282B158A-6CB7-44B4-9D1B-A66944CC228E}" destId="{489B027A-A60A-4720-A2EA-F6AF6CAF7BE2}" srcOrd="0" destOrd="0" presId="urn:microsoft.com/office/officeart/2008/layout/VerticalCurvedList"/>
    <dgm:cxn modelId="{BA7EB4A3-0A63-46B4-88E5-4323729A5A88}" type="presParOf" srcId="{489B027A-A60A-4720-A2EA-F6AF6CAF7BE2}" destId="{20E3ED1F-224F-4500-A095-FCAF9ED1F752}" srcOrd="0" destOrd="0" presId="urn:microsoft.com/office/officeart/2008/layout/VerticalCurvedList"/>
    <dgm:cxn modelId="{F507AF40-0E4A-442C-98EB-F84582BF53E4}" type="presParOf" srcId="{489B027A-A60A-4720-A2EA-F6AF6CAF7BE2}" destId="{93DD81AC-FB8A-446B-A604-0886C4E8813F}" srcOrd="1" destOrd="0" presId="urn:microsoft.com/office/officeart/2008/layout/VerticalCurvedList"/>
    <dgm:cxn modelId="{5902F90B-EC74-401E-9493-42AE1CB79E50}" type="presParOf" srcId="{489B027A-A60A-4720-A2EA-F6AF6CAF7BE2}" destId="{6F005D3F-E193-44C0-A0BF-D355584D97A6}" srcOrd="2" destOrd="0" presId="urn:microsoft.com/office/officeart/2008/layout/VerticalCurvedList"/>
    <dgm:cxn modelId="{39014415-D1CC-45DD-8B5D-8356AAC7D267}" type="presParOf" srcId="{489B027A-A60A-4720-A2EA-F6AF6CAF7BE2}" destId="{FC198BD4-F58C-4FCE-BEBD-D96FEE83A959}" srcOrd="3" destOrd="0" presId="urn:microsoft.com/office/officeart/2008/layout/VerticalCurvedList"/>
    <dgm:cxn modelId="{CBFBBF59-E7F1-41D2-A208-BAA0CEF53BD1}" type="presParOf" srcId="{282B158A-6CB7-44B4-9D1B-A66944CC228E}" destId="{8C5B1F6A-84BA-4E2C-8A02-AF70ED160219}" srcOrd="1" destOrd="0" presId="urn:microsoft.com/office/officeart/2008/layout/VerticalCurvedList"/>
    <dgm:cxn modelId="{F08E1292-31DA-4D4D-9552-F180F2CAE437}" type="presParOf" srcId="{282B158A-6CB7-44B4-9D1B-A66944CC228E}" destId="{0C7CAF57-DA40-4267-8E92-7462F66C8010}" srcOrd="2" destOrd="0" presId="urn:microsoft.com/office/officeart/2008/layout/VerticalCurvedList"/>
    <dgm:cxn modelId="{7307FC68-0782-48B0-85FF-4CF8661F066B}" type="presParOf" srcId="{0C7CAF57-DA40-4267-8E92-7462F66C8010}" destId="{367CA1C2-8FAF-4234-BEED-CB0A143ECC92}" srcOrd="0" destOrd="0" presId="urn:microsoft.com/office/officeart/2008/layout/VerticalCurvedList"/>
    <dgm:cxn modelId="{AE58AE08-1018-4586-B9CA-B6B2663BBC26}" type="presParOf" srcId="{282B158A-6CB7-44B4-9D1B-A66944CC228E}" destId="{6CC048DC-AC90-448E-945C-D9DC5DDC927E}" srcOrd="3" destOrd="0" presId="urn:microsoft.com/office/officeart/2008/layout/VerticalCurvedList"/>
    <dgm:cxn modelId="{73DF242C-D3D4-4BD1-ABF7-5EA186D392F2}" type="presParOf" srcId="{282B158A-6CB7-44B4-9D1B-A66944CC228E}" destId="{F60BA22B-9602-4F79-9D3B-6B9A31821A96}" srcOrd="4" destOrd="0" presId="urn:microsoft.com/office/officeart/2008/layout/VerticalCurvedList"/>
    <dgm:cxn modelId="{5318C92C-9E84-457B-B0FE-266E3A986403}" type="presParOf" srcId="{F60BA22B-9602-4F79-9D3B-6B9A31821A96}" destId="{7603D85B-961D-4589-B2F7-72E27996BDE5}" srcOrd="0" destOrd="0" presId="urn:microsoft.com/office/officeart/2008/layout/VerticalCurvedList"/>
    <dgm:cxn modelId="{9696A6DB-2649-45F0-ABC4-FB7FC4E57823}" type="presParOf" srcId="{282B158A-6CB7-44B4-9D1B-A66944CC228E}" destId="{3383A5B5-E999-4365-95B1-4E70DAAA3EAA}" srcOrd="5" destOrd="0" presId="urn:microsoft.com/office/officeart/2008/layout/VerticalCurvedList"/>
    <dgm:cxn modelId="{B844DF95-1B83-443A-AA0F-FB128DDBED86}" type="presParOf" srcId="{282B158A-6CB7-44B4-9D1B-A66944CC228E}" destId="{635A4701-1C0F-4A76-8DEB-0F4AFB3E3777}" srcOrd="6" destOrd="0" presId="urn:microsoft.com/office/officeart/2008/layout/VerticalCurvedList"/>
    <dgm:cxn modelId="{A6D3CB7D-7C41-4250-81A3-C74D1EB455EC}" type="presParOf" srcId="{635A4701-1C0F-4A76-8DEB-0F4AFB3E3777}" destId="{1876F317-9B54-400F-880A-6278CCB1663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D81AC-FB8A-446B-A604-0886C4E8813F}">
      <dsp:nvSpPr>
        <dsp:cNvPr id="0" name=""/>
        <dsp:cNvSpPr/>
      </dsp:nvSpPr>
      <dsp:spPr>
        <a:xfrm>
          <a:off x="-5512817" y="-844151"/>
          <a:ext cx="6564764" cy="6564764"/>
        </a:xfrm>
        <a:prstGeom prst="blockArc">
          <a:avLst>
            <a:gd name="adj1" fmla="val 18900000"/>
            <a:gd name="adj2" fmla="val 2700000"/>
            <a:gd name="adj3" fmla="val 329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B1F6A-84BA-4E2C-8A02-AF70ED160219}">
      <dsp:nvSpPr>
        <dsp:cNvPr id="0" name=""/>
        <dsp:cNvSpPr/>
      </dsp:nvSpPr>
      <dsp:spPr>
        <a:xfrm>
          <a:off x="676852" y="487646"/>
          <a:ext cx="8516691" cy="9752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138" tIns="60960" rIns="60960" bIns="60960" numCol="1" spcCol="1270" anchor="ctr" anchorCtr="0">
          <a:noAutofit/>
        </a:bodyPr>
        <a:lstStyle/>
        <a:p>
          <a:pPr lvl="0" algn="l" defTabSz="1066800">
            <a:lnSpc>
              <a:spcPts val="2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>
              <a:solidFill>
                <a:schemeClr val="bg1"/>
              </a:solidFill>
            </a:rPr>
            <a:t>Передача данных между процессами на хостах</a:t>
          </a:r>
        </a:p>
      </dsp:txBody>
      <dsp:txXfrm>
        <a:off x="676852" y="487646"/>
        <a:ext cx="8516691" cy="975292"/>
      </dsp:txXfrm>
    </dsp:sp>
    <dsp:sp modelId="{367CA1C2-8FAF-4234-BEED-CB0A143ECC92}">
      <dsp:nvSpPr>
        <dsp:cNvPr id="0" name=""/>
        <dsp:cNvSpPr/>
      </dsp:nvSpPr>
      <dsp:spPr>
        <a:xfrm>
          <a:off x="67295" y="365734"/>
          <a:ext cx="1219115" cy="1219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048DC-AC90-448E-945C-D9DC5DDC927E}">
      <dsp:nvSpPr>
        <dsp:cNvPr id="0" name=""/>
        <dsp:cNvSpPr/>
      </dsp:nvSpPr>
      <dsp:spPr>
        <a:xfrm>
          <a:off x="1031371" y="1950584"/>
          <a:ext cx="8162173" cy="9752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138" tIns="60960" rIns="60960" bIns="60960" numCol="1" spcCol="1270" anchor="ctr" anchorCtr="0">
          <a:noAutofit/>
        </a:bodyPr>
        <a:lstStyle/>
        <a:p>
          <a:pPr lvl="0" algn="l" defTabSz="1066800">
            <a:lnSpc>
              <a:spcPts val="2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>
              <a:solidFill>
                <a:schemeClr val="bg1"/>
              </a:solidFill>
            </a:rPr>
            <a:t>Адресация</a:t>
          </a:r>
          <a:endParaRPr lang="ru-RU" sz="2400" b="1" kern="1200" dirty="0">
            <a:solidFill>
              <a:schemeClr val="bg1"/>
            </a:solidFill>
          </a:endParaRPr>
        </a:p>
      </dsp:txBody>
      <dsp:txXfrm>
        <a:off x="1031371" y="1950584"/>
        <a:ext cx="8162173" cy="975292"/>
      </dsp:txXfrm>
    </dsp:sp>
    <dsp:sp modelId="{7603D85B-961D-4589-B2F7-72E27996BDE5}">
      <dsp:nvSpPr>
        <dsp:cNvPr id="0" name=""/>
        <dsp:cNvSpPr/>
      </dsp:nvSpPr>
      <dsp:spPr>
        <a:xfrm>
          <a:off x="421813" y="1828673"/>
          <a:ext cx="1219115" cy="1219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3A5B5-E999-4365-95B1-4E70DAAA3EAA}">
      <dsp:nvSpPr>
        <dsp:cNvPr id="0" name=""/>
        <dsp:cNvSpPr/>
      </dsp:nvSpPr>
      <dsp:spPr>
        <a:xfrm>
          <a:off x="676852" y="3413523"/>
          <a:ext cx="8516691" cy="9752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138" tIns="60960" rIns="60960" bIns="60960" numCol="1" spcCol="1270" anchor="ctr" anchorCtr="0">
          <a:noAutofit/>
        </a:bodyPr>
        <a:lstStyle/>
        <a:p>
          <a:pPr lvl="0" algn="l" defTabSz="1066800">
            <a:lnSpc>
              <a:spcPts val="2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>
              <a:solidFill>
                <a:schemeClr val="bg1"/>
              </a:solidFill>
            </a:rPr>
            <a:t>Предоставление нужного уровня надежности передачи данных, не зависимого от надежности сети</a:t>
          </a:r>
          <a:endParaRPr lang="ru-RU" sz="2400" b="1" kern="1200" dirty="0">
            <a:solidFill>
              <a:schemeClr val="bg1"/>
            </a:solidFill>
          </a:endParaRPr>
        </a:p>
      </dsp:txBody>
      <dsp:txXfrm>
        <a:off x="676852" y="3413523"/>
        <a:ext cx="8516691" cy="975292"/>
      </dsp:txXfrm>
    </dsp:sp>
    <dsp:sp modelId="{1876F317-9B54-400F-880A-6278CCB16638}">
      <dsp:nvSpPr>
        <dsp:cNvPr id="0" name=""/>
        <dsp:cNvSpPr/>
      </dsp:nvSpPr>
      <dsp:spPr>
        <a:xfrm>
          <a:off x="67295" y="3291611"/>
          <a:ext cx="1219115" cy="12191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37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54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017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8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68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52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59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24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70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12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708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5779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402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864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866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336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37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885E0A0-FE68-40EB-99EB-36809A0EA80E}" type="datetimeFigureOut">
              <a:rPr lang="ru-RU" smtClean="0"/>
              <a:t>08.01.2017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7C97E-0535-4A2D-A611-FF0E4171E8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139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sco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Транспортный уровень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Блок «Основы сетей передачи данных </a:t>
            </a:r>
            <a:r>
              <a:rPr lang="en-US" dirty="0" smtClean="0"/>
              <a:t>TCP/IP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89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119" y="277326"/>
            <a:ext cx="9404723" cy="818298"/>
          </a:xfrm>
        </p:spPr>
        <p:txBody>
          <a:bodyPr/>
          <a:lstStyle/>
          <a:p>
            <a:r>
              <a:rPr lang="ru-RU" sz="2800" b="1" dirty="0" smtClean="0"/>
              <a:t>Транспортный уровень в моделях </a:t>
            </a:r>
            <a:r>
              <a:rPr lang="en-US" sz="2800" b="1" dirty="0"/>
              <a:t>OSI </a:t>
            </a:r>
            <a:r>
              <a:rPr lang="ru-RU" sz="2800" b="1" dirty="0"/>
              <a:t>и </a:t>
            </a:r>
            <a:r>
              <a:rPr lang="en-US" sz="2800" b="1" dirty="0"/>
              <a:t>TCP/IP</a:t>
            </a:r>
            <a:endParaRPr lang="ru-RU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97869" y="2450297"/>
            <a:ext cx="2963161" cy="418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Прикладной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97869" y="2893209"/>
            <a:ext cx="2963161" cy="418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Представления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97869" y="3336121"/>
            <a:ext cx="2963161" cy="3977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Сеансовый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097869" y="3756809"/>
            <a:ext cx="2963161" cy="418777"/>
          </a:xfrm>
          <a:prstGeom prst="rect">
            <a:avLst/>
          </a:prstGeom>
          <a:solidFill>
            <a:srgbClr val="D247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Транспортный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097869" y="4199721"/>
            <a:ext cx="2963161" cy="40977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Сетевой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097869" y="5053797"/>
            <a:ext cx="2963161" cy="4187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Физический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769359" y="2450297"/>
            <a:ext cx="2963161" cy="1235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Прикладной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769359" y="3756809"/>
            <a:ext cx="2963161" cy="418777"/>
          </a:xfrm>
          <a:prstGeom prst="rect">
            <a:avLst/>
          </a:prstGeom>
          <a:solidFill>
            <a:srgbClr val="D247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Транспортный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769335" y="4199721"/>
            <a:ext cx="2963196" cy="40977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Интернет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099457" y="4633110"/>
            <a:ext cx="2960829" cy="397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Канальный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769359" y="4636285"/>
            <a:ext cx="2963161" cy="8135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000" b="1" dirty="0">
                <a:latin typeface="+mn-lt"/>
                <a:cs typeface="+mn-cs"/>
              </a:rPr>
              <a:t>Сетевых</a:t>
            </a:r>
            <a:r>
              <a:rPr lang="ru-RU" altLang="ru-RU" sz="2000" b="1" dirty="0" smtClean="0">
                <a:latin typeface="Verdana" panose="020B0604030504040204" pitchFamily="34" charset="0"/>
              </a:rPr>
              <a:t> </a:t>
            </a:r>
            <a:r>
              <a:rPr lang="ru-RU" altLang="ru-RU" sz="2000" b="1" dirty="0">
                <a:latin typeface="+mn-lt"/>
                <a:cs typeface="+mn-cs"/>
              </a:rPr>
              <a:t>интерфейсов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2242331" y="1856571"/>
            <a:ext cx="25738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+mn-lt"/>
              </a:rPr>
              <a:t>Модель </a:t>
            </a:r>
            <a:r>
              <a:rPr lang="en-US" altLang="ru-RU" sz="2000" b="1" dirty="0">
                <a:latin typeface="+mn-lt"/>
              </a:rPr>
              <a:t>OSI</a:t>
            </a:r>
            <a:endParaRPr lang="ru-RU" altLang="ru-RU" sz="2000" b="1" dirty="0">
              <a:latin typeface="+mn-lt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801109" y="1856571"/>
            <a:ext cx="30214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+mn-lt"/>
              </a:rPr>
              <a:t>Модель </a:t>
            </a:r>
            <a:r>
              <a:rPr lang="en-US" altLang="ru-RU" sz="2000" b="1" dirty="0">
                <a:latin typeface="+mn-lt"/>
              </a:rPr>
              <a:t>TCP/IP</a:t>
            </a:r>
            <a:endParaRPr lang="ru-RU" altLang="ru-RU" sz="2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946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Группа 42"/>
          <p:cNvGrpSpPr/>
          <p:nvPr/>
        </p:nvGrpSpPr>
        <p:grpSpPr>
          <a:xfrm>
            <a:off x="1558576" y="1399032"/>
            <a:ext cx="8556266" cy="5084064"/>
            <a:chOff x="1931902" y="1975543"/>
            <a:chExt cx="6682486" cy="4048462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6837" y="1975543"/>
              <a:ext cx="803950" cy="822057"/>
            </a:xfrm>
            <a:prstGeom prst="rect">
              <a:avLst/>
            </a:prstGeom>
          </p:spPr>
        </p:pic>
        <p:cxnSp>
          <p:nvCxnSpPr>
            <p:cNvPr id="5" name="Прямая соединительная линия 4"/>
            <p:cNvCxnSpPr/>
            <p:nvPr/>
          </p:nvCxnSpPr>
          <p:spPr>
            <a:xfrm flipH="1">
              <a:off x="5514171" y="3985041"/>
              <a:ext cx="18214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1902" y="4554302"/>
              <a:ext cx="777308" cy="777308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9430" y="4554302"/>
              <a:ext cx="777308" cy="777308"/>
            </a:xfrm>
            <a:prstGeom prst="rect">
              <a:avLst/>
            </a:prstGeom>
          </p:spPr>
        </p:pic>
        <p:cxnSp>
          <p:nvCxnSpPr>
            <p:cNvPr id="8" name="Прямая соединительная линия 7"/>
            <p:cNvCxnSpPr/>
            <p:nvPr/>
          </p:nvCxnSpPr>
          <p:spPr>
            <a:xfrm>
              <a:off x="7674513" y="4120507"/>
              <a:ext cx="15874" cy="16080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9583" y="4351556"/>
              <a:ext cx="559329" cy="572971"/>
            </a:xfrm>
            <a:prstGeom prst="rect">
              <a:avLst/>
            </a:prstGeom>
          </p:spPr>
        </p:pic>
        <p:cxnSp>
          <p:nvCxnSpPr>
            <p:cNvPr id="10" name="Прямая соединительная линия 9"/>
            <p:cNvCxnSpPr/>
            <p:nvPr/>
          </p:nvCxnSpPr>
          <p:spPr>
            <a:xfrm flipH="1">
              <a:off x="7682450" y="4777615"/>
              <a:ext cx="4005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7022" y="3472423"/>
              <a:ext cx="943294" cy="800484"/>
            </a:xfrm>
            <a:prstGeom prst="rect">
              <a:avLst/>
            </a:prstGeom>
          </p:spPr>
        </p:pic>
        <p:cxnSp>
          <p:nvCxnSpPr>
            <p:cNvPr id="12" name="Прямая соединительная линия 11"/>
            <p:cNvCxnSpPr/>
            <p:nvPr/>
          </p:nvCxnSpPr>
          <p:spPr>
            <a:xfrm flipH="1">
              <a:off x="3398231" y="4006207"/>
              <a:ext cx="147513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3633" y="3724812"/>
              <a:ext cx="946070" cy="562790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586" y="3710117"/>
              <a:ext cx="946070" cy="562790"/>
            </a:xfrm>
            <a:prstGeom prst="rect">
              <a:avLst/>
            </a:prstGeom>
          </p:spPr>
        </p:pic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9762" y="5152604"/>
              <a:ext cx="544626" cy="871401"/>
            </a:xfrm>
            <a:prstGeom prst="rect">
              <a:avLst/>
            </a:prstGeom>
          </p:spPr>
        </p:pic>
        <p:cxnSp>
          <p:nvCxnSpPr>
            <p:cNvPr id="16" name="Прямая соединительная линия 15"/>
            <p:cNvCxnSpPr/>
            <p:nvPr/>
          </p:nvCxnSpPr>
          <p:spPr>
            <a:xfrm flipH="1">
              <a:off x="7682450" y="5514215"/>
              <a:ext cx="4005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 flipH="1">
              <a:off x="7269692" y="5158406"/>
              <a:ext cx="40056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Рисунок 17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486" y="4690322"/>
              <a:ext cx="828675" cy="1038225"/>
            </a:xfrm>
            <a:prstGeom prst="rect">
              <a:avLst/>
            </a:prstGeom>
          </p:spPr>
        </p:pic>
        <p:cxnSp>
          <p:nvCxnSpPr>
            <p:cNvPr id="19" name="Прямая со стрелкой 18"/>
            <p:cNvCxnSpPr/>
            <p:nvPr/>
          </p:nvCxnSpPr>
          <p:spPr>
            <a:xfrm flipV="1">
              <a:off x="2347389" y="4287602"/>
              <a:ext cx="341639" cy="2667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>
              <a:stCxn id="7" idx="0"/>
            </p:cNvCxnSpPr>
            <p:nvPr/>
          </p:nvCxnSpPr>
          <p:spPr>
            <a:xfrm flipH="1" flipV="1">
              <a:off x="3263591" y="4281577"/>
              <a:ext cx="564493" cy="27272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/>
            <p:cNvCxnSpPr>
              <a:stCxn id="11" idx="0"/>
              <a:endCxn id="30" idx="2"/>
            </p:cNvCxnSpPr>
            <p:nvPr/>
          </p:nvCxnSpPr>
          <p:spPr>
            <a:xfrm flipV="1">
              <a:off x="3008669" y="3249267"/>
              <a:ext cx="908" cy="22315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>
              <a:off x="5196668" y="3249267"/>
              <a:ext cx="0" cy="4755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/>
            <p:nvPr/>
          </p:nvCxnSpPr>
          <p:spPr>
            <a:xfrm>
              <a:off x="5196668" y="3249267"/>
              <a:ext cx="207302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Рисунок 23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2040" y="2589877"/>
              <a:ext cx="695325" cy="581025"/>
            </a:xfrm>
            <a:prstGeom prst="rect">
              <a:avLst/>
            </a:prstGeom>
          </p:spPr>
        </p:pic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5839" y="2576020"/>
              <a:ext cx="695325" cy="581025"/>
            </a:xfrm>
            <a:prstGeom prst="rect">
              <a:avLst/>
            </a:prstGeom>
          </p:spPr>
        </p:pic>
        <p:cxnSp>
          <p:nvCxnSpPr>
            <p:cNvPr id="26" name="Прямая соединительная линия 25"/>
            <p:cNvCxnSpPr/>
            <p:nvPr/>
          </p:nvCxnSpPr>
          <p:spPr>
            <a:xfrm>
              <a:off x="5436617" y="2996878"/>
              <a:ext cx="825" cy="2578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/>
            <p:cNvCxnSpPr/>
            <p:nvPr/>
          </p:nvCxnSpPr>
          <p:spPr>
            <a:xfrm>
              <a:off x="6512854" y="2967051"/>
              <a:ext cx="913" cy="2942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Рисунок 27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94732" y="2317168"/>
              <a:ext cx="549672" cy="549672"/>
            </a:xfrm>
            <a:prstGeom prst="rect">
              <a:avLst/>
            </a:prstGeom>
          </p:spPr>
        </p:pic>
        <p:pic>
          <p:nvPicPr>
            <p:cNvPr id="29" name="Рисунок 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71800" y="2317259"/>
              <a:ext cx="559740" cy="514961"/>
            </a:xfrm>
            <a:prstGeom prst="rect">
              <a:avLst/>
            </a:prstGeom>
          </p:spPr>
        </p:pic>
        <p:pic>
          <p:nvPicPr>
            <p:cNvPr id="30" name="Рисунок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0923" y="2471959"/>
              <a:ext cx="777308" cy="777308"/>
            </a:xfrm>
            <a:prstGeom prst="rect">
              <a:avLst/>
            </a:prstGeom>
          </p:spPr>
        </p:pic>
      </p:grpSp>
      <p:sp>
        <p:nvSpPr>
          <p:cNvPr id="31" name="Заголовок 1"/>
          <p:cNvSpPr>
            <a:spLocks noGrp="1"/>
          </p:cNvSpPr>
          <p:nvPr>
            <p:ph type="title"/>
          </p:nvPr>
        </p:nvSpPr>
        <p:spPr>
          <a:xfrm>
            <a:off x="710119" y="277326"/>
            <a:ext cx="9404723" cy="818298"/>
          </a:xfrm>
        </p:spPr>
        <p:txBody>
          <a:bodyPr/>
          <a:lstStyle/>
          <a:p>
            <a:r>
              <a:rPr lang="ru-RU" sz="2800" b="1" dirty="0" smtClean="0"/>
              <a:t>Транспортный уровень в моделях </a:t>
            </a:r>
            <a:r>
              <a:rPr lang="en-US" sz="2800" b="1" dirty="0"/>
              <a:t>OSI </a:t>
            </a:r>
            <a:r>
              <a:rPr lang="ru-RU" sz="2800" b="1" dirty="0"/>
              <a:t>и </a:t>
            </a:r>
            <a:r>
              <a:rPr lang="en-US" sz="2800" b="1" dirty="0"/>
              <a:t>TCP/IP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18628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710119" y="277326"/>
            <a:ext cx="9404723" cy="818298"/>
          </a:xfrm>
        </p:spPr>
        <p:txBody>
          <a:bodyPr/>
          <a:lstStyle/>
          <a:p>
            <a:r>
              <a:rPr lang="ru-RU" sz="2800" b="1" dirty="0" smtClean="0"/>
              <a:t>Сервис транспортного уровня</a:t>
            </a:r>
            <a:endParaRPr lang="ru-RU" sz="2800" b="1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662223870"/>
              </p:ext>
            </p:extLst>
          </p:nvPr>
        </p:nvGraphicFramePr>
        <p:xfrm>
          <a:off x="1492504" y="1277451"/>
          <a:ext cx="9260840" cy="4876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060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74905" y="277326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Транспортный уровень на сетевых узлах</a:t>
            </a:r>
            <a:endParaRPr lang="ru-RU" sz="3600" b="1" dirty="0"/>
          </a:p>
        </p:txBody>
      </p:sp>
      <p:grpSp>
        <p:nvGrpSpPr>
          <p:cNvPr id="27" name="Группа 26"/>
          <p:cNvGrpSpPr/>
          <p:nvPr/>
        </p:nvGrpSpPr>
        <p:grpSpPr>
          <a:xfrm>
            <a:off x="1243838" y="1746504"/>
            <a:ext cx="9162034" cy="4311490"/>
            <a:chOff x="1463294" y="1929384"/>
            <a:chExt cx="7992690" cy="3829081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1463294" y="4672584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Физический</a:t>
              </a: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463294" y="4215384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Канальный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463294" y="3758184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Сетевой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463294" y="3300984"/>
              <a:ext cx="1974850" cy="457200"/>
            </a:xfrm>
            <a:prstGeom prst="rect">
              <a:avLst/>
            </a:prstGeom>
            <a:solidFill>
              <a:srgbClr val="D2472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ru-RU" altLang="ru-RU" sz="2000" b="1">
                  <a:solidFill>
                    <a:schemeClr val="tx1"/>
                  </a:solidFill>
                </a:rPr>
                <a:t>Транспортный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463294" y="2843784"/>
              <a:ext cx="197485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ru-RU" altLang="ru-RU" sz="2000" b="1" dirty="0">
                  <a:solidFill>
                    <a:schemeClr val="tx1"/>
                  </a:solidFill>
                </a:rPr>
                <a:t>Сеансовый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463294" y="2386584"/>
              <a:ext cx="197485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ru-RU" altLang="ru-RU" sz="2000" b="1" dirty="0">
                  <a:solidFill>
                    <a:schemeClr val="tx1"/>
                  </a:solidFill>
                </a:rPr>
                <a:t>Представления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463294" y="1929384"/>
              <a:ext cx="1974850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ru-RU" altLang="ru-RU" sz="2000" b="1" dirty="0">
                  <a:solidFill>
                    <a:schemeClr val="tx1"/>
                  </a:solidFill>
                </a:rPr>
                <a:t>Прикладной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039160" y="5144072"/>
              <a:ext cx="719065" cy="35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000" b="1" dirty="0"/>
                <a:t>Хост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8159851" y="5191697"/>
              <a:ext cx="719065" cy="35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ru-RU" altLang="ru-RU" sz="2000" b="1" dirty="0"/>
                <a:t>Хост</a:t>
              </a:r>
            </a:p>
          </p:txBody>
        </p: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4581144" y="4672584"/>
              <a:ext cx="1752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Физический</a:t>
              </a: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4581144" y="4215384"/>
              <a:ext cx="1752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Канальный</a:t>
              </a:r>
            </a:p>
          </p:txBody>
        </p:sp>
        <p:sp>
          <p:nvSpPr>
            <p:cNvPr id="16" name="Rectangle 27"/>
            <p:cNvSpPr>
              <a:spLocks noChangeArrowheads="1"/>
            </p:cNvSpPr>
            <p:nvPr/>
          </p:nvSpPr>
          <p:spPr bwMode="auto">
            <a:xfrm>
              <a:off x="4581144" y="3758184"/>
              <a:ext cx="1752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Сетевой</a:t>
              </a:r>
            </a:p>
          </p:txBody>
        </p:sp>
        <p:sp>
          <p:nvSpPr>
            <p:cNvPr id="17" name="Text Box 28"/>
            <p:cNvSpPr txBox="1">
              <a:spLocks noChangeArrowheads="1"/>
            </p:cNvSpPr>
            <p:nvPr/>
          </p:nvSpPr>
          <p:spPr bwMode="auto">
            <a:xfrm>
              <a:off x="4526641" y="5129784"/>
              <a:ext cx="1837795" cy="628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ru-RU" altLang="ru-RU" sz="2000" b="1" dirty="0"/>
                <a:t>Сетевое</a:t>
              </a:r>
              <a:r>
                <a:rPr lang="ru-RU" altLang="ru-RU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</a:p>
            <a:p>
              <a:pPr algn="ctr"/>
              <a:r>
                <a:rPr lang="ru-RU" altLang="ru-RU" sz="2000" b="1" dirty="0"/>
                <a:t>оборудование</a:t>
              </a: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>
              <a:off x="3438144" y="4901184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6333744" y="4901184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7481134" y="4676257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Физический</a:t>
              </a: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7481134" y="4219057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Канальный</a:t>
              </a:r>
            </a:p>
          </p:txBody>
        </p: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7481134" y="3761857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Сетевой</a:t>
              </a: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7481134" y="3304657"/>
              <a:ext cx="1974850" cy="457200"/>
            </a:xfrm>
            <a:prstGeom prst="rect">
              <a:avLst/>
            </a:prstGeom>
            <a:solidFill>
              <a:srgbClr val="D2472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ru-RU" altLang="ru-RU" sz="2000" b="1" dirty="0">
                  <a:solidFill>
                    <a:schemeClr val="tx1"/>
                  </a:solidFill>
                </a:rPr>
                <a:t>Транспортный</a:t>
              </a:r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7481134" y="2847457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Сеансовый</a:t>
              </a: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7481134" y="2390257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Представления</a:t>
              </a: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7481134" y="1933057"/>
              <a:ext cx="197485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 dirty="0"/>
                <a:t>Прикладной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477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108255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b="1" dirty="0"/>
              <a:t>Адрес на транспортном уровне: число от 1 до 65535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b="1" dirty="0"/>
              <a:t>Адрес называется портом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b="1" dirty="0"/>
              <a:t>Каждое сетевое приложение на хосте имеет свой порт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b="1" dirty="0"/>
              <a:t>Номера портов у приложений не повторяются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b="1" dirty="0"/>
              <a:t>Форма </a:t>
            </a:r>
            <a:r>
              <a:rPr lang="ru-RU" sz="2800" b="1" dirty="0" smtClean="0"/>
              <a:t>записи: 192.168.1.3:80</a:t>
            </a:r>
            <a:endParaRPr lang="ru-RU" sz="2800" b="1" dirty="0"/>
          </a:p>
          <a:p>
            <a:endParaRPr lang="ru-RU" sz="2400" b="1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74905" y="277326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Адреса. Порты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33655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74905" y="277326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Типы портов</a:t>
            </a:r>
            <a:endParaRPr lang="ru-RU" sz="3600" b="1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604437" y="1344168"/>
            <a:ext cx="10962723" cy="47841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 smtClean="0"/>
              <a:t>Хорошо известные порты:</a:t>
            </a:r>
            <a:r>
              <a:rPr lang="ru-RU" sz="2800" dirty="0" smtClean="0"/>
              <a:t> 1-1024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ru-RU" sz="2400" dirty="0">
                <a:latin typeface="Verdana" panose="020B0604030504040204" pitchFamily="34" charset="0"/>
              </a:rPr>
              <a:t>80 – HTTP (Web)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ru-RU" sz="2400" dirty="0" smtClean="0">
                <a:latin typeface="Verdana" panose="020B0604030504040204" pitchFamily="34" charset="0"/>
              </a:rPr>
              <a:t>25 </a:t>
            </a:r>
            <a:r>
              <a:rPr lang="en-US" altLang="ru-RU" sz="2400" dirty="0">
                <a:latin typeface="Verdana" panose="020B0604030504040204" pitchFamily="34" charset="0"/>
              </a:rPr>
              <a:t>– SMTP (</a:t>
            </a:r>
            <a:r>
              <a:rPr lang="ru-RU" altLang="ru-RU" sz="2400" dirty="0">
                <a:latin typeface="Verdana" panose="020B0604030504040204" pitchFamily="34" charset="0"/>
              </a:rPr>
              <a:t>Электронная почта)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>
                <a:latin typeface="Verdana" panose="020B0604030504040204" pitchFamily="34" charset="0"/>
              </a:rPr>
              <a:t>53 – </a:t>
            </a:r>
            <a:r>
              <a:rPr lang="en-US" altLang="ru-RU" sz="2400" dirty="0">
                <a:latin typeface="Verdana" panose="020B0604030504040204" pitchFamily="34" charset="0"/>
              </a:rPr>
              <a:t>DNS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ru-RU" sz="2400" dirty="0" smtClean="0">
                <a:latin typeface="Verdana" panose="020B0604030504040204" pitchFamily="34" charset="0"/>
              </a:rPr>
              <a:t>67</a:t>
            </a:r>
            <a:r>
              <a:rPr lang="ru-RU" altLang="ru-RU" sz="2400" dirty="0" smtClean="0">
                <a:latin typeface="Verdana" panose="020B0604030504040204" pitchFamily="34" charset="0"/>
              </a:rPr>
              <a:t>,68</a:t>
            </a:r>
            <a:r>
              <a:rPr lang="en-US" altLang="ru-RU" sz="2400" dirty="0" smtClean="0">
                <a:latin typeface="Verdana" panose="020B0604030504040204" pitchFamily="34" charset="0"/>
              </a:rPr>
              <a:t> </a:t>
            </a:r>
            <a:r>
              <a:rPr lang="en-US" altLang="ru-RU" sz="2400" dirty="0">
                <a:latin typeface="Verdana" panose="020B0604030504040204" pitchFamily="34" charset="0"/>
              </a:rPr>
              <a:t>– DHCP</a:t>
            </a:r>
            <a:endParaRPr lang="ru-RU" altLang="ru-RU" sz="2400" dirty="0" smtClean="0">
              <a:latin typeface="Verdana" panose="020B0604030504040204" pitchFamily="34" charset="0"/>
            </a:endParaRP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>
                <a:latin typeface="Verdana" panose="020B0604030504040204" pitchFamily="34" charset="0"/>
              </a:rPr>
              <a:t>Использовать </a:t>
            </a:r>
            <a:r>
              <a:rPr lang="ru-RU" altLang="ru-RU" sz="2400" dirty="0">
                <a:latin typeface="Verdana" panose="020B0604030504040204" pitchFamily="34" charset="0"/>
              </a:rPr>
              <a:t>может только </a:t>
            </a:r>
            <a:r>
              <a:rPr lang="en-US" altLang="ru-RU" sz="2400" dirty="0">
                <a:latin typeface="Verdana" panose="020B0604030504040204" pitchFamily="34" charset="0"/>
              </a:rPr>
              <a:t>root/</a:t>
            </a:r>
            <a:r>
              <a:rPr lang="ru-RU" altLang="ru-RU" sz="2400" dirty="0" smtClean="0">
                <a:latin typeface="Verdana" panose="020B0604030504040204" pitchFamily="34" charset="0"/>
              </a:rPr>
              <a:t>Администратор</a:t>
            </a:r>
            <a:endParaRPr lang="ru-RU" sz="2400" dirty="0" smtClean="0"/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Зарегистрированные порты: </a:t>
            </a:r>
            <a:r>
              <a:rPr lang="ru-RU" sz="2800" dirty="0" smtClean="0"/>
              <a:t>1025-49151</a:t>
            </a:r>
            <a:endParaRPr lang="ru-RU" sz="2800" dirty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>
                <a:latin typeface="Verdana" panose="020B0604030504040204" pitchFamily="34" charset="0"/>
              </a:rPr>
              <a:t>Регистрация в </a:t>
            </a:r>
            <a:r>
              <a:rPr lang="en-US" altLang="ru-RU" sz="2400" dirty="0">
                <a:latin typeface="Verdana" panose="020B0604030504040204" pitchFamily="34" charset="0"/>
              </a:rPr>
              <a:t>Internet Assigned Numbers Authority (IANA</a:t>
            </a:r>
            <a:r>
              <a:rPr lang="en-US" altLang="ru-RU" sz="2400" dirty="0" smtClean="0">
                <a:latin typeface="Verdana" panose="020B060403050404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Динамические порты: </a:t>
            </a:r>
            <a:r>
              <a:rPr lang="ru-RU" sz="2800" dirty="0"/>
              <a:t>49151-65535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</a:rPr>
              <a:t>Автоматически назначаются </a:t>
            </a:r>
            <a:r>
              <a:rPr lang="ru-RU" sz="2400" dirty="0" smtClean="0">
                <a:latin typeface="Verdana" panose="020B0604030504040204" pitchFamily="34" charset="0"/>
              </a:rPr>
              <a:t>операционной системой сетевым </a:t>
            </a:r>
            <a:r>
              <a:rPr lang="ru-RU" sz="2400" dirty="0">
                <a:latin typeface="Verdana" panose="020B0604030504040204" pitchFamily="34" charset="0"/>
              </a:rPr>
              <a:t>приложениям</a:t>
            </a:r>
          </a:p>
        </p:txBody>
      </p:sp>
    </p:spTree>
    <p:extLst>
      <p:ext uri="{BB962C8B-B14F-4D97-AF65-F5344CB8AC3E}">
        <p14:creationId xmlns:p14="http://schemas.microsoft.com/office/powerpoint/2010/main" val="419192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74905" y="277326"/>
            <a:ext cx="10104120" cy="818298"/>
          </a:xfrm>
        </p:spPr>
        <p:txBody>
          <a:bodyPr/>
          <a:lstStyle/>
          <a:p>
            <a:r>
              <a:rPr lang="en-US" sz="3600" b="1" dirty="0"/>
              <a:t>IP-</a:t>
            </a:r>
            <a:r>
              <a:rPr lang="ru-RU" sz="3600" b="1" dirty="0"/>
              <a:t>адреса и порты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888480" y="2588335"/>
            <a:ext cx="2201694" cy="2441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164080" y="2588335"/>
            <a:ext cx="2201694" cy="2441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04437" y="0"/>
            <a:ext cx="10749367" cy="12088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888480" y="2731008"/>
            <a:ext cx="2133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ru-RU" b="1" dirty="0">
                <a:solidFill>
                  <a:schemeClr val="bg1"/>
                </a:solidFill>
              </a:rPr>
              <a:t>Web</a:t>
            </a:r>
            <a:r>
              <a:rPr lang="ru-RU" altLang="ru-RU" b="1" dirty="0">
                <a:solidFill>
                  <a:schemeClr val="bg1"/>
                </a:solidFill>
              </a:rPr>
              <a:t>-сервер</a:t>
            </a:r>
          </a:p>
          <a:p>
            <a:pPr algn="ctr"/>
            <a:r>
              <a:rPr lang="en-US" altLang="ru-RU" b="1" dirty="0">
                <a:solidFill>
                  <a:schemeClr val="bg1"/>
                </a:solidFill>
              </a:rPr>
              <a:t>IP: 192.168.1.100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164080" y="2731008"/>
            <a:ext cx="2133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altLang="ru-RU" b="1" dirty="0" smtClean="0">
                <a:solidFill>
                  <a:schemeClr val="bg1"/>
                </a:solidFill>
              </a:rPr>
              <a:t>Клиент</a:t>
            </a:r>
          </a:p>
          <a:p>
            <a:pPr algn="ctr"/>
            <a:r>
              <a:rPr lang="en-US" altLang="ru-RU" b="1" dirty="0" smtClean="0">
                <a:solidFill>
                  <a:schemeClr val="bg1"/>
                </a:solidFill>
              </a:rPr>
              <a:t>IP: 192.168.1.</a:t>
            </a:r>
            <a:r>
              <a:rPr lang="ru-RU" altLang="ru-RU" b="1" dirty="0" smtClean="0">
                <a:solidFill>
                  <a:schemeClr val="bg1"/>
                </a:solidFill>
              </a:rPr>
              <a:t>2</a:t>
            </a:r>
            <a:endParaRPr lang="ru-RU" altLang="ru-RU" b="1" dirty="0">
              <a:solidFill>
                <a:schemeClr val="bg1"/>
              </a:solidFill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03527" y="3605223"/>
            <a:ext cx="1371600" cy="838200"/>
          </a:xfrm>
          <a:prstGeom prst="rect">
            <a:avLst/>
          </a:prstGeom>
          <a:solidFill>
            <a:srgbClr val="D2472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Демон</a:t>
            </a:r>
          </a:p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Порт 80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545080" y="3416808"/>
            <a:ext cx="1371600" cy="609600"/>
          </a:xfrm>
          <a:prstGeom prst="rect">
            <a:avLst/>
          </a:prstGeom>
          <a:solidFill>
            <a:srgbClr val="008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Браузер</a:t>
            </a:r>
          </a:p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Порт 50298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545080" y="4178808"/>
            <a:ext cx="1371600" cy="6096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Браузер</a:t>
            </a:r>
          </a:p>
          <a:p>
            <a:pPr algn="ctr"/>
            <a:r>
              <a:rPr lang="ru-RU" altLang="ru-RU" b="1" dirty="0">
                <a:solidFill>
                  <a:schemeClr val="bg1"/>
                </a:solidFill>
              </a:rPr>
              <a:t>Порт 50302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3933704" y="3495952"/>
            <a:ext cx="3369822" cy="20238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3916678" y="3669622"/>
            <a:ext cx="3386848" cy="181119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endCxn id="11" idx="1"/>
          </p:cNvCxnSpPr>
          <p:nvPr/>
        </p:nvCxnSpPr>
        <p:spPr>
          <a:xfrm flipV="1">
            <a:off x="3916678" y="4024323"/>
            <a:ext cx="3386849" cy="31790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endCxn id="13" idx="3"/>
          </p:cNvCxnSpPr>
          <p:nvPr/>
        </p:nvCxnSpPr>
        <p:spPr>
          <a:xfrm flipH="1">
            <a:off x="3916680" y="4178808"/>
            <a:ext cx="3386846" cy="3048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48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74905" y="277326"/>
            <a:ext cx="10104120" cy="818298"/>
          </a:xfrm>
        </p:spPr>
        <p:txBody>
          <a:bodyPr/>
          <a:lstStyle/>
          <a:p>
            <a:r>
              <a:rPr lang="ru-RU" sz="3600" b="1" dirty="0"/>
              <a:t>Надежность на транспортном уровне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04437" y="0"/>
            <a:ext cx="10749367" cy="12088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15" name="Объект 2"/>
          <p:cNvSpPr>
            <a:spLocks noGrp="1"/>
          </p:cNvSpPr>
          <p:nvPr>
            <p:ph idx="1"/>
          </p:nvPr>
        </p:nvSpPr>
        <p:spPr>
          <a:xfrm>
            <a:off x="604437" y="1486194"/>
            <a:ext cx="10459803" cy="46421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/>
              <a:t>Транспортный уровень может обеспечить надежность передачи данных выше, чем у лежащей в его основе сети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</a:rPr>
              <a:t>Эффективно на практике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/>
              <a:t>Гарантия доставки данных: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</a:rPr>
              <a:t>Подтверждение получения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</a:rPr>
              <a:t>Повторная отправка не подтвержденных данных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/>
              <a:t>Гарантия порядка следования сообщений: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</a:rPr>
              <a:t>Нумерация сообщений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endParaRPr lang="ru-RU" sz="28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0671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85217" y="234578"/>
            <a:ext cx="10104120" cy="818298"/>
          </a:xfrm>
        </p:spPr>
        <p:txBody>
          <a:bodyPr/>
          <a:lstStyle/>
          <a:p>
            <a:r>
              <a:rPr lang="ru-RU" sz="3600" b="1" dirty="0"/>
              <a:t>Надежность на транспортном уровне</a:t>
            </a:r>
          </a:p>
        </p:txBody>
      </p:sp>
      <p:grpSp>
        <p:nvGrpSpPr>
          <p:cNvPr id="31" name="Группа 30"/>
          <p:cNvGrpSpPr/>
          <p:nvPr/>
        </p:nvGrpSpPr>
        <p:grpSpPr>
          <a:xfrm>
            <a:off x="651135" y="1453896"/>
            <a:ext cx="10385673" cy="5010912"/>
            <a:chOff x="319262" y="2209800"/>
            <a:chExt cx="7072138" cy="342900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2133600" y="2209800"/>
              <a:ext cx="5257800" cy="3429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133600" y="3886200"/>
              <a:ext cx="525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2133600" y="4800600"/>
              <a:ext cx="525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133600" y="3048000"/>
              <a:ext cx="525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402846" y="4953000"/>
              <a:ext cx="1554920" cy="484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Сетевых </a:t>
              </a:r>
              <a:b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</a:br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интерфейсов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33728" y="4114800"/>
              <a:ext cx="1001085" cy="273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Сетевой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19262" y="3276600"/>
              <a:ext cx="1691927" cy="273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ru-RU" altLang="ru-RU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Транспортный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37324" y="2438400"/>
              <a:ext cx="1457390" cy="273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Прикладной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362200" y="5029200"/>
              <a:ext cx="1676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Ethernet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4114800" y="5029200"/>
              <a:ext cx="1676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Wi-Fi</a:t>
              </a:r>
              <a:endParaRPr lang="ru-RU" altLang="ru-RU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5943600" y="5029200"/>
              <a:ext cx="1295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DSL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276600" y="4114800"/>
              <a:ext cx="1295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124200" y="3276600"/>
              <a:ext cx="1295400" cy="381000"/>
            </a:xfrm>
            <a:prstGeom prst="rect">
              <a:avLst/>
            </a:prstGeom>
            <a:solidFill>
              <a:srgbClr val="D2472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TCP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5257800" y="3276600"/>
              <a:ext cx="1295400" cy="381000"/>
            </a:xfrm>
            <a:prstGeom prst="rect">
              <a:avLst/>
            </a:prstGeom>
            <a:solidFill>
              <a:srgbClr val="D2472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UDP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286000" y="2438400"/>
              <a:ext cx="1066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505200" y="2438400"/>
              <a:ext cx="1066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SMTP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724400" y="2438400"/>
              <a:ext cx="1066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DNS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5943600" y="2438400"/>
              <a:ext cx="1295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FTP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4876800" y="4114800"/>
              <a:ext cx="1295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ICMP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2667000" y="4648200"/>
              <a:ext cx="1295400" cy="2286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ARP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4191000" y="4648200"/>
              <a:ext cx="12954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DHCP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4876800" y="4114800"/>
              <a:ext cx="1295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ICMP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4191000" y="4648200"/>
              <a:ext cx="1295400" cy="2286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DHCP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2667000" y="4648200"/>
              <a:ext cx="1295400" cy="228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ARP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4876800" y="4114800"/>
              <a:ext cx="1295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ICMP</a:t>
              </a:r>
              <a:endParaRPr lang="ru-RU" altLang="ru-RU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191000" y="4648200"/>
              <a:ext cx="1295400" cy="228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DHCP</a:t>
              </a:r>
              <a:endParaRPr lang="ru-RU" alt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40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/>
              <a:t>Интерфейс транспортного уровня </a:t>
            </a:r>
            <a:r>
              <a:rPr lang="en-US" sz="3600" b="1" dirty="0"/>
              <a:t>TCP/IP</a:t>
            </a:r>
            <a:endParaRPr lang="ru-RU" sz="3600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1188720" y="1591056"/>
            <a:ext cx="9637776" cy="4649010"/>
            <a:chOff x="685800" y="2057400"/>
            <a:chExt cx="7772400" cy="3958604"/>
          </a:xfrm>
        </p:grpSpPr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1295400" y="4572000"/>
              <a:ext cx="1752600" cy="914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Сетевых </a:t>
              </a:r>
            </a:p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интерфейсов</a:t>
              </a:r>
            </a:p>
          </p:txBody>
        </p:sp>
        <p:sp>
          <p:nvSpPr>
            <p:cNvPr id="33" name="Rectangle 5"/>
            <p:cNvSpPr>
              <a:spLocks noChangeArrowheads="1"/>
            </p:cNvSpPr>
            <p:nvPr/>
          </p:nvSpPr>
          <p:spPr bwMode="auto">
            <a:xfrm>
              <a:off x="1295400" y="4114800"/>
              <a:ext cx="1752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Сетевой</a:t>
              </a:r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1295400" y="3657600"/>
              <a:ext cx="1752600" cy="457200"/>
            </a:xfrm>
            <a:prstGeom prst="rect">
              <a:avLst/>
            </a:prstGeom>
            <a:solidFill>
              <a:srgbClr val="D2472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ru-RU" altLang="ru-RU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Транспортный</a:t>
              </a:r>
            </a:p>
          </p:txBody>
        </p:sp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1295400" y="2057400"/>
              <a:ext cx="1752600" cy="7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Приложение</a:t>
              </a: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5867400" y="4572000"/>
              <a:ext cx="1752600" cy="914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Сетевых </a:t>
              </a:r>
            </a:p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интерфейсов</a:t>
              </a:r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5867400" y="4114800"/>
              <a:ext cx="1752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Сетевой</a:t>
              </a:r>
            </a:p>
          </p:txBody>
        </p:sp>
        <p:sp>
          <p:nvSpPr>
            <p:cNvPr id="38" name="Rectangle 10"/>
            <p:cNvSpPr>
              <a:spLocks noChangeArrowheads="1"/>
            </p:cNvSpPr>
            <p:nvPr/>
          </p:nvSpPr>
          <p:spPr bwMode="auto">
            <a:xfrm>
              <a:off x="5867400" y="3657600"/>
              <a:ext cx="1752600" cy="457200"/>
            </a:xfrm>
            <a:prstGeom prst="rect">
              <a:avLst/>
            </a:prstGeom>
            <a:solidFill>
              <a:srgbClr val="D2472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ru-RU" altLang="ru-RU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Транспортный</a:t>
              </a: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1219200" y="5675313"/>
              <a:ext cx="1828800" cy="340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Хост 1</a:t>
              </a:r>
            </a:p>
          </p:txBody>
        </p:sp>
        <p:sp>
          <p:nvSpPr>
            <p:cNvPr id="40" name="Text Box 13"/>
            <p:cNvSpPr txBox="1">
              <a:spLocks noChangeArrowheads="1"/>
            </p:cNvSpPr>
            <p:nvPr/>
          </p:nvSpPr>
          <p:spPr bwMode="auto">
            <a:xfrm>
              <a:off x="5791200" y="5638800"/>
              <a:ext cx="1828800" cy="340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Хост 2</a:t>
              </a:r>
            </a:p>
          </p:txBody>
        </p:sp>
        <p:sp>
          <p:nvSpPr>
            <p:cNvPr id="41" name="Line 14"/>
            <p:cNvSpPr>
              <a:spLocks noChangeShapeType="1"/>
            </p:cNvSpPr>
            <p:nvPr/>
          </p:nvSpPr>
          <p:spPr bwMode="auto">
            <a:xfrm>
              <a:off x="3048000" y="3886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3124200" y="3505200"/>
              <a:ext cx="2667000" cy="340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ru-RU" altLang="ru-RU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Протокол </a:t>
              </a:r>
              <a:r>
                <a:rPr lang="en-US" altLang="ru-RU" sz="20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TCP</a:t>
              </a:r>
              <a:r>
                <a:rPr lang="ru-RU" altLang="ru-RU" sz="20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/</a:t>
              </a:r>
              <a:r>
                <a:rPr lang="en-US" altLang="ru-RU" sz="20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UDP</a:t>
              </a:r>
              <a:endParaRPr lang="ru-RU" altLang="ru-RU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>
              <a:off x="2209800" y="28194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4" name="Text Box 18"/>
            <p:cNvSpPr txBox="1">
              <a:spLocks noChangeArrowheads="1"/>
            </p:cNvSpPr>
            <p:nvPr/>
          </p:nvSpPr>
          <p:spPr bwMode="auto">
            <a:xfrm>
              <a:off x="685800" y="2895600"/>
              <a:ext cx="1524000" cy="602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Интерфейс </a:t>
              </a:r>
            </a:p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сокетов</a:t>
              </a:r>
            </a:p>
          </p:txBody>
        </p:sp>
        <p:sp>
          <p:nvSpPr>
            <p:cNvPr id="45" name="Rectangle 19"/>
            <p:cNvSpPr>
              <a:spLocks noChangeArrowheads="1"/>
            </p:cNvSpPr>
            <p:nvPr/>
          </p:nvSpPr>
          <p:spPr bwMode="auto">
            <a:xfrm>
              <a:off x="5867400" y="2057400"/>
              <a:ext cx="1752600" cy="7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Приложение</a:t>
              </a:r>
            </a:p>
          </p:txBody>
        </p:sp>
        <p:sp>
          <p:nvSpPr>
            <p:cNvPr id="46" name="Line 20"/>
            <p:cNvSpPr>
              <a:spLocks noChangeShapeType="1"/>
            </p:cNvSpPr>
            <p:nvPr/>
          </p:nvSpPr>
          <p:spPr bwMode="auto">
            <a:xfrm>
              <a:off x="6781800" y="28194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0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7" name="Text Box 21"/>
            <p:cNvSpPr txBox="1">
              <a:spLocks noChangeArrowheads="1"/>
            </p:cNvSpPr>
            <p:nvPr/>
          </p:nvSpPr>
          <p:spPr bwMode="auto">
            <a:xfrm>
              <a:off x="6934200" y="2895600"/>
              <a:ext cx="1524000" cy="602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Интерфейс </a:t>
              </a:r>
            </a:p>
            <a:p>
              <a:pPr algn="ctr"/>
              <a:r>
                <a:rPr lang="ru-RU" altLang="ru-RU" sz="2000" b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сокетов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Краткие итоги</a:t>
            </a:r>
            <a:endParaRPr lang="ru-RU" sz="3600" b="1" dirty="0"/>
          </a:p>
        </p:txBody>
      </p:sp>
      <p:sp>
        <p:nvSpPr>
          <p:cNvPr id="20" name="Объект 2"/>
          <p:cNvSpPr>
            <a:spLocks noGrp="1"/>
          </p:cNvSpPr>
          <p:nvPr>
            <p:ph idx="1"/>
          </p:nvPr>
        </p:nvSpPr>
        <p:spPr>
          <a:xfrm>
            <a:off x="604437" y="1472184"/>
            <a:ext cx="10697547" cy="46561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 smtClean="0"/>
              <a:t>Транспортный уровень – с</a:t>
            </a:r>
            <a:r>
              <a:rPr lang="ru-RU" sz="2400" b="1" dirty="0" smtClean="0">
                <a:latin typeface="Verdana" panose="020B0604030504040204" pitchFamily="34" charset="0"/>
              </a:rPr>
              <a:t>вязь процессов на разных хостах</a:t>
            </a:r>
            <a:endParaRPr lang="ru-RU" sz="2400" b="1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Адресация – порты</a:t>
            </a:r>
            <a:endParaRPr lang="ru-RU" sz="2400" b="1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err="1" smtClean="0"/>
              <a:t>Сетенезависимый</a:t>
            </a:r>
            <a:r>
              <a:rPr lang="ru-RU" sz="2800" b="1" dirty="0" smtClean="0"/>
              <a:t> уровень</a:t>
            </a:r>
            <a:endParaRPr lang="ru-RU" sz="2800" b="1" dirty="0"/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Может обеспечивать надежность выше, чем у сети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Протоколы:</a:t>
            </a:r>
            <a:endParaRPr lang="ru-RU" sz="2800" b="1" dirty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Verdana" panose="020B0604030504040204" pitchFamily="34" charset="0"/>
              </a:rPr>
              <a:t>TCP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Verdana" panose="020B0604030504040204" pitchFamily="34" charset="0"/>
              </a:rPr>
              <a:t>UDP</a:t>
            </a:r>
            <a:endParaRPr lang="ru-RU" sz="2400" b="1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Интерфейс:</a:t>
            </a:r>
            <a:endParaRPr lang="ru-RU" sz="2800" b="1" dirty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 smtClean="0">
                <a:latin typeface="Verdana" panose="020B0604030504040204" pitchFamily="34" charset="0"/>
              </a:rPr>
              <a:t>Сокеты</a:t>
            </a:r>
            <a:endParaRPr lang="en-US" sz="2400" b="1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endParaRPr lang="ru-RU" sz="2800" b="1" dirty="0"/>
          </a:p>
          <a:p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29402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1417321"/>
            <a:ext cx="8825658" cy="2807208"/>
          </a:xfrm>
        </p:spPr>
        <p:txBody>
          <a:bodyPr/>
          <a:lstStyle/>
          <a:p>
            <a:r>
              <a:rPr lang="ru-RU" dirty="0" smtClean="0"/>
              <a:t>Протокол </a:t>
            </a:r>
            <a:r>
              <a:rPr lang="en-US" dirty="0" smtClean="0"/>
              <a:t>UDP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Блок «Основы сетей передачи данных </a:t>
            </a:r>
            <a:r>
              <a:rPr lang="en-US" dirty="0" smtClean="0"/>
              <a:t>TCP/IP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29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Протокол </a:t>
            </a:r>
            <a:r>
              <a:rPr lang="en-US" sz="3600" b="1" dirty="0" smtClean="0"/>
              <a:t>UDP.</a:t>
            </a:r>
            <a:r>
              <a:rPr lang="ru-RU" sz="3600" b="1" dirty="0" smtClean="0"/>
              <a:t>Основы.</a:t>
            </a:r>
            <a:endParaRPr lang="ru-RU" sz="3600" b="1" dirty="0"/>
          </a:p>
        </p:txBody>
      </p:sp>
      <p:sp>
        <p:nvSpPr>
          <p:cNvPr id="5" name="Объект 2"/>
          <p:cNvSpPr>
            <a:spLocks noGrp="1"/>
          </p:cNvSpPr>
          <p:nvPr/>
        </p:nvSpPr>
        <p:spPr>
          <a:xfrm>
            <a:off x="890958" y="1427067"/>
            <a:ext cx="1031044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err="1"/>
              <a:t>User</a:t>
            </a:r>
            <a:r>
              <a:rPr lang="ru-RU" sz="2800" b="1" dirty="0"/>
              <a:t> </a:t>
            </a:r>
            <a:r>
              <a:rPr lang="ru-RU" sz="2800" b="1" dirty="0" err="1"/>
              <a:t>Datagram</a:t>
            </a:r>
            <a:r>
              <a:rPr lang="ru-RU" sz="2800" b="1" dirty="0"/>
              <a:t> </a:t>
            </a:r>
            <a:r>
              <a:rPr lang="ru-RU" sz="2800" b="1" dirty="0" err="1"/>
              <a:t>Protocol</a:t>
            </a:r>
            <a:r>
              <a:rPr lang="ru-RU" sz="2800" b="1" dirty="0"/>
              <a:t> (UDP) </a:t>
            </a:r>
            <a:r>
              <a:rPr lang="ru-RU" sz="2800" dirty="0"/>
              <a:t>— протокол дейтаграмм пользователя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/>
              <a:t>Сообщение UDP называется </a:t>
            </a:r>
            <a:r>
              <a:rPr lang="ru-RU" sz="2800" b="1" dirty="0"/>
              <a:t>дейтаграмма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Аналогия с телеграммой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/>
              <a:t>Особенности UDP: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Нет соединения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Нет гарантии доставки данных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/>
              <a:t>Нет гарантии сохранения порядка сообщений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Надежность</a:t>
            </a:r>
            <a:r>
              <a:rPr lang="ru-RU" sz="2800" dirty="0" smtClean="0"/>
              <a:t> доставки по сравнению с IP не повышается</a:t>
            </a:r>
            <a:endParaRPr lang="ru-RU" sz="28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0907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Формат заголовка </a:t>
            </a:r>
            <a:r>
              <a:rPr lang="en-US" sz="3600" b="1" dirty="0" smtClean="0"/>
              <a:t>UDP</a:t>
            </a:r>
            <a:endParaRPr lang="ru-RU" sz="3600" b="1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604437" y="4351867"/>
            <a:ext cx="7410851" cy="1776458"/>
          </a:xfrm>
        </p:spPr>
        <p:txBody>
          <a:bodyPr/>
          <a:lstStyle/>
          <a:p>
            <a:pPr lv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altLang="ru-RU" sz="2800" dirty="0">
                <a:solidFill>
                  <a:schemeClr val="tx1"/>
                </a:solidFill>
              </a:rPr>
              <a:t>Длина UDP:</a:t>
            </a:r>
          </a:p>
          <a:p>
            <a:pPr marL="622300" indent="-3429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/>
                </a:solidFill>
              </a:rPr>
              <a:t>Минимум 8 байт (только заголовок)</a:t>
            </a:r>
          </a:p>
          <a:p>
            <a:pPr marL="622300" indent="-3429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/>
                </a:solidFill>
              </a:rPr>
              <a:t>Максимум 65 515 байт (максимальная длина данных IP-пакета)</a:t>
            </a:r>
          </a:p>
          <a:p>
            <a:endParaRPr 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905256" y="1559181"/>
            <a:ext cx="8860536" cy="2370667"/>
            <a:chOff x="457200" y="1981200"/>
            <a:chExt cx="8001000" cy="2133600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57200" y="1981200"/>
              <a:ext cx="80010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2400" b="1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457200" y="3048000"/>
              <a:ext cx="800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400" b="1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4495800" y="1981200"/>
              <a:ext cx="0" cy="213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 sz="2400" b="1"/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457200" y="2133600"/>
              <a:ext cx="3962400" cy="747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ru-RU" sz="2400" b="1" dirty="0"/>
                <a:t>16 </a:t>
              </a:r>
              <a:r>
                <a:rPr lang="ru-RU" altLang="ru-RU" sz="2400" b="1" dirty="0"/>
                <a:t>бит</a:t>
              </a:r>
            </a:p>
            <a:p>
              <a:pPr algn="ctr"/>
              <a:r>
                <a:rPr lang="ru-RU" altLang="ru-RU" sz="2400" b="1" dirty="0"/>
                <a:t>Порт отправителя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4495800" y="2133600"/>
              <a:ext cx="3962400" cy="747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ru-RU" sz="2400" b="1"/>
                <a:t>16 </a:t>
              </a:r>
              <a:r>
                <a:rPr lang="ru-RU" altLang="ru-RU" sz="2400" b="1"/>
                <a:t>бит</a:t>
              </a:r>
            </a:p>
            <a:p>
              <a:pPr algn="ctr"/>
              <a:r>
                <a:rPr lang="ru-RU" altLang="ru-RU" sz="2400" b="1"/>
                <a:t>Порт получателя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57200" y="3200400"/>
              <a:ext cx="3962400" cy="747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ru-RU" sz="2400" b="1" dirty="0"/>
                <a:t>16 </a:t>
              </a:r>
              <a:r>
                <a:rPr lang="ru-RU" altLang="ru-RU" sz="2400" b="1" dirty="0"/>
                <a:t>бит</a:t>
              </a:r>
            </a:p>
            <a:p>
              <a:pPr algn="ctr"/>
              <a:r>
                <a:rPr lang="ru-RU" altLang="ru-RU" sz="2400" b="1" dirty="0"/>
                <a:t>Длина </a:t>
              </a:r>
              <a:r>
                <a:rPr lang="en-US" altLang="ru-RU" sz="2400" b="1" dirty="0"/>
                <a:t>UDP</a:t>
              </a:r>
              <a:endParaRPr lang="ru-RU" altLang="ru-RU" sz="2400" b="1" dirty="0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4419600" y="3200400"/>
              <a:ext cx="3962400" cy="747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ru-RU" sz="2400" b="1"/>
                <a:t>16 </a:t>
              </a:r>
              <a:r>
                <a:rPr lang="ru-RU" altLang="ru-RU" sz="2400" b="1"/>
                <a:t>бит</a:t>
              </a:r>
            </a:p>
            <a:p>
              <a:pPr algn="ctr"/>
              <a:r>
                <a:rPr lang="ru-RU" altLang="ru-RU" sz="2400" b="1"/>
                <a:t>Контрольная сумма </a:t>
              </a:r>
              <a:r>
                <a:rPr lang="en-US" altLang="ru-RU" sz="2400" b="1"/>
                <a:t>UDP</a:t>
              </a:r>
              <a:endParaRPr lang="ru-RU" altLang="ru-RU" sz="2400" b="1"/>
            </a:p>
          </p:txBody>
        </p:sp>
      </p:grpSp>
    </p:spTree>
    <p:extLst>
      <p:ext uri="{BB962C8B-B14F-4D97-AF65-F5344CB8AC3E}">
        <p14:creationId xmlns:p14="http://schemas.microsoft.com/office/powerpoint/2010/main" val="272385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Применение </a:t>
            </a:r>
            <a:r>
              <a:rPr lang="en-US" sz="3600" b="1" dirty="0" smtClean="0"/>
              <a:t>UDP</a:t>
            </a:r>
            <a:endParaRPr lang="ru-RU" sz="3600" b="1" dirty="0"/>
          </a:p>
        </p:txBody>
      </p:sp>
      <p:sp>
        <p:nvSpPr>
          <p:cNvPr id="14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11081595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>
                <a:solidFill>
                  <a:schemeClr val="tx1"/>
                </a:solidFill>
              </a:rPr>
              <a:t>Преимущество UDP – скорость работы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Нет накладных расходов на установку соединения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>
                <a:solidFill>
                  <a:schemeClr val="tx1"/>
                </a:solidFill>
              </a:rPr>
              <a:t>Надежность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В современных сетях ошибки происходят редко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Ошибку может обработать приложение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>
                <a:solidFill>
                  <a:schemeClr val="tx1"/>
                </a:solidFill>
              </a:rPr>
              <a:t>Область применения 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Клиент-сервер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Короткие запросы-ответы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1397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Применение </a:t>
            </a:r>
            <a:r>
              <a:rPr lang="en-US" sz="3600" b="1" dirty="0" smtClean="0"/>
              <a:t>UDP</a:t>
            </a:r>
            <a:endParaRPr lang="ru-RU" sz="3600" b="1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10487235" cy="22372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800" dirty="0" smtClean="0">
                <a:solidFill>
                  <a:schemeClr val="tx1"/>
                </a:solidFill>
              </a:rPr>
              <a:t>DNS – </a:t>
            </a:r>
            <a:r>
              <a:rPr lang="ru-RU" sz="2800" dirty="0" smtClean="0">
                <a:solidFill>
                  <a:schemeClr val="tx1"/>
                </a:solidFill>
              </a:rPr>
              <a:t>система доменных имен</a:t>
            </a:r>
            <a:endParaRPr lang="ru-RU" sz="2800" dirty="0">
              <a:solidFill>
                <a:schemeClr val="tx1"/>
              </a:solidFill>
            </a:endParaRP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tx1"/>
                </a:solidFill>
              </a:rPr>
              <a:t>Позволяет определить по доменному имени </a:t>
            </a:r>
            <a:r>
              <a:rPr lang="en-US" sz="2400" dirty="0" smtClean="0">
                <a:solidFill>
                  <a:schemeClr val="tx1"/>
                </a:solidFill>
              </a:rPr>
              <a:t>IP</a:t>
            </a:r>
            <a:r>
              <a:rPr lang="ru-RU" sz="2400" dirty="0" smtClean="0">
                <a:solidFill>
                  <a:schemeClr val="tx1"/>
                </a:solidFill>
              </a:rPr>
              <a:t>-адрес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hlinkClick r:id="rId2"/>
              </a:rPr>
              <a:t>www.cisco.com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400" dirty="0" smtClean="0">
                <a:solidFill>
                  <a:schemeClr val="tx1"/>
                </a:solidFill>
              </a:rPr>
              <a:t> 184.86.0.170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tx1"/>
                </a:solidFill>
              </a:rPr>
              <a:t>Использует </a:t>
            </a:r>
            <a:r>
              <a:rPr lang="en-US" sz="2400" dirty="0" smtClean="0">
                <a:solidFill>
                  <a:schemeClr val="tx1"/>
                </a:solidFill>
              </a:rPr>
              <a:t>UDP</a:t>
            </a:r>
            <a:r>
              <a:rPr lang="ru-RU" sz="2400" dirty="0" smtClean="0">
                <a:solidFill>
                  <a:schemeClr val="tx1"/>
                </a:solidFill>
              </a:rPr>
              <a:t>, порт 53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 smtClean="0">
              <a:solidFill>
                <a:schemeClr val="tx1"/>
              </a:solidFill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7490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47473" y="318864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Применение </a:t>
            </a:r>
            <a:r>
              <a:rPr lang="en-US" sz="3600" b="1" dirty="0" smtClean="0"/>
              <a:t>UDP:DNS</a:t>
            </a:r>
            <a:endParaRPr lang="ru-RU" sz="3600" b="1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8034287" y="3420817"/>
            <a:ext cx="21683" cy="24313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H="1">
            <a:off x="3133169" y="3298351"/>
            <a:ext cx="8094" cy="25538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00655" y="1893190"/>
            <a:ext cx="2071045" cy="631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Клиент </a:t>
            </a:r>
            <a:r>
              <a:rPr lang="en-US" sz="2000" dirty="0" smtClean="0"/>
              <a:t>DNS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891915" y="1893190"/>
            <a:ext cx="2855589" cy="631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Сервер</a:t>
            </a:r>
            <a:r>
              <a:rPr lang="en-US" sz="2000" dirty="0" smtClean="0"/>
              <a:t> DNS</a:t>
            </a:r>
            <a:endParaRPr lang="ru-RU" sz="20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060" y="2318387"/>
            <a:ext cx="968217" cy="119280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139" y="2630716"/>
            <a:ext cx="851665" cy="1049214"/>
          </a:xfrm>
          <a:prstGeom prst="rect">
            <a:avLst/>
          </a:prstGeom>
        </p:spPr>
      </p:pic>
      <p:grpSp>
        <p:nvGrpSpPr>
          <p:cNvPr id="16" name="Группа 15"/>
          <p:cNvGrpSpPr/>
          <p:nvPr/>
        </p:nvGrpSpPr>
        <p:grpSpPr>
          <a:xfrm>
            <a:off x="3137216" y="3219830"/>
            <a:ext cx="4922802" cy="962414"/>
            <a:chOff x="3137216" y="3219830"/>
            <a:chExt cx="4922802" cy="962414"/>
          </a:xfrm>
        </p:grpSpPr>
        <p:cxnSp>
          <p:nvCxnSpPr>
            <p:cNvPr id="12" name="Прямая со стрелкой 11"/>
            <p:cNvCxnSpPr/>
            <p:nvPr/>
          </p:nvCxnSpPr>
          <p:spPr>
            <a:xfrm>
              <a:off x="3137216" y="3752213"/>
              <a:ext cx="4922802" cy="4300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692340" y="3219830"/>
              <a:ext cx="4027260" cy="582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Какой </a:t>
              </a:r>
              <a:r>
                <a:rPr lang="en-US" dirty="0" smtClean="0"/>
                <a:t>IP </a:t>
              </a:r>
              <a:r>
                <a:rPr lang="ru-RU" dirty="0" smtClean="0"/>
                <a:t>у </a:t>
              </a:r>
              <a:r>
                <a:rPr lang="en-US" dirty="0" smtClean="0"/>
                <a:t>www.cisco.com?</a:t>
              </a:r>
              <a:endParaRPr lang="ru-RU" dirty="0"/>
            </a:p>
          </p:txBody>
        </p:sp>
      </p:grpSp>
      <p:cxnSp>
        <p:nvCxnSpPr>
          <p:cNvPr id="14" name="Прямая со стрелкой 13"/>
          <p:cNvCxnSpPr/>
          <p:nvPr/>
        </p:nvCxnSpPr>
        <p:spPr>
          <a:xfrm flipH="1">
            <a:off x="3137216" y="4542020"/>
            <a:ext cx="4897071" cy="430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51145" y="4155160"/>
            <a:ext cx="4027260" cy="582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184.86.0.170</a:t>
            </a:r>
          </a:p>
        </p:txBody>
      </p:sp>
    </p:spTree>
    <p:extLst>
      <p:ext uri="{BB962C8B-B14F-4D97-AF65-F5344CB8AC3E}">
        <p14:creationId xmlns:p14="http://schemas.microsoft.com/office/powerpoint/2010/main" val="415561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75465" y="142070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Применение </a:t>
            </a:r>
            <a:r>
              <a:rPr lang="en-US" sz="3600" b="1" dirty="0" smtClean="0"/>
              <a:t>UDP</a:t>
            </a:r>
            <a:r>
              <a:rPr lang="ru-RU" sz="3600" b="1" dirty="0" smtClean="0"/>
              <a:t>:</a:t>
            </a:r>
            <a:r>
              <a:rPr lang="en-US" sz="3600" b="1" dirty="0" smtClean="0"/>
              <a:t>DNS</a:t>
            </a:r>
            <a:endParaRPr lang="ru-RU" sz="3600" b="1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8247034" y="3097943"/>
            <a:ext cx="23752" cy="29109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>
            <a:off x="2878281" y="2951319"/>
            <a:ext cx="8866" cy="30575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56793" y="1268963"/>
            <a:ext cx="2268652" cy="755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Клиент </a:t>
            </a:r>
            <a:r>
              <a:rPr lang="en-US" sz="2000" dirty="0" smtClean="0"/>
              <a:t>DNS</a:t>
            </a:r>
            <a:endParaRPr lang="ru-RU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6995663" y="1268963"/>
            <a:ext cx="3128052" cy="755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Сервер</a:t>
            </a:r>
            <a:r>
              <a:rPr lang="en-US" sz="2000" dirty="0" smtClean="0"/>
              <a:t> DNS</a:t>
            </a:r>
            <a:endParaRPr lang="ru-RU" sz="20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982" y="1778038"/>
            <a:ext cx="1060598" cy="1428103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24" y="2151979"/>
            <a:ext cx="932926" cy="12561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90805" y="4035997"/>
            <a:ext cx="4411516" cy="697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Какой </a:t>
            </a:r>
            <a:r>
              <a:rPr lang="en-US" dirty="0" smtClean="0"/>
              <a:t>IP </a:t>
            </a:r>
            <a:r>
              <a:rPr lang="ru-RU" dirty="0" smtClean="0"/>
              <a:t>у </a:t>
            </a:r>
            <a:r>
              <a:rPr lang="en-US" dirty="0" smtClean="0"/>
              <a:t>www.cisco.com?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 flipH="1">
            <a:off x="2878281" y="5308726"/>
            <a:ext cx="5364319" cy="5152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34767" y="4941299"/>
            <a:ext cx="4411516" cy="697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184.86.0.170</a:t>
            </a:r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2882714" y="4594338"/>
            <a:ext cx="5392505" cy="5148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/>
        </p:nvGrpSpPr>
        <p:grpSpPr>
          <a:xfrm>
            <a:off x="2882714" y="2854954"/>
            <a:ext cx="5048735" cy="1236390"/>
            <a:chOff x="2882714" y="2854954"/>
            <a:chExt cx="5048735" cy="1236390"/>
          </a:xfrm>
        </p:grpSpPr>
        <p:cxnSp>
          <p:nvCxnSpPr>
            <p:cNvPr id="23" name="Прямая со стрелкой 22"/>
            <p:cNvCxnSpPr/>
            <p:nvPr/>
          </p:nvCxnSpPr>
          <p:spPr>
            <a:xfrm>
              <a:off x="2882714" y="3494713"/>
              <a:ext cx="2696252" cy="2189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519933" y="2854954"/>
              <a:ext cx="4411516" cy="697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Какой </a:t>
              </a:r>
              <a:r>
                <a:rPr lang="en-US" dirty="0" smtClean="0"/>
                <a:t>IP </a:t>
              </a:r>
              <a:r>
                <a:rPr lang="ru-RU" dirty="0" smtClean="0"/>
                <a:t>у </a:t>
              </a:r>
              <a:r>
                <a:rPr lang="en-US" dirty="0" smtClean="0"/>
                <a:t>www.cisco.com?</a:t>
              </a:r>
              <a:endParaRPr lang="ru-RU" dirty="0"/>
            </a:p>
          </p:txBody>
        </p:sp>
        <p:sp>
          <p:nvSpPr>
            <p:cNvPr id="29" name="Пятно 2 28"/>
            <p:cNvSpPr/>
            <p:nvPr/>
          </p:nvSpPr>
          <p:spPr>
            <a:xfrm>
              <a:off x="5303564" y="3472145"/>
              <a:ext cx="522621" cy="619199"/>
            </a:xfrm>
            <a:prstGeom prst="irregularSeal2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0" name="Рисунок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779" y="3134588"/>
            <a:ext cx="720249" cy="720249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752" y="4234213"/>
            <a:ext cx="720249" cy="7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0601" y="208977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Протокол </a:t>
            </a:r>
            <a:r>
              <a:rPr lang="en-US" sz="3600" b="1" dirty="0" smtClean="0"/>
              <a:t>UDP. </a:t>
            </a:r>
            <a:r>
              <a:rPr lang="ru-RU" sz="3600" b="1" dirty="0" smtClean="0"/>
              <a:t>Краткие итоги</a:t>
            </a:r>
            <a:endParaRPr lang="ru-RU" sz="3600" b="1" dirty="0"/>
          </a:p>
        </p:txBody>
      </p:sp>
      <p:sp>
        <p:nvSpPr>
          <p:cNvPr id="32" name="Объект 2"/>
          <p:cNvSpPr>
            <a:spLocks noGrp="1"/>
          </p:cNvSpPr>
          <p:nvPr>
            <p:ph idx="1"/>
          </p:nvPr>
        </p:nvSpPr>
        <p:spPr>
          <a:xfrm>
            <a:off x="604437" y="1298448"/>
            <a:ext cx="10688403" cy="482987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/>
              <a:t>UDP (User Datagram Protocol) – </a:t>
            </a:r>
            <a:r>
              <a:rPr lang="ru-RU" sz="2800" b="1" dirty="0" smtClean="0"/>
              <a:t>протокол дейтаграмм пользователя</a:t>
            </a:r>
            <a:endParaRPr lang="ru-RU" sz="2400" b="1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Транспортный уровень модели </a:t>
            </a:r>
            <a:r>
              <a:rPr lang="en-US" sz="2800" b="1" dirty="0" smtClean="0"/>
              <a:t>OSI</a:t>
            </a:r>
            <a:endParaRPr lang="ru-RU" sz="2400" b="1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Не обеспечивает дополнительную надежность</a:t>
            </a:r>
            <a:endParaRPr lang="ru-RU" sz="2800" b="1" dirty="0"/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Основная задача – указать порты отправителя и получателя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Скорость выше, чем у </a:t>
            </a:r>
            <a:r>
              <a:rPr lang="en-US" sz="2800" b="1" dirty="0" smtClean="0"/>
              <a:t>TCP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/>
              <a:t>Область применения 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/>
              <a:t>Клиент-сервер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/>
              <a:t>Короткие </a:t>
            </a:r>
            <a:r>
              <a:rPr lang="ru-RU" sz="2400" b="1" dirty="0" smtClean="0"/>
              <a:t>запросы-ответы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73676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1417321"/>
            <a:ext cx="8825658" cy="2807208"/>
          </a:xfrm>
        </p:spPr>
        <p:txBody>
          <a:bodyPr/>
          <a:lstStyle/>
          <a:p>
            <a:r>
              <a:rPr lang="ru-RU" dirty="0" smtClean="0"/>
              <a:t>Протокол </a:t>
            </a:r>
            <a:r>
              <a:rPr lang="en-US" dirty="0" smtClean="0"/>
              <a:t>TCP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Блок «Основы сетей передачи данных </a:t>
            </a:r>
            <a:r>
              <a:rPr lang="en-US" dirty="0" smtClean="0"/>
              <a:t>TCP/IP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814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0601" y="208977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Протокол </a:t>
            </a:r>
            <a:r>
              <a:rPr lang="en-US" sz="3600" b="1" dirty="0" smtClean="0"/>
              <a:t>TCP</a:t>
            </a:r>
            <a:endParaRPr lang="ru-RU" sz="3600" b="1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1007575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800" b="1" dirty="0" smtClean="0"/>
              <a:t>Transmission Control Protocol </a:t>
            </a:r>
            <a:r>
              <a:rPr lang="ru-RU" sz="2800" b="1" dirty="0" smtClean="0"/>
              <a:t>(</a:t>
            </a:r>
            <a:r>
              <a:rPr lang="en-US" sz="2800" b="1" dirty="0" smtClean="0"/>
              <a:t>TCP</a:t>
            </a:r>
            <a:r>
              <a:rPr lang="ru-RU" sz="2800" b="1" dirty="0" smtClean="0"/>
              <a:t>) </a:t>
            </a:r>
            <a:r>
              <a:rPr lang="en-US" sz="2800" dirty="0" smtClean="0"/>
              <a:t>– </a:t>
            </a:r>
            <a:r>
              <a:rPr lang="ru-RU" sz="2800" dirty="0"/>
              <a:t>протокол управления передачей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 smtClean="0"/>
              <a:t>Сервис </a:t>
            </a:r>
            <a:r>
              <a:rPr lang="en-US" sz="2800" dirty="0" smtClean="0"/>
              <a:t>TCP</a:t>
            </a:r>
            <a:endParaRPr lang="ru-RU" sz="2800" b="1" dirty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 smtClean="0"/>
              <a:t>Надежная</a:t>
            </a:r>
            <a:r>
              <a:rPr lang="ru-RU" sz="2400" dirty="0" smtClean="0"/>
              <a:t> передача потока байт</a:t>
            </a:r>
            <a:r>
              <a:rPr lang="en-US" sz="2400" dirty="0"/>
              <a:t> (reliable byte stream)</a:t>
            </a:r>
            <a:endParaRPr lang="ru-RU" sz="2400" dirty="0" smtClean="0"/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 smtClean="0"/>
              <a:t>Гарантии </a:t>
            </a:r>
            <a:r>
              <a:rPr lang="en-US" sz="2800" dirty="0" smtClean="0"/>
              <a:t>TCP</a:t>
            </a:r>
            <a:r>
              <a:rPr lang="ru-RU" sz="2800" dirty="0" smtClean="0"/>
              <a:t>:</a:t>
            </a:r>
            <a:endParaRPr lang="ru-RU" sz="2800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Доставка данных</a:t>
            </a:r>
            <a:endParaRPr lang="ru-RU" sz="2400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Сохранения </a:t>
            </a:r>
            <a:r>
              <a:rPr lang="ru-RU" sz="2400" dirty="0"/>
              <a:t>порядка </a:t>
            </a:r>
            <a:r>
              <a:rPr lang="ru-RU" sz="2400" dirty="0" smtClean="0"/>
              <a:t>следования сообщений</a:t>
            </a:r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3077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0601" y="208977"/>
            <a:ext cx="10104120" cy="818298"/>
          </a:xfrm>
        </p:spPr>
        <p:txBody>
          <a:bodyPr/>
          <a:lstStyle/>
          <a:p>
            <a:r>
              <a:rPr lang="ru-RU" sz="3600" b="1" dirty="0" smtClean="0"/>
              <a:t>Протокол </a:t>
            </a:r>
            <a:r>
              <a:rPr lang="en-US" sz="3600" b="1" dirty="0" smtClean="0"/>
              <a:t>TCP</a:t>
            </a:r>
            <a:endParaRPr lang="ru-RU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1836158"/>
            <a:ext cx="2834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Прикладной уровень</a:t>
            </a:r>
            <a:endParaRPr lang="ru-RU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584448" y="1627632"/>
            <a:ext cx="7324344" cy="786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Поток байт</a:t>
            </a:r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612648" y="2935224"/>
            <a:ext cx="11000232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3295627"/>
            <a:ext cx="305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Транспортный уровень</a:t>
            </a:r>
            <a:endParaRPr lang="ru-RU" sz="2000" b="1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3584448" y="3271767"/>
            <a:ext cx="7324344" cy="786384"/>
            <a:chOff x="3584448" y="3271767"/>
            <a:chExt cx="8485632" cy="786384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3584448" y="3271767"/>
              <a:ext cx="2075688" cy="7863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Сегмент</a:t>
              </a:r>
              <a:endParaRPr lang="ru-RU" dirty="0"/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5721096" y="3271767"/>
              <a:ext cx="2075688" cy="7863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Сегмент</a:t>
              </a:r>
              <a:endParaRPr lang="ru-RU" dirty="0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7857744" y="3271767"/>
              <a:ext cx="2075688" cy="7863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Сегмент</a:t>
              </a:r>
              <a:endParaRPr lang="ru-RU" dirty="0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9994392" y="3271767"/>
              <a:ext cx="2075688" cy="7863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Сегмент</a:t>
              </a:r>
              <a:endParaRPr lang="ru-RU" dirty="0"/>
            </a:p>
          </p:txBody>
        </p:sp>
      </p:grpSp>
      <p:cxnSp>
        <p:nvCxnSpPr>
          <p:cNvPr id="16" name="Прямая со стрелкой 15"/>
          <p:cNvCxnSpPr/>
          <p:nvPr/>
        </p:nvCxnSpPr>
        <p:spPr>
          <a:xfrm>
            <a:off x="7241540" y="2471420"/>
            <a:ext cx="0" cy="77978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>
            <a:off x="3574288" y="1516380"/>
            <a:ext cx="10160" cy="2670679"/>
          </a:xfrm>
          <a:prstGeom prst="line">
            <a:avLst/>
          </a:prstGeom>
          <a:ln w="5715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10903712" y="1516379"/>
            <a:ext cx="10160" cy="2670679"/>
          </a:xfrm>
          <a:prstGeom prst="line">
            <a:avLst/>
          </a:prstGeom>
          <a:ln w="5715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3599888" y="40721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3599888" y="4300712"/>
            <a:ext cx="9717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Байт 0</a:t>
            </a: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5428688" y="40721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7272929" y="40721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9117169" y="40721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5428688" y="4300712"/>
            <a:ext cx="14141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Байт 1024</a:t>
            </a: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7272929" y="4300712"/>
            <a:ext cx="14141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Байт 2048</a:t>
            </a:r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9117169" y="4300712"/>
            <a:ext cx="14141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Байт 3072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781203" y="5340090"/>
            <a:ext cx="110865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400" dirty="0" smtClean="0">
                <a:solidFill>
                  <a:schemeClr val="tx1"/>
                </a:solidFill>
              </a:rPr>
              <a:t>Сегменты передаются отдельно от отправителя к получателю</a:t>
            </a:r>
            <a:endParaRPr lang="ru-RU" sz="2400" b="1" dirty="0" smtClean="0">
              <a:solidFill>
                <a:schemeClr val="tx1"/>
              </a:solidFill>
            </a:endParaRP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</a:rPr>
              <a:t>Получатель </a:t>
            </a:r>
            <a:r>
              <a:rPr lang="ru-RU" sz="2000" dirty="0" smtClean="0">
                <a:solidFill>
                  <a:schemeClr val="tx1"/>
                </a:solidFill>
              </a:rPr>
              <a:t>собирает сегменты и передает принимающему приложению поток байт</a:t>
            </a:r>
            <a:endParaRPr lang="ru-RU" sz="20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48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11456" y="148408"/>
            <a:ext cx="10259007" cy="818298"/>
          </a:xfrm>
        </p:spPr>
        <p:txBody>
          <a:bodyPr/>
          <a:lstStyle/>
          <a:p>
            <a:r>
              <a:rPr lang="ru-RU" sz="3600" b="1" dirty="0" smtClean="0"/>
              <a:t>Гарантия доставки. </a:t>
            </a:r>
            <a:br>
              <a:rPr lang="ru-RU" sz="3600" b="1" dirty="0" smtClean="0"/>
            </a:br>
            <a:r>
              <a:rPr lang="ru-RU" sz="3600" b="1" dirty="0" smtClean="0"/>
              <a:t>Подтверждение доставки</a:t>
            </a:r>
            <a:endParaRPr lang="ru-RU" sz="3600" b="1" dirty="0"/>
          </a:p>
        </p:txBody>
      </p:sp>
      <p:sp>
        <p:nvSpPr>
          <p:cNvPr id="18" name="Объект 2"/>
          <p:cNvSpPr>
            <a:spLocks noGrp="1"/>
          </p:cNvSpPr>
          <p:nvPr/>
        </p:nvSpPr>
        <p:spPr>
          <a:xfrm>
            <a:off x="1013157" y="1927451"/>
            <a:ext cx="96487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>
                <a:solidFill>
                  <a:schemeClr val="tx1"/>
                </a:solidFill>
              </a:rPr>
              <a:t>Гарантия </a:t>
            </a:r>
            <a:r>
              <a:rPr lang="ru-RU" sz="2800" b="1" dirty="0">
                <a:solidFill>
                  <a:schemeClr val="tx1"/>
                </a:solidFill>
              </a:rPr>
              <a:t>доставки данных в </a:t>
            </a:r>
            <a:r>
              <a:rPr lang="en-US" sz="2800" b="1" dirty="0">
                <a:solidFill>
                  <a:schemeClr val="tx1"/>
                </a:solidFill>
              </a:rPr>
              <a:t>TCP</a:t>
            </a:r>
            <a:r>
              <a:rPr lang="ru-RU" sz="2800" b="1" dirty="0">
                <a:solidFill>
                  <a:schemeClr val="tx1"/>
                </a:solidFill>
              </a:rPr>
              <a:t>: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</a:rPr>
              <a:t>Подтверждение доставки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</a:rPr>
              <a:t>Повторная отправка неподтвержденных сообщений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>
                <a:solidFill>
                  <a:schemeClr val="tx1"/>
                </a:solidFill>
              </a:rPr>
              <a:t>Варианты подтверждения:</a:t>
            </a:r>
            <a:endParaRPr lang="ru-RU" sz="2800" b="1" dirty="0">
              <a:solidFill>
                <a:schemeClr val="tx1"/>
              </a:solidFill>
            </a:endParaRP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 smtClean="0">
                <a:solidFill>
                  <a:schemeClr val="tx1"/>
                </a:solidFill>
              </a:rPr>
              <a:t>Остановка и ожидание (</a:t>
            </a:r>
            <a:r>
              <a:rPr lang="en-US" sz="2400" b="1" dirty="0" smtClean="0">
                <a:solidFill>
                  <a:schemeClr val="tx1"/>
                </a:solidFill>
              </a:rPr>
              <a:t>Wi-Fi, </a:t>
            </a:r>
            <a:r>
              <a:rPr lang="ru-RU" sz="2400" b="1" dirty="0" smtClean="0">
                <a:solidFill>
                  <a:schemeClr val="tx1"/>
                </a:solidFill>
              </a:rPr>
              <a:t>канальный уровень)</a:t>
            </a:r>
            <a:endParaRPr lang="ru-RU" sz="2400" b="1" dirty="0">
              <a:solidFill>
                <a:schemeClr val="tx1"/>
              </a:solidFill>
            </a:endParaRP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1" dirty="0" smtClean="0">
                <a:solidFill>
                  <a:schemeClr val="tx1"/>
                </a:solidFill>
              </a:rPr>
              <a:t>Скользящее окно (</a:t>
            </a:r>
            <a:r>
              <a:rPr lang="en-US" sz="2400" b="1" dirty="0" smtClean="0">
                <a:solidFill>
                  <a:schemeClr val="tx1"/>
                </a:solidFill>
              </a:rPr>
              <a:t>TCP</a:t>
            </a:r>
            <a:r>
              <a:rPr lang="ru-RU" sz="2400" b="1" dirty="0" smtClean="0">
                <a:solidFill>
                  <a:schemeClr val="tx1"/>
                </a:solidFill>
              </a:rPr>
              <a:t>, транспортный уровень)</a:t>
            </a:r>
            <a:endParaRPr lang="ru-RU" sz="2400" b="1" dirty="0">
              <a:solidFill>
                <a:schemeClr val="tx1"/>
              </a:solidFill>
            </a:endParaRPr>
          </a:p>
          <a:p>
            <a:endParaRPr lang="ru-RU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4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11456" y="148408"/>
            <a:ext cx="10259007" cy="818298"/>
          </a:xfrm>
        </p:spPr>
        <p:txBody>
          <a:bodyPr/>
          <a:lstStyle/>
          <a:p>
            <a:r>
              <a:rPr lang="ru-RU" sz="3600" b="1" dirty="0" smtClean="0"/>
              <a:t>Гарантия доставки. </a:t>
            </a:r>
            <a:br>
              <a:rPr lang="ru-RU" sz="3600" b="1" dirty="0" smtClean="0"/>
            </a:br>
            <a:r>
              <a:rPr lang="ru-RU" sz="3600" b="1" dirty="0">
                <a:solidFill>
                  <a:schemeClr val="tx1"/>
                </a:solidFill>
              </a:rPr>
              <a:t>Остановка и ожидание</a:t>
            </a:r>
            <a:endParaRPr lang="ru-RU" sz="3600" b="1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8273807" y="2572459"/>
            <a:ext cx="0" cy="368203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H="1">
            <a:off x="2989752" y="2550411"/>
            <a:ext cx="4367" cy="37040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21781" y="1480357"/>
            <a:ext cx="2597408" cy="48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Отправитель</a:t>
            </a:r>
            <a:endParaRPr lang="ru-RU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6787897" y="1480357"/>
            <a:ext cx="3334511" cy="48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Получатель</a:t>
            </a:r>
            <a:endParaRPr lang="ru-RU" sz="2000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021" y="1804151"/>
            <a:ext cx="1044729" cy="908337"/>
          </a:xfrm>
          <a:prstGeom prst="rect">
            <a:avLst/>
          </a:prstGeom>
        </p:spPr>
      </p:pic>
      <p:grpSp>
        <p:nvGrpSpPr>
          <p:cNvPr id="5" name="Группа 4"/>
          <p:cNvGrpSpPr/>
          <p:nvPr/>
        </p:nvGrpSpPr>
        <p:grpSpPr>
          <a:xfrm>
            <a:off x="2989752" y="2550411"/>
            <a:ext cx="5311819" cy="673098"/>
            <a:chOff x="2989752" y="2550411"/>
            <a:chExt cx="5311819" cy="673098"/>
          </a:xfrm>
        </p:grpSpPr>
        <p:cxnSp>
          <p:nvCxnSpPr>
            <p:cNvPr id="38" name="Прямая со стрелкой 37"/>
            <p:cNvCxnSpPr/>
            <p:nvPr/>
          </p:nvCxnSpPr>
          <p:spPr>
            <a:xfrm>
              <a:off x="2989752" y="2896033"/>
              <a:ext cx="5311819" cy="3274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544249" y="2550411"/>
              <a:ext cx="434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Сегмент </a:t>
              </a:r>
              <a:r>
                <a:rPr lang="ru-RU" dirty="0" smtClean="0"/>
                <a:t>данных, байт 0</a:t>
              </a:r>
              <a:endParaRPr lang="ru-RU" dirty="0"/>
            </a:p>
          </p:txBody>
        </p:sp>
      </p:grpSp>
      <p:pic>
        <p:nvPicPr>
          <p:cNvPr id="40" name="Рисунок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442" y="1815117"/>
            <a:ext cx="1044729" cy="908337"/>
          </a:xfrm>
          <a:prstGeom prst="rect">
            <a:avLst/>
          </a:prstGeom>
        </p:spPr>
      </p:pic>
      <p:grpSp>
        <p:nvGrpSpPr>
          <p:cNvPr id="7" name="Группа 6"/>
          <p:cNvGrpSpPr/>
          <p:nvPr/>
        </p:nvGrpSpPr>
        <p:grpSpPr>
          <a:xfrm>
            <a:off x="2989752" y="3203163"/>
            <a:ext cx="5284055" cy="989314"/>
            <a:chOff x="2989752" y="3203163"/>
            <a:chExt cx="5284055" cy="989314"/>
          </a:xfrm>
        </p:grpSpPr>
        <p:cxnSp>
          <p:nvCxnSpPr>
            <p:cNvPr id="41" name="Прямая со стрелкой 40"/>
            <p:cNvCxnSpPr/>
            <p:nvPr/>
          </p:nvCxnSpPr>
          <p:spPr>
            <a:xfrm flipH="1">
              <a:off x="2989752" y="3864778"/>
              <a:ext cx="5284055" cy="3276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461208" y="3203163"/>
              <a:ext cx="43455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Подтверждение, жду байт 1024</a:t>
              </a:r>
              <a:endParaRPr lang="ru-RU" dirty="0" smtClean="0"/>
            </a:p>
            <a:p>
              <a:pPr algn="ctr"/>
              <a:r>
                <a:rPr lang="ru-RU" dirty="0" smtClean="0"/>
                <a:t>(</a:t>
              </a:r>
              <a:r>
                <a:rPr lang="en-US" dirty="0" smtClean="0"/>
                <a:t>Acknowledgment, ACK)</a:t>
              </a:r>
              <a:endParaRPr lang="ru-RU" dirty="0"/>
            </a:p>
          </p:txBody>
        </p:sp>
      </p:grpSp>
      <p:grpSp>
        <p:nvGrpSpPr>
          <p:cNvPr id="15" name="Группа 14"/>
          <p:cNvGrpSpPr/>
          <p:nvPr/>
        </p:nvGrpSpPr>
        <p:grpSpPr>
          <a:xfrm>
            <a:off x="2978054" y="4344434"/>
            <a:ext cx="5311819" cy="673098"/>
            <a:chOff x="2978054" y="4344434"/>
            <a:chExt cx="5311819" cy="673098"/>
          </a:xfrm>
        </p:grpSpPr>
        <p:cxnSp>
          <p:nvCxnSpPr>
            <p:cNvPr id="43" name="Прямая со стрелкой 42"/>
            <p:cNvCxnSpPr/>
            <p:nvPr/>
          </p:nvCxnSpPr>
          <p:spPr>
            <a:xfrm>
              <a:off x="2978054" y="4690056"/>
              <a:ext cx="5311819" cy="3274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532552" y="4344434"/>
              <a:ext cx="434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Сегмент </a:t>
              </a:r>
              <a:r>
                <a:rPr lang="ru-RU" dirty="0" smtClean="0"/>
                <a:t>данных, байт 1024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95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>
                <a:solidFill>
                  <a:schemeClr val="tx1"/>
                </a:solidFill>
              </a:rPr>
              <a:t>Остановка и ожидание</a:t>
            </a:r>
            <a:endParaRPr lang="ru-RU" sz="3600" b="1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8307674" y="2444443"/>
            <a:ext cx="0" cy="368203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H="1">
            <a:off x="3023619" y="2422395"/>
            <a:ext cx="4367" cy="37040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55648" y="1352341"/>
            <a:ext cx="2597408" cy="48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Отправитель</a:t>
            </a:r>
            <a:endParaRPr lang="ru-RU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6821764" y="1352341"/>
            <a:ext cx="3334511" cy="48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Получатель</a:t>
            </a:r>
            <a:endParaRPr lang="ru-RU" sz="2000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88" y="1676135"/>
            <a:ext cx="1044729" cy="908337"/>
          </a:xfrm>
          <a:prstGeom prst="rect">
            <a:avLst/>
          </a:prstGeom>
        </p:spPr>
      </p:pic>
      <p:grpSp>
        <p:nvGrpSpPr>
          <p:cNvPr id="5" name="Группа 4"/>
          <p:cNvGrpSpPr/>
          <p:nvPr/>
        </p:nvGrpSpPr>
        <p:grpSpPr>
          <a:xfrm>
            <a:off x="3023619" y="3885435"/>
            <a:ext cx="5311819" cy="673098"/>
            <a:chOff x="2989752" y="2550411"/>
            <a:chExt cx="5311819" cy="673098"/>
          </a:xfrm>
        </p:grpSpPr>
        <p:cxnSp>
          <p:nvCxnSpPr>
            <p:cNvPr id="38" name="Прямая со стрелкой 37"/>
            <p:cNvCxnSpPr/>
            <p:nvPr/>
          </p:nvCxnSpPr>
          <p:spPr>
            <a:xfrm>
              <a:off x="2989752" y="2896033"/>
              <a:ext cx="5311819" cy="3274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544249" y="2550411"/>
              <a:ext cx="434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Сегмент </a:t>
              </a:r>
              <a:r>
                <a:rPr lang="ru-RU" dirty="0" smtClean="0"/>
                <a:t>данных, байт 0</a:t>
              </a:r>
              <a:endParaRPr lang="ru-RU" dirty="0"/>
            </a:p>
          </p:txBody>
        </p:sp>
      </p:grpSp>
      <p:pic>
        <p:nvPicPr>
          <p:cNvPr id="40" name="Рисунок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309" y="1687101"/>
            <a:ext cx="1044729" cy="908337"/>
          </a:xfrm>
          <a:prstGeom prst="rect">
            <a:avLst/>
          </a:prstGeom>
        </p:spPr>
      </p:pic>
      <p:grpSp>
        <p:nvGrpSpPr>
          <p:cNvPr id="7" name="Группа 6"/>
          <p:cNvGrpSpPr/>
          <p:nvPr/>
        </p:nvGrpSpPr>
        <p:grpSpPr>
          <a:xfrm>
            <a:off x="3023619" y="4538187"/>
            <a:ext cx="5284055" cy="989314"/>
            <a:chOff x="2989752" y="3203163"/>
            <a:chExt cx="5284055" cy="989314"/>
          </a:xfrm>
        </p:grpSpPr>
        <p:cxnSp>
          <p:nvCxnSpPr>
            <p:cNvPr id="41" name="Прямая со стрелкой 40"/>
            <p:cNvCxnSpPr/>
            <p:nvPr/>
          </p:nvCxnSpPr>
          <p:spPr>
            <a:xfrm flipH="1">
              <a:off x="2989752" y="3864778"/>
              <a:ext cx="5284055" cy="3276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461208" y="3203163"/>
              <a:ext cx="43455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Подтверждение, жду байт 1024</a:t>
              </a:r>
              <a:endParaRPr lang="ru-RU" dirty="0" smtClean="0"/>
            </a:p>
            <a:p>
              <a:pPr algn="ctr"/>
              <a:r>
                <a:rPr lang="ru-RU" dirty="0" smtClean="0"/>
                <a:t>(</a:t>
              </a:r>
              <a:r>
                <a:rPr lang="en-US" dirty="0" smtClean="0"/>
                <a:t>Acknowledgment, ACK)</a:t>
              </a:r>
              <a:endParaRPr lang="ru-RU" dirty="0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054352" y="2337876"/>
            <a:ext cx="3772926" cy="651671"/>
            <a:chOff x="1298704" y="2392740"/>
            <a:chExt cx="3772926" cy="651671"/>
          </a:xfrm>
        </p:grpSpPr>
        <p:cxnSp>
          <p:nvCxnSpPr>
            <p:cNvPr id="18" name="Прямая со стрелкой 17"/>
            <p:cNvCxnSpPr/>
            <p:nvPr/>
          </p:nvCxnSpPr>
          <p:spPr>
            <a:xfrm>
              <a:off x="1298704" y="2866574"/>
              <a:ext cx="2696518" cy="1778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927027" y="2392740"/>
              <a:ext cx="3144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Сегмент </a:t>
              </a:r>
              <a:r>
                <a:rPr lang="ru-RU" dirty="0" smtClean="0"/>
                <a:t>данных, байт 0</a:t>
              </a:r>
              <a:endParaRPr lang="ru-RU" dirty="0"/>
            </a:p>
          </p:txBody>
        </p:sp>
      </p:grpSp>
      <p:sp>
        <p:nvSpPr>
          <p:cNvPr id="20" name="Пятно 2 19"/>
          <p:cNvSpPr/>
          <p:nvPr/>
        </p:nvSpPr>
        <p:spPr>
          <a:xfrm>
            <a:off x="5679528" y="2884224"/>
            <a:ext cx="372533" cy="327793"/>
          </a:xfrm>
          <a:prstGeom prst="irregularSeal2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914" y="3034177"/>
            <a:ext cx="629619" cy="62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>
                <a:solidFill>
                  <a:schemeClr val="tx1"/>
                </a:solidFill>
              </a:rPr>
              <a:t>Остановка и ожидание</a:t>
            </a:r>
            <a:endParaRPr lang="ru-RU" sz="3600" b="1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8307674" y="2444443"/>
            <a:ext cx="0" cy="368203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H="1">
            <a:off x="3023619" y="2422395"/>
            <a:ext cx="4367" cy="37040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55648" y="1352341"/>
            <a:ext cx="2597408" cy="48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Отправитель</a:t>
            </a:r>
            <a:endParaRPr lang="ru-RU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6821764" y="1352341"/>
            <a:ext cx="3334511" cy="48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Получатель</a:t>
            </a:r>
            <a:endParaRPr lang="ru-RU" sz="2000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88" y="1676135"/>
            <a:ext cx="1044729" cy="908337"/>
          </a:xfrm>
          <a:prstGeom prst="rect">
            <a:avLst/>
          </a:prstGeom>
        </p:spPr>
      </p:pic>
      <p:grpSp>
        <p:nvGrpSpPr>
          <p:cNvPr id="5" name="Группа 4"/>
          <p:cNvGrpSpPr/>
          <p:nvPr/>
        </p:nvGrpSpPr>
        <p:grpSpPr>
          <a:xfrm>
            <a:off x="3023619" y="2422395"/>
            <a:ext cx="5311819" cy="673098"/>
            <a:chOff x="2989752" y="2550411"/>
            <a:chExt cx="5311819" cy="673098"/>
          </a:xfrm>
        </p:grpSpPr>
        <p:cxnSp>
          <p:nvCxnSpPr>
            <p:cNvPr id="38" name="Прямая со стрелкой 37"/>
            <p:cNvCxnSpPr/>
            <p:nvPr/>
          </p:nvCxnSpPr>
          <p:spPr>
            <a:xfrm>
              <a:off x="2989752" y="2896033"/>
              <a:ext cx="5311819" cy="3274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544249" y="2550411"/>
              <a:ext cx="434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Сегмент </a:t>
              </a:r>
              <a:r>
                <a:rPr lang="ru-RU" dirty="0" smtClean="0"/>
                <a:t>данных, байт 0</a:t>
              </a:r>
              <a:endParaRPr lang="ru-RU" dirty="0"/>
            </a:p>
          </p:txBody>
        </p:sp>
      </p:grpSp>
      <p:pic>
        <p:nvPicPr>
          <p:cNvPr id="40" name="Рисунок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309" y="1687101"/>
            <a:ext cx="1044729" cy="908337"/>
          </a:xfrm>
          <a:prstGeom prst="rect">
            <a:avLst/>
          </a:prstGeom>
        </p:spPr>
      </p:pic>
      <p:grpSp>
        <p:nvGrpSpPr>
          <p:cNvPr id="7" name="Группа 6"/>
          <p:cNvGrpSpPr/>
          <p:nvPr/>
        </p:nvGrpSpPr>
        <p:grpSpPr>
          <a:xfrm>
            <a:off x="4046499" y="3075147"/>
            <a:ext cx="4261175" cy="989314"/>
            <a:chOff x="2808321" y="3203163"/>
            <a:chExt cx="5465486" cy="989314"/>
          </a:xfrm>
        </p:grpSpPr>
        <p:cxnSp>
          <p:nvCxnSpPr>
            <p:cNvPr id="41" name="Прямая со стрелкой 40"/>
            <p:cNvCxnSpPr/>
            <p:nvPr/>
          </p:nvCxnSpPr>
          <p:spPr>
            <a:xfrm flipH="1">
              <a:off x="2989752" y="3864778"/>
              <a:ext cx="5284055" cy="3276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808321" y="3203163"/>
              <a:ext cx="49983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Подтверждение, жду байт 1024</a:t>
              </a:r>
              <a:endParaRPr lang="ru-RU" dirty="0" smtClean="0"/>
            </a:p>
            <a:p>
              <a:pPr algn="ctr"/>
              <a:r>
                <a:rPr lang="ru-RU" dirty="0" smtClean="0"/>
                <a:t>(</a:t>
              </a:r>
              <a:r>
                <a:rPr lang="en-US" dirty="0" smtClean="0"/>
                <a:t>Acknowledgment, ACK)</a:t>
              </a:r>
              <a:endParaRPr lang="ru-RU" dirty="0"/>
            </a:p>
          </p:txBody>
        </p:sp>
      </p:grpSp>
      <p:sp>
        <p:nvSpPr>
          <p:cNvPr id="20" name="Пятно 2 19"/>
          <p:cNvSpPr/>
          <p:nvPr/>
        </p:nvSpPr>
        <p:spPr>
          <a:xfrm>
            <a:off x="3980523" y="3900564"/>
            <a:ext cx="372533" cy="327793"/>
          </a:xfrm>
          <a:prstGeom prst="irregularSeal2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914" y="3034177"/>
            <a:ext cx="629619" cy="629619"/>
          </a:xfrm>
          <a:prstGeom prst="rect">
            <a:avLst/>
          </a:prstGeom>
        </p:spPr>
      </p:pic>
      <p:grpSp>
        <p:nvGrpSpPr>
          <p:cNvPr id="22" name="Группа 21"/>
          <p:cNvGrpSpPr/>
          <p:nvPr/>
        </p:nvGrpSpPr>
        <p:grpSpPr>
          <a:xfrm>
            <a:off x="2995854" y="4653789"/>
            <a:ext cx="5311819" cy="673098"/>
            <a:chOff x="2989752" y="2550411"/>
            <a:chExt cx="5311819" cy="673098"/>
          </a:xfrm>
        </p:grpSpPr>
        <p:cxnSp>
          <p:nvCxnSpPr>
            <p:cNvPr id="23" name="Прямая со стрелкой 22"/>
            <p:cNvCxnSpPr/>
            <p:nvPr/>
          </p:nvCxnSpPr>
          <p:spPr>
            <a:xfrm>
              <a:off x="2989752" y="2896033"/>
              <a:ext cx="5311819" cy="3274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544249" y="2550411"/>
              <a:ext cx="4345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Сегмент </a:t>
              </a:r>
              <a:r>
                <a:rPr lang="ru-RU" dirty="0" smtClean="0"/>
                <a:t>данных, байт 0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96695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604437" y="1776987"/>
            <a:ext cx="108164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800"/>
              </a:spcBef>
            </a:pPr>
            <a:r>
              <a:rPr lang="ru-RU" sz="2800" dirty="0" smtClean="0"/>
              <a:t>Подтверждения и повторной отправки недостаточно для надежной передачи потока байт</a:t>
            </a:r>
          </a:p>
          <a:p>
            <a:pPr marL="6223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/>
              <a:t>Защита от потери сегментов</a:t>
            </a:r>
          </a:p>
          <a:p>
            <a:pPr>
              <a:spcBef>
                <a:spcPts val="800"/>
              </a:spcBef>
            </a:pPr>
            <a:r>
              <a:rPr lang="ru-RU" sz="2800" dirty="0" smtClean="0"/>
              <a:t>Нарушение порядка следования сообщений</a:t>
            </a:r>
            <a:endParaRPr lang="ru-RU" sz="2800" b="1" dirty="0" smtClean="0"/>
          </a:p>
          <a:p>
            <a:pPr marL="6223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/>
              <a:t>Увеличение времени за счет ожидания подтверждения каждого сегмента</a:t>
            </a:r>
          </a:p>
          <a:p>
            <a:pPr marL="6223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/>
              <a:t>Дублирование сегментов</a:t>
            </a:r>
          </a:p>
          <a:p>
            <a:endParaRPr lang="ru-RU" sz="2400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>
                <a:solidFill>
                  <a:schemeClr val="tx1"/>
                </a:solidFill>
              </a:rPr>
              <a:t>Остановка и ожидание</a:t>
            </a:r>
            <a:r>
              <a:rPr lang="ru-RU" sz="3600" b="1" dirty="0" smtClean="0"/>
              <a:t>. Недостатки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72902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Скользящее окно</a:t>
            </a:r>
            <a:endParaRPr lang="ru-RU" sz="36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544" y="1346480"/>
            <a:ext cx="1136645" cy="113664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816" y="1346480"/>
            <a:ext cx="1136645" cy="1136645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>
            <a:stCxn id="6" idx="2"/>
          </p:cNvCxnSpPr>
          <p:nvPr/>
        </p:nvCxnSpPr>
        <p:spPr>
          <a:xfrm>
            <a:off x="2146867" y="2483125"/>
            <a:ext cx="11075" cy="3399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4602882" y="2498608"/>
            <a:ext cx="11073" cy="33843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048" y="1340620"/>
            <a:ext cx="1136645" cy="113664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320" y="1340620"/>
            <a:ext cx="1136645" cy="1136645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>
            <a:off x="2165684" y="2616540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2158729" y="3072309"/>
            <a:ext cx="2436409" cy="7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65684" y="2345300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54608" y="2777348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Подтверждение</a:t>
            </a:r>
            <a:endParaRPr lang="ru-RU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2165684" y="3480636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>
            <a:off x="2158729" y="3936405"/>
            <a:ext cx="2436409" cy="7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65684" y="3209396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154608" y="3641444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Подтверждение</a:t>
            </a:r>
            <a:endParaRPr lang="ru-RU" b="1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2165684" y="4344732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>
            <a:off x="2158729" y="4800501"/>
            <a:ext cx="2436409" cy="7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65684" y="4073492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154608" y="4505540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Подтверждение</a:t>
            </a:r>
            <a:endParaRPr lang="ru-RU" b="1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 flipH="1">
            <a:off x="2158729" y="4800501"/>
            <a:ext cx="2436409" cy="7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2165684" y="5208828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158729" y="5664597"/>
            <a:ext cx="2436409" cy="7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65684" y="4937588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154608" y="5369636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Подтверждение</a:t>
            </a:r>
            <a:endParaRPr lang="ru-RU" b="1" dirty="0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6691112" y="2498608"/>
            <a:ext cx="11075" cy="3399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9147127" y="2514091"/>
            <a:ext cx="11073" cy="33843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6702187" y="2615560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02187" y="2344320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6709930" y="3057880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09930" y="2786640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cxnSp>
        <p:nvCxnSpPr>
          <p:cNvPr id="35" name="Прямая со стрелкой 34"/>
          <p:cNvCxnSpPr/>
          <p:nvPr/>
        </p:nvCxnSpPr>
        <p:spPr>
          <a:xfrm>
            <a:off x="6717673" y="3561936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17673" y="3218688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cxnSp>
        <p:nvCxnSpPr>
          <p:cNvPr id="37" name="Прямая со стрелкой 36"/>
          <p:cNvCxnSpPr/>
          <p:nvPr/>
        </p:nvCxnSpPr>
        <p:spPr>
          <a:xfrm>
            <a:off x="6725416" y="4072604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25416" y="3801364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cxnSp>
        <p:nvCxnSpPr>
          <p:cNvPr id="39" name="Прямая со стрелкой 38"/>
          <p:cNvCxnSpPr/>
          <p:nvPr/>
        </p:nvCxnSpPr>
        <p:spPr>
          <a:xfrm flipH="1">
            <a:off x="6702975" y="5520581"/>
            <a:ext cx="2436409" cy="743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05800" y="4876613"/>
            <a:ext cx="2429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Кумулятивное</a:t>
            </a:r>
          </a:p>
          <a:p>
            <a:pPr algn="ctr"/>
            <a:r>
              <a:rPr lang="ru-RU" b="1" dirty="0"/>
              <a:t>п</a:t>
            </a:r>
            <a:r>
              <a:rPr lang="ru-RU" b="1" dirty="0" smtClean="0"/>
              <a:t>одтверждение</a:t>
            </a:r>
            <a:endParaRPr lang="ru-RU" b="1" dirty="0"/>
          </a:p>
        </p:txBody>
      </p:sp>
      <p:cxnSp>
        <p:nvCxnSpPr>
          <p:cNvPr id="41" name="Прямая со стрелкой 40"/>
          <p:cNvCxnSpPr/>
          <p:nvPr/>
        </p:nvCxnSpPr>
        <p:spPr>
          <a:xfrm>
            <a:off x="6709930" y="4576660"/>
            <a:ext cx="2429454" cy="1541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09930" y="4305420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Данные</a:t>
            </a:r>
            <a:endParaRPr lang="ru-RU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1938782" y="5853570"/>
            <a:ext cx="2952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Остановка и ожидание</a:t>
            </a:r>
            <a:endParaRPr lang="ru-RU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6475287" y="5824412"/>
            <a:ext cx="2952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Скользящее окно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635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Скользящее окно</a:t>
            </a:r>
            <a:endParaRPr lang="ru-RU" sz="3600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421179" y="1380744"/>
            <a:ext cx="10158427" cy="4384359"/>
            <a:chOff x="421180" y="2457309"/>
            <a:chExt cx="7963086" cy="3307794"/>
          </a:xfrm>
        </p:grpSpPr>
        <p:sp>
          <p:nvSpPr>
            <p:cNvPr id="45" name="Прямоугольник 44"/>
            <p:cNvSpPr/>
            <p:nvPr/>
          </p:nvSpPr>
          <p:spPr>
            <a:xfrm>
              <a:off x="539750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899592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/>
            <p:cNvSpPr/>
            <p:nvPr/>
          </p:nvSpPr>
          <p:spPr>
            <a:xfrm>
              <a:off x="1259434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1619276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1979118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2338960" y="329403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2698802" y="3293872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3058644" y="329370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/>
            <p:cNvSpPr/>
            <p:nvPr/>
          </p:nvSpPr>
          <p:spPr>
            <a:xfrm>
              <a:off x="3418486" y="3293542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3778328" y="329337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/>
            <p:cNvSpPr/>
            <p:nvPr/>
          </p:nvSpPr>
          <p:spPr>
            <a:xfrm>
              <a:off x="4138170" y="3293212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 55"/>
            <p:cNvSpPr/>
            <p:nvPr/>
          </p:nvSpPr>
          <p:spPr>
            <a:xfrm>
              <a:off x="4498012" y="329304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/>
            <p:cNvSpPr/>
            <p:nvPr/>
          </p:nvSpPr>
          <p:spPr>
            <a:xfrm>
              <a:off x="4857854" y="329238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 57"/>
            <p:cNvSpPr/>
            <p:nvPr/>
          </p:nvSpPr>
          <p:spPr>
            <a:xfrm>
              <a:off x="5217696" y="329222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/>
            <p:cNvSpPr/>
            <p:nvPr/>
          </p:nvSpPr>
          <p:spPr>
            <a:xfrm>
              <a:off x="5577538" y="329205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5937380" y="329189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 60"/>
            <p:cNvSpPr/>
            <p:nvPr/>
          </p:nvSpPr>
          <p:spPr>
            <a:xfrm>
              <a:off x="6297222" y="329172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 61"/>
            <p:cNvSpPr/>
            <p:nvPr/>
          </p:nvSpPr>
          <p:spPr>
            <a:xfrm>
              <a:off x="6657064" y="329156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 62"/>
            <p:cNvSpPr/>
            <p:nvPr/>
          </p:nvSpPr>
          <p:spPr>
            <a:xfrm>
              <a:off x="7016906" y="329139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 63"/>
            <p:cNvSpPr/>
            <p:nvPr/>
          </p:nvSpPr>
          <p:spPr>
            <a:xfrm>
              <a:off x="7376748" y="329172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 64"/>
            <p:cNvSpPr/>
            <p:nvPr/>
          </p:nvSpPr>
          <p:spPr>
            <a:xfrm>
              <a:off x="7736590" y="329156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 65"/>
            <p:cNvSpPr/>
            <p:nvPr/>
          </p:nvSpPr>
          <p:spPr>
            <a:xfrm>
              <a:off x="8096432" y="329139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67" name="Прямая со стрелкой 66"/>
            <p:cNvCxnSpPr/>
            <p:nvPr/>
          </p:nvCxnSpPr>
          <p:spPr>
            <a:xfrm flipV="1">
              <a:off x="2285058" y="4077072"/>
              <a:ext cx="0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187426" y="4564774"/>
              <a:ext cx="21590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Данные подтверждение которых получено</a:t>
              </a:r>
              <a:endParaRPr lang="ru-RU" dirty="0"/>
            </a:p>
          </p:txBody>
        </p:sp>
        <p:sp>
          <p:nvSpPr>
            <p:cNvPr id="69" name="Левая фигурная скобка 68"/>
            <p:cNvSpPr/>
            <p:nvPr/>
          </p:nvSpPr>
          <p:spPr>
            <a:xfrm rot="5400000">
              <a:off x="3562304" y="1614190"/>
              <a:ext cx="360040" cy="2806728"/>
            </a:xfrm>
            <a:prstGeom prst="leftBrace">
              <a:avLst>
                <a:gd name="adj1" fmla="val 7371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482877" y="2457309"/>
              <a:ext cx="2159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Скользящее окно</a:t>
              </a:r>
              <a:endParaRPr lang="ru-RU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21180" y="2645066"/>
              <a:ext cx="21590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Отправленные данные</a:t>
              </a:r>
              <a:endParaRPr lang="ru-RU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785846" y="2843644"/>
              <a:ext cx="35984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Неотправленные данные</a:t>
              </a:r>
              <a:endParaRPr lang="ru-RU" dirty="0"/>
            </a:p>
          </p:txBody>
        </p:sp>
        <p:sp>
          <p:nvSpPr>
            <p:cNvPr id="73" name="Прямоугольник 72"/>
            <p:cNvSpPr/>
            <p:nvPr/>
          </p:nvSpPr>
          <p:spPr>
            <a:xfrm>
              <a:off x="3829418" y="4564774"/>
              <a:ext cx="455484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Bef>
                  <a:spcPts val="1200"/>
                </a:spcBef>
              </a:pPr>
              <a:r>
                <a:rPr lang="ru-RU" altLang="ru-RU" b="1" dirty="0">
                  <a:latin typeface="Verdana" panose="020B0604030504040204" pitchFamily="34" charset="0"/>
                </a:rPr>
                <a:t>Размер окна </a:t>
              </a:r>
              <a:r>
                <a:rPr lang="ru-RU" altLang="ru-RU" dirty="0">
                  <a:latin typeface="Verdana" panose="020B0604030504040204" pitchFamily="34" charset="0"/>
                </a:rPr>
                <a:t>– количество байтов данных, которые могут быть переданы без получения подтверждения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32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Скользящее окно</a:t>
            </a:r>
            <a:endParaRPr lang="ru-RU" sz="3600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421179" y="1398714"/>
            <a:ext cx="11076520" cy="4366388"/>
            <a:chOff x="421180" y="2470867"/>
            <a:chExt cx="8682770" cy="3294236"/>
          </a:xfrm>
        </p:grpSpPr>
        <p:sp>
          <p:nvSpPr>
            <p:cNvPr id="45" name="Прямоугольник 44"/>
            <p:cNvSpPr/>
            <p:nvPr/>
          </p:nvSpPr>
          <p:spPr>
            <a:xfrm>
              <a:off x="539750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899592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/>
            <p:cNvSpPr/>
            <p:nvPr/>
          </p:nvSpPr>
          <p:spPr>
            <a:xfrm>
              <a:off x="1259434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1619276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1979118" y="3294037"/>
              <a:ext cx="287834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2338960" y="3294037"/>
              <a:ext cx="287834" cy="72008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2698802" y="3293872"/>
              <a:ext cx="287834" cy="72008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3058644" y="329370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/>
            <p:cNvSpPr/>
            <p:nvPr/>
          </p:nvSpPr>
          <p:spPr>
            <a:xfrm>
              <a:off x="3418486" y="3293542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3778328" y="329337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/>
            <p:cNvSpPr/>
            <p:nvPr/>
          </p:nvSpPr>
          <p:spPr>
            <a:xfrm>
              <a:off x="4138170" y="3293212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 55"/>
            <p:cNvSpPr/>
            <p:nvPr/>
          </p:nvSpPr>
          <p:spPr>
            <a:xfrm>
              <a:off x="4498012" y="329304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/>
            <p:cNvSpPr/>
            <p:nvPr/>
          </p:nvSpPr>
          <p:spPr>
            <a:xfrm>
              <a:off x="4857854" y="329238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 57"/>
            <p:cNvSpPr/>
            <p:nvPr/>
          </p:nvSpPr>
          <p:spPr>
            <a:xfrm>
              <a:off x="5217696" y="3292222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/>
            <p:cNvSpPr/>
            <p:nvPr/>
          </p:nvSpPr>
          <p:spPr>
            <a:xfrm>
              <a:off x="5577538" y="3292057"/>
              <a:ext cx="287834" cy="7200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5937380" y="329189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 60"/>
            <p:cNvSpPr/>
            <p:nvPr/>
          </p:nvSpPr>
          <p:spPr>
            <a:xfrm>
              <a:off x="6297222" y="329172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 61"/>
            <p:cNvSpPr/>
            <p:nvPr/>
          </p:nvSpPr>
          <p:spPr>
            <a:xfrm>
              <a:off x="6657064" y="329156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 62"/>
            <p:cNvSpPr/>
            <p:nvPr/>
          </p:nvSpPr>
          <p:spPr>
            <a:xfrm>
              <a:off x="7016906" y="329139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 63"/>
            <p:cNvSpPr/>
            <p:nvPr/>
          </p:nvSpPr>
          <p:spPr>
            <a:xfrm>
              <a:off x="7376748" y="329172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 64"/>
            <p:cNvSpPr/>
            <p:nvPr/>
          </p:nvSpPr>
          <p:spPr>
            <a:xfrm>
              <a:off x="7736590" y="3291562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 65"/>
            <p:cNvSpPr/>
            <p:nvPr/>
          </p:nvSpPr>
          <p:spPr>
            <a:xfrm>
              <a:off x="8096432" y="3291397"/>
              <a:ext cx="287834" cy="7200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67" name="Прямая со стрелкой 66"/>
            <p:cNvCxnSpPr/>
            <p:nvPr/>
          </p:nvCxnSpPr>
          <p:spPr>
            <a:xfrm flipV="1">
              <a:off x="2285058" y="4077072"/>
              <a:ext cx="0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187426" y="4564774"/>
              <a:ext cx="21590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Данные подтверждение которых получено</a:t>
              </a:r>
              <a:endParaRPr lang="ru-RU" dirty="0"/>
            </a:p>
          </p:txBody>
        </p:sp>
        <p:sp>
          <p:nvSpPr>
            <p:cNvPr id="69" name="Левая фигурная скобка 68"/>
            <p:cNvSpPr/>
            <p:nvPr/>
          </p:nvSpPr>
          <p:spPr>
            <a:xfrm rot="5400000">
              <a:off x="4245984" y="1614299"/>
              <a:ext cx="360040" cy="2806728"/>
            </a:xfrm>
            <a:prstGeom prst="leftBrace">
              <a:avLst>
                <a:gd name="adj1" fmla="val 7371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168514" y="2470867"/>
              <a:ext cx="2159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Скользящее окно</a:t>
              </a:r>
              <a:endParaRPr lang="ru-RU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21180" y="2645066"/>
              <a:ext cx="21590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Отправленные данные</a:t>
              </a:r>
              <a:endParaRPr lang="ru-RU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505530" y="2837534"/>
              <a:ext cx="35984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Неотправленные данные</a:t>
              </a:r>
              <a:endParaRPr lang="ru-RU" dirty="0"/>
            </a:p>
          </p:txBody>
        </p:sp>
        <p:sp>
          <p:nvSpPr>
            <p:cNvPr id="73" name="Прямоугольник 72"/>
            <p:cNvSpPr/>
            <p:nvPr/>
          </p:nvSpPr>
          <p:spPr>
            <a:xfrm>
              <a:off x="3829418" y="4564774"/>
              <a:ext cx="455484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Bef>
                  <a:spcPts val="1200"/>
                </a:spcBef>
              </a:pPr>
              <a:r>
                <a:rPr lang="ru-RU" altLang="ru-RU" b="1" dirty="0">
                  <a:latin typeface="Verdana" panose="020B0604030504040204" pitchFamily="34" charset="0"/>
                </a:rPr>
                <a:t>Размер окна </a:t>
              </a:r>
              <a:r>
                <a:rPr lang="ru-RU" altLang="ru-RU" dirty="0">
                  <a:latin typeface="Verdana" panose="020B0604030504040204" pitchFamily="34" charset="0"/>
                </a:rPr>
                <a:t>– количество байтов данных, которые могут быть переданы без получения подтверждения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286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591247" y="1639827"/>
            <a:ext cx="10738169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/>
              <a:t>Кумулятивное подтверждение: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Подтверждение </a:t>
            </a:r>
            <a:r>
              <a:rPr lang="ru-RU" sz="2400" dirty="0"/>
              <a:t>приема указанного байта данных и всех </a:t>
            </a:r>
            <a:r>
              <a:rPr lang="ru-RU" sz="2400" dirty="0" smtClean="0"/>
              <a:t>предыдущих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Используется по умолчанию</a:t>
            </a:r>
            <a:endParaRPr lang="ru-RU" sz="2400" dirty="0"/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b="1" dirty="0" smtClean="0"/>
              <a:t>Выборочное подтверждение </a:t>
            </a:r>
            <a:r>
              <a:rPr lang="en-US" sz="2800" b="1" dirty="0"/>
              <a:t>(Selective Acknowledgment, SACK)</a:t>
            </a:r>
            <a:r>
              <a:rPr lang="ru-RU" sz="2800" b="1" dirty="0" smtClean="0"/>
              <a:t>:</a:t>
            </a:r>
            <a:endParaRPr lang="ru-RU" sz="2800" b="1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Подтверждение </a:t>
            </a:r>
            <a:r>
              <a:rPr lang="ru-RU" sz="2400" dirty="0"/>
              <a:t>диапазонов принятых </a:t>
            </a:r>
            <a:r>
              <a:rPr lang="ru-RU" sz="2400" dirty="0" smtClean="0"/>
              <a:t>байт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Эффективно при большом размере окна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Дополнительное поле заголовка </a:t>
            </a:r>
            <a:r>
              <a:rPr lang="en-US" sz="2400" dirty="0" smtClean="0"/>
              <a:t>TCP (</a:t>
            </a:r>
            <a:r>
              <a:rPr lang="ru-RU" sz="2400" dirty="0" smtClean="0"/>
              <a:t>параметр)</a:t>
            </a:r>
            <a:endParaRPr lang="ru-RU" sz="2400" dirty="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Скользящее окно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304925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потоком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96240" y="1519904"/>
            <a:ext cx="11070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2400" dirty="0" smtClean="0"/>
              <a:t>В сети могут быть устройства разной производительности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2400" dirty="0" smtClean="0"/>
              <a:t>Управление потоком (</a:t>
            </a:r>
            <a:r>
              <a:rPr lang="en-US" altLang="ru-RU" sz="2400" dirty="0" smtClean="0"/>
              <a:t>flow control</a:t>
            </a:r>
            <a:r>
              <a:rPr lang="ru-RU" altLang="ru-RU" sz="2400" dirty="0" smtClean="0"/>
              <a:t>)</a:t>
            </a:r>
            <a:r>
              <a:rPr lang="en-US" altLang="ru-RU" sz="2400" dirty="0" smtClean="0"/>
              <a:t>: </a:t>
            </a:r>
            <a:r>
              <a:rPr lang="ru-RU" altLang="ru-RU" sz="2400" dirty="0" smtClean="0"/>
              <a:t>предотвращение «затопления» медленного получателя быстрым отправителем</a:t>
            </a:r>
            <a:endParaRPr lang="ru-RU" altLang="ru-RU" sz="2400" dirty="0"/>
          </a:p>
        </p:txBody>
      </p:sp>
      <p:grpSp>
        <p:nvGrpSpPr>
          <p:cNvPr id="16" name="Группа 15"/>
          <p:cNvGrpSpPr/>
          <p:nvPr/>
        </p:nvGrpSpPr>
        <p:grpSpPr>
          <a:xfrm>
            <a:off x="626020" y="4270111"/>
            <a:ext cx="4695788" cy="1051697"/>
            <a:chOff x="635164" y="4187815"/>
            <a:chExt cx="5740306" cy="1274174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164" y="4187815"/>
              <a:ext cx="1274174" cy="1274174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1296" y="4187815"/>
              <a:ext cx="1274174" cy="1274174"/>
            </a:xfrm>
            <a:prstGeom prst="rect">
              <a:avLst/>
            </a:prstGeom>
          </p:spPr>
        </p:pic>
        <p:sp>
          <p:nvSpPr>
            <p:cNvPr id="8" name="Стрелка вправо 7"/>
            <p:cNvSpPr/>
            <p:nvPr/>
          </p:nvSpPr>
          <p:spPr>
            <a:xfrm>
              <a:off x="2015655" y="4723988"/>
              <a:ext cx="2979324" cy="3295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4161135" y="4204801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3876651" y="4207504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3592167" y="4210207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307683" y="4212910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3023199" y="4215613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2738715" y="4218316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2454231" y="4221019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6177867" y="4290824"/>
            <a:ext cx="4630341" cy="1173228"/>
            <a:chOff x="6177867" y="4189878"/>
            <a:chExt cx="4885844" cy="1274174"/>
          </a:xfrm>
        </p:grpSpPr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7867" y="4189878"/>
              <a:ext cx="1274174" cy="1274174"/>
            </a:xfrm>
            <a:prstGeom prst="rect">
              <a:avLst/>
            </a:prstGeom>
          </p:spPr>
        </p:pic>
        <p:sp>
          <p:nvSpPr>
            <p:cNvPr id="18" name="Стрелка вправо 17"/>
            <p:cNvSpPr/>
            <p:nvPr/>
          </p:nvSpPr>
          <p:spPr>
            <a:xfrm>
              <a:off x="7558358" y="4726051"/>
              <a:ext cx="2979324" cy="3295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9703838" y="4206864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9419354" y="4209567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9134870" y="4212270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8850386" y="4214973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8565902" y="4217676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8281418" y="4220379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7996934" y="4223082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7290" y="4532490"/>
              <a:ext cx="506421" cy="716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222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потоком</a:t>
            </a:r>
            <a:endParaRPr lang="ru-RU" sz="3600" b="1" dirty="0"/>
          </a:p>
        </p:txBody>
      </p:sp>
      <p:grpSp>
        <p:nvGrpSpPr>
          <p:cNvPr id="50" name="Группа 49"/>
          <p:cNvGrpSpPr/>
          <p:nvPr/>
        </p:nvGrpSpPr>
        <p:grpSpPr>
          <a:xfrm>
            <a:off x="320601" y="2247972"/>
            <a:ext cx="5546948" cy="3649908"/>
            <a:chOff x="1036141" y="1918787"/>
            <a:chExt cx="7162381" cy="3397619"/>
          </a:xfrm>
        </p:grpSpPr>
        <p:pic>
          <p:nvPicPr>
            <p:cNvPr id="28" name="Рисунок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141" y="3027625"/>
              <a:ext cx="1274174" cy="1274174"/>
            </a:xfrm>
            <a:prstGeom prst="rect">
              <a:avLst/>
            </a:prstGeom>
          </p:spPr>
        </p:pic>
        <p:sp>
          <p:nvSpPr>
            <p:cNvPr id="29" name="Стрелка вправо 28"/>
            <p:cNvSpPr/>
            <p:nvPr/>
          </p:nvSpPr>
          <p:spPr>
            <a:xfrm>
              <a:off x="2310315" y="3430955"/>
              <a:ext cx="2979324" cy="3295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4564346" y="2840725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4279862" y="2843428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3995378" y="2846131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3710894" y="2848834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3426410" y="2851537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3141926" y="2854240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2857442" y="2856943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5425953" y="1918787"/>
              <a:ext cx="2772569" cy="302433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417798" y="5008629"/>
              <a:ext cx="27725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 smtClean="0"/>
                <a:t>Получатель</a:t>
              </a:r>
              <a:endParaRPr lang="ru-RU" sz="1400" dirty="0"/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5718301" y="2076269"/>
              <a:ext cx="2187872" cy="5040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 smtClean="0">
                  <a:solidFill>
                    <a:schemeClr val="tx1"/>
                  </a:solidFill>
                </a:rPr>
                <a:t>Приложение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Прямоугольник 39"/>
            <p:cNvSpPr/>
            <p:nvPr/>
          </p:nvSpPr>
          <p:spPr>
            <a:xfrm>
              <a:off x="6007772" y="3790995"/>
              <a:ext cx="686274" cy="18341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627294" y="3171729"/>
              <a:ext cx="1323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 smtClean="0"/>
                <a:t>Буфер</a:t>
              </a:r>
              <a:endParaRPr lang="ru-RU" sz="1400" dirty="0"/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6007000" y="3601252"/>
              <a:ext cx="686274" cy="18341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6008884" y="3421902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Прямоугольник 43"/>
            <p:cNvSpPr/>
            <p:nvPr/>
          </p:nvSpPr>
          <p:spPr>
            <a:xfrm>
              <a:off x="6008884" y="3242090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Прямоугольник 44"/>
            <p:cNvSpPr/>
            <p:nvPr/>
          </p:nvSpPr>
          <p:spPr>
            <a:xfrm>
              <a:off x="6008884" y="3062278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6008884" y="2882466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Прямоугольник 46"/>
            <p:cNvSpPr/>
            <p:nvPr/>
          </p:nvSpPr>
          <p:spPr>
            <a:xfrm>
              <a:off x="5750001" y="4224582"/>
              <a:ext cx="2187872" cy="58101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 smtClean="0">
                  <a:solidFill>
                    <a:schemeClr val="tx1"/>
                  </a:solidFill>
                </a:rPr>
                <a:t>Транспортная подсистема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Прямая со стрелкой 47"/>
            <p:cNvCxnSpPr/>
            <p:nvPr/>
          </p:nvCxnSpPr>
          <p:spPr>
            <a:xfrm>
              <a:off x="6319418" y="2580325"/>
              <a:ext cx="6647" cy="30214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/>
            <p:cNvCxnSpPr/>
            <p:nvPr/>
          </p:nvCxnSpPr>
          <p:spPr>
            <a:xfrm>
              <a:off x="6345374" y="3980738"/>
              <a:ext cx="0" cy="22275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Группа 50"/>
          <p:cNvGrpSpPr/>
          <p:nvPr/>
        </p:nvGrpSpPr>
        <p:grpSpPr>
          <a:xfrm>
            <a:off x="6154839" y="2224462"/>
            <a:ext cx="5518986" cy="3649908"/>
            <a:chOff x="1036141" y="1918787"/>
            <a:chExt cx="7162381" cy="3397619"/>
          </a:xfrm>
        </p:grpSpPr>
        <p:pic>
          <p:nvPicPr>
            <p:cNvPr id="52" name="Рисунок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141" y="3027625"/>
              <a:ext cx="1274174" cy="1274174"/>
            </a:xfrm>
            <a:prstGeom prst="rect">
              <a:avLst/>
            </a:prstGeom>
          </p:spPr>
        </p:pic>
        <p:sp>
          <p:nvSpPr>
            <p:cNvPr id="53" name="Стрелка вправо 52"/>
            <p:cNvSpPr/>
            <p:nvPr/>
          </p:nvSpPr>
          <p:spPr>
            <a:xfrm>
              <a:off x="2310315" y="3430955"/>
              <a:ext cx="2979324" cy="3295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4564346" y="2840725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55" name="Прямоугольник 54"/>
            <p:cNvSpPr/>
            <p:nvPr/>
          </p:nvSpPr>
          <p:spPr>
            <a:xfrm>
              <a:off x="4279862" y="2843428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56" name="Прямоугольник 55"/>
            <p:cNvSpPr/>
            <p:nvPr/>
          </p:nvSpPr>
          <p:spPr>
            <a:xfrm>
              <a:off x="3995378" y="2846131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57" name="Прямоугольник 56"/>
            <p:cNvSpPr/>
            <p:nvPr/>
          </p:nvSpPr>
          <p:spPr>
            <a:xfrm>
              <a:off x="3710894" y="2848834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58" name="Прямоугольник 57"/>
            <p:cNvSpPr/>
            <p:nvPr/>
          </p:nvSpPr>
          <p:spPr>
            <a:xfrm>
              <a:off x="3426410" y="2851537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59" name="Прямоугольник 58"/>
            <p:cNvSpPr/>
            <p:nvPr/>
          </p:nvSpPr>
          <p:spPr>
            <a:xfrm>
              <a:off x="3141926" y="2854240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2857442" y="2856943"/>
              <a:ext cx="178167" cy="5191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61" name="Прямоугольник 60"/>
            <p:cNvSpPr/>
            <p:nvPr/>
          </p:nvSpPr>
          <p:spPr>
            <a:xfrm>
              <a:off x="5425953" y="1918787"/>
              <a:ext cx="2772569" cy="302433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417798" y="5008629"/>
              <a:ext cx="27725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 smtClean="0"/>
                <a:t>Получатель</a:t>
              </a:r>
              <a:endParaRPr lang="ru-RU" sz="1400" dirty="0"/>
            </a:p>
          </p:txBody>
        </p:sp>
        <p:sp>
          <p:nvSpPr>
            <p:cNvPr id="63" name="Прямоугольник 62"/>
            <p:cNvSpPr/>
            <p:nvPr/>
          </p:nvSpPr>
          <p:spPr>
            <a:xfrm>
              <a:off x="5718301" y="2076269"/>
              <a:ext cx="2187872" cy="5040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 smtClean="0">
                  <a:solidFill>
                    <a:schemeClr val="tx1"/>
                  </a:solidFill>
                </a:rPr>
                <a:t>Приложение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4" name="Прямоугольник 63"/>
            <p:cNvSpPr/>
            <p:nvPr/>
          </p:nvSpPr>
          <p:spPr>
            <a:xfrm>
              <a:off x="6007772" y="3790995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627294" y="3171729"/>
              <a:ext cx="1323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 smtClean="0"/>
                <a:t>Буфер</a:t>
              </a:r>
              <a:endParaRPr lang="ru-RU" sz="1400" dirty="0"/>
            </a:p>
          </p:txBody>
        </p:sp>
        <p:sp>
          <p:nvSpPr>
            <p:cNvPr id="66" name="Прямоугольник 65"/>
            <p:cNvSpPr/>
            <p:nvPr/>
          </p:nvSpPr>
          <p:spPr>
            <a:xfrm>
              <a:off x="6007000" y="3601252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Прямоугольник 66"/>
            <p:cNvSpPr/>
            <p:nvPr/>
          </p:nvSpPr>
          <p:spPr>
            <a:xfrm>
              <a:off x="6008884" y="3421902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8" name="Прямоугольник 67"/>
            <p:cNvSpPr/>
            <p:nvPr/>
          </p:nvSpPr>
          <p:spPr>
            <a:xfrm>
              <a:off x="6008884" y="3242090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6008884" y="3062278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0" name="Прямоугольник 69"/>
            <p:cNvSpPr/>
            <p:nvPr/>
          </p:nvSpPr>
          <p:spPr>
            <a:xfrm>
              <a:off x="6008884" y="2882466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71" name="Прямоугольник 70"/>
            <p:cNvSpPr/>
            <p:nvPr/>
          </p:nvSpPr>
          <p:spPr>
            <a:xfrm>
              <a:off x="5750001" y="4224582"/>
              <a:ext cx="2187872" cy="58101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 smtClean="0">
                  <a:solidFill>
                    <a:schemeClr val="tx1"/>
                  </a:solidFill>
                </a:rPr>
                <a:t>Транспортная подсистема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Прямая со стрелкой 71"/>
            <p:cNvCxnSpPr/>
            <p:nvPr/>
          </p:nvCxnSpPr>
          <p:spPr>
            <a:xfrm>
              <a:off x="6319418" y="2580325"/>
              <a:ext cx="6647" cy="30214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/>
            <p:nvPr/>
          </p:nvCxnSpPr>
          <p:spPr>
            <a:xfrm>
              <a:off x="6345374" y="3980738"/>
              <a:ext cx="0" cy="22275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815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потоком</a:t>
            </a:r>
            <a:endParaRPr lang="ru-RU" sz="3600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1758357" y="1288333"/>
            <a:ext cx="7669107" cy="5048459"/>
            <a:chOff x="1337733" y="1462069"/>
            <a:chExt cx="6079067" cy="4336751"/>
          </a:xfrm>
        </p:grpSpPr>
        <p:cxnSp>
          <p:nvCxnSpPr>
            <p:cNvPr id="74" name="Прямая соединительная линия 73"/>
            <p:cNvCxnSpPr/>
            <p:nvPr/>
          </p:nvCxnSpPr>
          <p:spPr>
            <a:xfrm flipH="1">
              <a:off x="2255293" y="2352678"/>
              <a:ext cx="3160" cy="344614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1337733" y="1462069"/>
              <a:ext cx="187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 smtClean="0"/>
                <a:t>Отправитель</a:t>
              </a:r>
              <a:endParaRPr lang="ru-RU" sz="20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003800" y="1462069"/>
              <a:ext cx="241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 smtClean="0"/>
                <a:t>Получатель</a:t>
              </a:r>
              <a:endParaRPr lang="ru-RU" sz="2000" dirty="0"/>
            </a:p>
          </p:txBody>
        </p:sp>
        <p:pic>
          <p:nvPicPr>
            <p:cNvPr id="77" name="Рисунок 7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4127" y="1731564"/>
              <a:ext cx="756012" cy="756012"/>
            </a:xfrm>
            <a:prstGeom prst="rect">
              <a:avLst/>
            </a:prstGeom>
          </p:spPr>
        </p:pic>
        <p:cxnSp>
          <p:nvCxnSpPr>
            <p:cNvPr id="78" name="Прямая со стрелкой 77"/>
            <p:cNvCxnSpPr/>
            <p:nvPr/>
          </p:nvCxnSpPr>
          <p:spPr>
            <a:xfrm>
              <a:off x="2255293" y="2521805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656552" y="2234142"/>
              <a:ext cx="3144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Байт 1000 (до 2459)</a:t>
              </a:r>
              <a:endParaRPr lang="ru-RU" dirty="0"/>
            </a:p>
          </p:txBody>
        </p:sp>
        <p:cxnSp>
          <p:nvCxnSpPr>
            <p:cNvPr id="80" name="Прямая со стрелкой 79"/>
            <p:cNvCxnSpPr/>
            <p:nvPr/>
          </p:nvCxnSpPr>
          <p:spPr>
            <a:xfrm flipH="1">
              <a:off x="2255293" y="3130244"/>
              <a:ext cx="3823778" cy="3148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569901" y="2819741"/>
              <a:ext cx="3404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ACK</a:t>
              </a:r>
              <a:r>
                <a:rPr lang="ru-RU" dirty="0" smtClean="0"/>
                <a:t>, 2460, </a:t>
              </a:r>
              <a:r>
                <a:rPr lang="ru-RU" dirty="0"/>
                <a:t>размер окна 10220</a:t>
              </a:r>
            </a:p>
          </p:txBody>
        </p:sp>
        <p:cxnSp>
          <p:nvCxnSpPr>
            <p:cNvPr id="82" name="Прямая соединительная линия 81"/>
            <p:cNvCxnSpPr/>
            <p:nvPr/>
          </p:nvCxnSpPr>
          <p:spPr>
            <a:xfrm flipH="1">
              <a:off x="6079071" y="2352678"/>
              <a:ext cx="14969" cy="344614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3" name="Рисунок 8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064" y="1740691"/>
              <a:ext cx="756012" cy="756012"/>
            </a:xfrm>
            <a:prstGeom prst="rect">
              <a:avLst/>
            </a:prstGeom>
          </p:spPr>
        </p:pic>
        <p:sp>
          <p:nvSpPr>
            <p:cNvPr id="84" name="Прямоугольник 83"/>
            <p:cNvSpPr/>
            <p:nvPr/>
          </p:nvSpPr>
          <p:spPr>
            <a:xfrm>
              <a:off x="6410609" y="3088555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5" name="Прямоугольник 84"/>
            <p:cNvSpPr/>
            <p:nvPr/>
          </p:nvSpPr>
          <p:spPr>
            <a:xfrm>
              <a:off x="6410609" y="2908743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6" name="Прямоугольник 85"/>
            <p:cNvSpPr/>
            <p:nvPr/>
          </p:nvSpPr>
          <p:spPr>
            <a:xfrm>
              <a:off x="6410609" y="2728931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7" name="Прямоугольник 86"/>
            <p:cNvSpPr/>
            <p:nvPr/>
          </p:nvSpPr>
          <p:spPr>
            <a:xfrm>
              <a:off x="6410609" y="2549119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8" name="Прямоугольник 87"/>
            <p:cNvSpPr/>
            <p:nvPr/>
          </p:nvSpPr>
          <p:spPr>
            <a:xfrm>
              <a:off x="6410609" y="3272678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9" name="Прямоугольник 88"/>
            <p:cNvSpPr/>
            <p:nvPr/>
          </p:nvSpPr>
          <p:spPr>
            <a:xfrm>
              <a:off x="6410609" y="3445087"/>
              <a:ext cx="686274" cy="1834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0" name="Прямоугольник 89"/>
            <p:cNvSpPr/>
            <p:nvPr/>
          </p:nvSpPr>
          <p:spPr>
            <a:xfrm>
              <a:off x="6410609" y="3630851"/>
              <a:ext cx="686274" cy="1834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91" name="Прямоугольник 90"/>
            <p:cNvSpPr/>
            <p:nvPr/>
          </p:nvSpPr>
          <p:spPr>
            <a:xfrm>
              <a:off x="6410609" y="3803260"/>
              <a:ext cx="686274" cy="18341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Прямая со стрелкой 91"/>
            <p:cNvCxnSpPr/>
            <p:nvPr/>
          </p:nvCxnSpPr>
          <p:spPr>
            <a:xfrm>
              <a:off x="2255293" y="3578549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 стрелкой 92"/>
            <p:cNvCxnSpPr/>
            <p:nvPr/>
          </p:nvCxnSpPr>
          <p:spPr>
            <a:xfrm>
              <a:off x="2250307" y="3814266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Прямая со стрелкой 93"/>
            <p:cNvCxnSpPr/>
            <p:nvPr/>
          </p:nvCxnSpPr>
          <p:spPr>
            <a:xfrm>
              <a:off x="2245321" y="4049983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94"/>
            <p:cNvCxnSpPr/>
            <p:nvPr/>
          </p:nvCxnSpPr>
          <p:spPr>
            <a:xfrm>
              <a:off x="2250307" y="4268889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Прямая со стрелкой 95"/>
            <p:cNvCxnSpPr/>
            <p:nvPr/>
          </p:nvCxnSpPr>
          <p:spPr>
            <a:xfrm flipH="1">
              <a:off x="2264453" y="4900587"/>
              <a:ext cx="3823778" cy="3148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2579061" y="4590084"/>
              <a:ext cx="3404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ACK</a:t>
              </a:r>
              <a:r>
                <a:rPr lang="ru-RU" dirty="0" smtClean="0"/>
                <a:t>, </a:t>
              </a:r>
              <a:r>
                <a:rPr lang="en-US" dirty="0" smtClean="0"/>
                <a:t>8300</a:t>
              </a:r>
              <a:r>
                <a:rPr lang="ru-RU" dirty="0" smtClean="0"/>
                <a:t>, </a:t>
              </a:r>
              <a:r>
                <a:rPr lang="ru-RU" dirty="0"/>
                <a:t>размер окна 4380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608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потоком</a:t>
            </a:r>
            <a:endParaRPr lang="ru-RU" sz="3600" b="1" dirty="0"/>
          </a:p>
        </p:txBody>
      </p:sp>
      <p:grpSp>
        <p:nvGrpSpPr>
          <p:cNvPr id="3" name="Группа 2"/>
          <p:cNvGrpSpPr/>
          <p:nvPr/>
        </p:nvGrpSpPr>
        <p:grpSpPr>
          <a:xfrm>
            <a:off x="1886373" y="1489501"/>
            <a:ext cx="7605099" cy="4819859"/>
            <a:chOff x="1337733" y="1462069"/>
            <a:chExt cx="6079067" cy="4336751"/>
          </a:xfrm>
        </p:grpSpPr>
        <p:cxnSp>
          <p:nvCxnSpPr>
            <p:cNvPr id="28" name="Прямая соединительная линия 27"/>
            <p:cNvCxnSpPr/>
            <p:nvPr/>
          </p:nvCxnSpPr>
          <p:spPr>
            <a:xfrm flipH="1">
              <a:off x="2255293" y="2352678"/>
              <a:ext cx="3160" cy="344614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337733" y="1462069"/>
              <a:ext cx="187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 smtClean="0"/>
                <a:t>Отправитель</a:t>
              </a:r>
              <a:endParaRPr lang="ru-RU" sz="2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03800" y="1462069"/>
              <a:ext cx="241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 smtClean="0"/>
                <a:t>Получатель</a:t>
              </a:r>
              <a:endParaRPr lang="ru-RU" sz="2000" dirty="0"/>
            </a:p>
          </p:txBody>
        </p:sp>
        <p:pic>
          <p:nvPicPr>
            <p:cNvPr id="31" name="Рисунок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4127" y="1731564"/>
              <a:ext cx="756012" cy="756012"/>
            </a:xfrm>
            <a:prstGeom prst="rect">
              <a:avLst/>
            </a:prstGeom>
          </p:spPr>
        </p:pic>
        <p:cxnSp>
          <p:nvCxnSpPr>
            <p:cNvPr id="32" name="Прямая соединительная линия 31"/>
            <p:cNvCxnSpPr/>
            <p:nvPr/>
          </p:nvCxnSpPr>
          <p:spPr>
            <a:xfrm flipH="1">
              <a:off x="6079071" y="2352678"/>
              <a:ext cx="14969" cy="344614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Рисунок 3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064" y="1740691"/>
              <a:ext cx="756012" cy="756012"/>
            </a:xfrm>
            <a:prstGeom prst="rect">
              <a:avLst/>
            </a:prstGeom>
          </p:spPr>
        </p:pic>
        <p:sp>
          <p:nvSpPr>
            <p:cNvPr id="34" name="Прямоугольник 33"/>
            <p:cNvSpPr/>
            <p:nvPr/>
          </p:nvSpPr>
          <p:spPr>
            <a:xfrm>
              <a:off x="6410609" y="3088555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6410609" y="2908743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6410609" y="2728931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6410609" y="2549119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8" name="Прямоугольник 37"/>
            <p:cNvSpPr/>
            <p:nvPr/>
          </p:nvSpPr>
          <p:spPr>
            <a:xfrm>
              <a:off x="6410609" y="3272678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6410609" y="3445087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0" name="Прямоугольник 39"/>
            <p:cNvSpPr/>
            <p:nvPr/>
          </p:nvSpPr>
          <p:spPr>
            <a:xfrm>
              <a:off x="6410609" y="3630851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1" name="Прямоугольник 40"/>
            <p:cNvSpPr/>
            <p:nvPr/>
          </p:nvSpPr>
          <p:spPr>
            <a:xfrm>
              <a:off x="6410609" y="3803260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Прямая со стрелкой 41"/>
            <p:cNvCxnSpPr/>
            <p:nvPr/>
          </p:nvCxnSpPr>
          <p:spPr>
            <a:xfrm>
              <a:off x="2255293" y="2496509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/>
            <p:cNvCxnSpPr/>
            <p:nvPr/>
          </p:nvCxnSpPr>
          <p:spPr>
            <a:xfrm>
              <a:off x="2250307" y="2732226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 стрелкой 43"/>
            <p:cNvCxnSpPr/>
            <p:nvPr/>
          </p:nvCxnSpPr>
          <p:spPr>
            <a:xfrm>
              <a:off x="2245321" y="2967943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 стрелкой 44"/>
            <p:cNvCxnSpPr/>
            <p:nvPr/>
          </p:nvCxnSpPr>
          <p:spPr>
            <a:xfrm flipH="1">
              <a:off x="2264453" y="3711867"/>
              <a:ext cx="3823778" cy="3148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579061" y="3378504"/>
              <a:ext cx="3404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ACK</a:t>
              </a:r>
              <a:r>
                <a:rPr lang="ru-RU" dirty="0" smtClean="0"/>
                <a:t>, </a:t>
              </a:r>
              <a:r>
                <a:rPr lang="en-US" dirty="0"/>
                <a:t>12680</a:t>
              </a:r>
              <a:r>
                <a:rPr lang="ru-RU" dirty="0" smtClean="0"/>
                <a:t>, </a:t>
              </a:r>
              <a:r>
                <a:rPr lang="ru-RU" dirty="0"/>
                <a:t>размер окна </a:t>
              </a:r>
              <a:r>
                <a:rPr lang="en-US" dirty="0" smtClean="0"/>
                <a:t>0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43818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потоком</a:t>
            </a:r>
            <a:endParaRPr lang="ru-RU" sz="3600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1730925" y="1027275"/>
            <a:ext cx="8044011" cy="5331923"/>
            <a:chOff x="1337733" y="1462069"/>
            <a:chExt cx="6079067" cy="4336751"/>
          </a:xfrm>
        </p:grpSpPr>
        <p:cxnSp>
          <p:nvCxnSpPr>
            <p:cNvPr id="23" name="Прямая соединительная линия 22"/>
            <p:cNvCxnSpPr/>
            <p:nvPr/>
          </p:nvCxnSpPr>
          <p:spPr>
            <a:xfrm flipH="1">
              <a:off x="2255293" y="2352678"/>
              <a:ext cx="3160" cy="344614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337733" y="1462069"/>
              <a:ext cx="187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 smtClean="0"/>
                <a:t>Отправитель</a:t>
              </a:r>
              <a:endParaRPr lang="ru-RU" sz="20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3800" y="1462069"/>
              <a:ext cx="241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 smtClean="0"/>
                <a:t>Получатель</a:t>
              </a:r>
              <a:endParaRPr lang="ru-RU" sz="2000" dirty="0"/>
            </a:p>
          </p:txBody>
        </p:sp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4127" y="1731564"/>
              <a:ext cx="756012" cy="756012"/>
            </a:xfrm>
            <a:prstGeom prst="rect">
              <a:avLst/>
            </a:prstGeom>
          </p:spPr>
        </p:pic>
        <p:cxnSp>
          <p:nvCxnSpPr>
            <p:cNvPr id="27" name="Прямая соединительная линия 26"/>
            <p:cNvCxnSpPr/>
            <p:nvPr/>
          </p:nvCxnSpPr>
          <p:spPr>
            <a:xfrm flipH="1">
              <a:off x="6079071" y="2352678"/>
              <a:ext cx="14969" cy="344614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Рисунок 4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064" y="1740691"/>
              <a:ext cx="756012" cy="756012"/>
            </a:xfrm>
            <a:prstGeom prst="rect">
              <a:avLst/>
            </a:prstGeom>
          </p:spPr>
        </p:pic>
        <p:sp>
          <p:nvSpPr>
            <p:cNvPr id="48" name="Прямоугольник 47"/>
            <p:cNvSpPr/>
            <p:nvPr/>
          </p:nvSpPr>
          <p:spPr>
            <a:xfrm>
              <a:off x="6410609" y="3088555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6410609" y="2908743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6410609" y="2728931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6410609" y="2549119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6410609" y="3272678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 52"/>
            <p:cNvSpPr/>
            <p:nvPr/>
          </p:nvSpPr>
          <p:spPr>
            <a:xfrm>
              <a:off x="6410609" y="3445087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6410609" y="3630851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5" name="Прямоугольник 54"/>
            <p:cNvSpPr/>
            <p:nvPr/>
          </p:nvSpPr>
          <p:spPr>
            <a:xfrm>
              <a:off x="6410609" y="3803260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Прямая со стрелкой 55"/>
            <p:cNvCxnSpPr/>
            <p:nvPr/>
          </p:nvCxnSpPr>
          <p:spPr>
            <a:xfrm>
              <a:off x="2255293" y="2496509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 стрелкой 56"/>
            <p:cNvCxnSpPr/>
            <p:nvPr/>
          </p:nvCxnSpPr>
          <p:spPr>
            <a:xfrm>
              <a:off x="2250307" y="2732226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57"/>
            <p:cNvCxnSpPr/>
            <p:nvPr/>
          </p:nvCxnSpPr>
          <p:spPr>
            <a:xfrm>
              <a:off x="2245321" y="2967943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58"/>
            <p:cNvCxnSpPr/>
            <p:nvPr/>
          </p:nvCxnSpPr>
          <p:spPr>
            <a:xfrm flipH="1">
              <a:off x="2264453" y="3711867"/>
              <a:ext cx="3823778" cy="3148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2579061" y="3378504"/>
              <a:ext cx="3404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ACK</a:t>
              </a:r>
              <a:r>
                <a:rPr lang="ru-RU" dirty="0" smtClean="0"/>
                <a:t>, </a:t>
              </a:r>
              <a:r>
                <a:rPr lang="en-US" dirty="0"/>
                <a:t>12680</a:t>
              </a:r>
              <a:r>
                <a:rPr lang="ru-RU" dirty="0" smtClean="0"/>
                <a:t>, </a:t>
              </a:r>
              <a:r>
                <a:rPr lang="ru-RU" dirty="0"/>
                <a:t>размер окна </a:t>
              </a:r>
              <a:r>
                <a:rPr lang="en-US" dirty="0" smtClean="0"/>
                <a:t>0</a:t>
              </a:r>
              <a:endParaRPr lang="ru-RU" dirty="0"/>
            </a:p>
          </p:txBody>
        </p:sp>
        <p:pic>
          <p:nvPicPr>
            <p:cNvPr id="61" name="Рисунок 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2950" y="3874563"/>
              <a:ext cx="402371" cy="402371"/>
            </a:xfrm>
            <a:prstGeom prst="rect">
              <a:avLst/>
            </a:prstGeom>
          </p:spPr>
        </p:pic>
        <p:cxnSp>
          <p:nvCxnSpPr>
            <p:cNvPr id="62" name="Прямая со стрелкой 61"/>
            <p:cNvCxnSpPr/>
            <p:nvPr/>
          </p:nvCxnSpPr>
          <p:spPr>
            <a:xfrm>
              <a:off x="2252133" y="4593825"/>
              <a:ext cx="3843868" cy="272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Прямоугольник 62"/>
            <p:cNvSpPr/>
            <p:nvPr/>
          </p:nvSpPr>
          <p:spPr>
            <a:xfrm>
              <a:off x="3061632" y="4305372"/>
              <a:ext cx="22112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Zero Window Probe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69879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перегрузкой сети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1960" y="1357991"/>
            <a:ext cx="106862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2400" dirty="0" smtClean="0"/>
              <a:t>Управление перегрузкой</a:t>
            </a:r>
            <a:r>
              <a:rPr lang="en-US" altLang="ru-RU" sz="2400" dirty="0" smtClean="0"/>
              <a:t> (congestion control)</a:t>
            </a:r>
            <a:r>
              <a:rPr lang="ru-RU" altLang="ru-RU" sz="2400" dirty="0" smtClean="0"/>
              <a:t> в </a:t>
            </a:r>
            <a:r>
              <a:rPr lang="en-US" altLang="ru-RU" sz="2400" dirty="0" smtClean="0"/>
              <a:t>TCP: </a:t>
            </a:r>
            <a:r>
              <a:rPr lang="ru-RU" altLang="ru-RU" sz="2400" dirty="0" smtClean="0"/>
              <a:t>предотвращение отправки в сеть большого количества сегментов, которые перегрузят сеть</a:t>
            </a:r>
            <a:endParaRPr lang="ru-RU" altLang="ru-RU" sz="2400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1437953" y="2624328"/>
            <a:ext cx="7971224" cy="4082464"/>
            <a:chOff x="1255072" y="2558320"/>
            <a:chExt cx="8353177" cy="4239912"/>
          </a:xfrm>
        </p:grpSpPr>
        <p:pic>
          <p:nvPicPr>
            <p:cNvPr id="28" name="Рисунок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072" y="4131726"/>
              <a:ext cx="1140051" cy="1140051"/>
            </a:xfrm>
            <a:prstGeom prst="rect">
              <a:avLst/>
            </a:prstGeom>
          </p:spPr>
        </p:pic>
        <p:sp>
          <p:nvSpPr>
            <p:cNvPr id="29" name="Прямоугольник 28"/>
            <p:cNvSpPr/>
            <p:nvPr/>
          </p:nvSpPr>
          <p:spPr>
            <a:xfrm>
              <a:off x="6835680" y="2979598"/>
              <a:ext cx="2772569" cy="302433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27525" y="6069439"/>
              <a:ext cx="2772569" cy="35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 smtClean="0"/>
                <a:t>Получатель</a:t>
              </a:r>
              <a:endParaRPr lang="ru-RU" sz="1600" b="1" dirty="0"/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7128028" y="3137080"/>
              <a:ext cx="2187872" cy="50405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b="1" dirty="0" smtClean="0">
                  <a:solidFill>
                    <a:schemeClr val="tx1"/>
                  </a:solidFill>
                </a:rPr>
                <a:t>Приложение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7417499" y="4851806"/>
              <a:ext cx="686274" cy="18341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92124" y="4241402"/>
              <a:ext cx="1323776" cy="35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 smtClean="0"/>
                <a:t>Буфер</a:t>
              </a:r>
              <a:endParaRPr lang="ru-RU" sz="1600" b="1" dirty="0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7416727" y="4662063"/>
              <a:ext cx="686274" cy="18341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7418611" y="4482713"/>
              <a:ext cx="686274" cy="18341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7418611" y="4302901"/>
              <a:ext cx="686274" cy="18341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7418611" y="4123089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Прямоугольник 37"/>
            <p:cNvSpPr/>
            <p:nvPr/>
          </p:nvSpPr>
          <p:spPr>
            <a:xfrm>
              <a:off x="7418611" y="3943277"/>
              <a:ext cx="686274" cy="18341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7159728" y="5285393"/>
              <a:ext cx="2187872" cy="58101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b="1" dirty="0" smtClean="0">
                  <a:solidFill>
                    <a:schemeClr val="tx1"/>
                  </a:solidFill>
                </a:rPr>
                <a:t>Транспортная подсистема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Прямая со стрелкой 39"/>
            <p:cNvCxnSpPr/>
            <p:nvPr/>
          </p:nvCxnSpPr>
          <p:spPr>
            <a:xfrm>
              <a:off x="7729145" y="3641136"/>
              <a:ext cx="6647" cy="30214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/>
            <p:nvPr/>
          </p:nvCxnSpPr>
          <p:spPr>
            <a:xfrm>
              <a:off x="7755101" y="5041549"/>
              <a:ext cx="0" cy="22275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/>
            <p:cNvCxnSpPr>
              <a:endCxn id="64" idx="1"/>
            </p:cNvCxnSpPr>
            <p:nvPr/>
          </p:nvCxnSpPr>
          <p:spPr>
            <a:xfrm>
              <a:off x="2263184" y="4701751"/>
              <a:ext cx="79233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/>
            <p:cNvCxnSpPr/>
            <p:nvPr/>
          </p:nvCxnSpPr>
          <p:spPr>
            <a:xfrm flipV="1">
              <a:off x="3631087" y="4034984"/>
              <a:ext cx="1080369" cy="53943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/>
            <p:nvPr/>
          </p:nvCxnSpPr>
          <p:spPr>
            <a:xfrm>
              <a:off x="5039127" y="3999917"/>
              <a:ext cx="1109910" cy="56113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/>
            <p:cNvCxnSpPr/>
            <p:nvPr/>
          </p:nvCxnSpPr>
          <p:spPr>
            <a:xfrm>
              <a:off x="3586055" y="4724262"/>
              <a:ext cx="1109910" cy="56113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/>
            <p:cNvCxnSpPr/>
            <p:nvPr/>
          </p:nvCxnSpPr>
          <p:spPr>
            <a:xfrm flipV="1">
              <a:off x="5014720" y="4742716"/>
              <a:ext cx="1103981" cy="55261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Рисунок 6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5521" y="4435051"/>
              <a:ext cx="885825" cy="533400"/>
            </a:xfrm>
            <a:prstGeom prst="rect">
              <a:avLst/>
            </a:prstGeom>
          </p:spPr>
        </p:pic>
        <p:pic>
          <p:nvPicPr>
            <p:cNvPr id="65" name="Рисунок 6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3424" y="3818249"/>
              <a:ext cx="885825" cy="533400"/>
            </a:xfrm>
            <a:prstGeom prst="rect">
              <a:avLst/>
            </a:prstGeom>
          </p:spPr>
        </p:pic>
        <p:pic>
          <p:nvPicPr>
            <p:cNvPr id="66" name="Рисунок 6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3424" y="5087111"/>
              <a:ext cx="885825" cy="533400"/>
            </a:xfrm>
            <a:prstGeom prst="rect">
              <a:avLst/>
            </a:prstGeom>
          </p:spPr>
        </p:pic>
        <p:cxnSp>
          <p:nvCxnSpPr>
            <p:cNvPr id="67" name="Прямая соединительная линия 66"/>
            <p:cNvCxnSpPr/>
            <p:nvPr/>
          </p:nvCxnSpPr>
          <p:spPr>
            <a:xfrm>
              <a:off x="6544821" y="4662063"/>
              <a:ext cx="29085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9568" y="4435051"/>
              <a:ext cx="885825" cy="533400"/>
            </a:xfrm>
            <a:prstGeom prst="rect">
              <a:avLst/>
            </a:prstGeom>
          </p:spPr>
        </p:pic>
        <p:pic>
          <p:nvPicPr>
            <p:cNvPr id="69" name="Рисунок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0766" y="4109396"/>
              <a:ext cx="1021842" cy="1200486"/>
            </a:xfrm>
            <a:prstGeom prst="rect">
              <a:avLst/>
            </a:prstGeom>
          </p:spPr>
        </p:pic>
        <p:pic>
          <p:nvPicPr>
            <p:cNvPr id="70" name="Рисунок 6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8206" y="2916754"/>
              <a:ext cx="1140051" cy="1140051"/>
            </a:xfrm>
            <a:prstGeom prst="rect">
              <a:avLst/>
            </a:prstGeom>
          </p:spPr>
        </p:pic>
        <p:pic>
          <p:nvPicPr>
            <p:cNvPr id="71" name="Рисунок 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7380" y="2558320"/>
              <a:ext cx="1140051" cy="1140051"/>
            </a:xfrm>
            <a:prstGeom prst="rect">
              <a:avLst/>
            </a:prstGeom>
          </p:spPr>
        </p:pic>
        <p:pic>
          <p:nvPicPr>
            <p:cNvPr id="72" name="Рисунок 7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37473" y="2651241"/>
              <a:ext cx="1140051" cy="1140051"/>
            </a:xfrm>
            <a:prstGeom prst="rect">
              <a:avLst/>
            </a:prstGeom>
          </p:spPr>
        </p:pic>
        <p:pic>
          <p:nvPicPr>
            <p:cNvPr id="73" name="Рисунок 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7887" y="5658181"/>
              <a:ext cx="1140051" cy="1140051"/>
            </a:xfrm>
            <a:prstGeom prst="rect">
              <a:avLst/>
            </a:prstGeom>
          </p:spPr>
        </p:pic>
        <p:pic>
          <p:nvPicPr>
            <p:cNvPr id="74" name="Рисунок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0715" y="5353811"/>
              <a:ext cx="1140051" cy="1140051"/>
            </a:xfrm>
            <a:prstGeom prst="rect">
              <a:avLst/>
            </a:prstGeom>
          </p:spPr>
        </p:pic>
        <p:cxnSp>
          <p:nvCxnSpPr>
            <p:cNvPr id="75" name="Прямая соединительная линия 74"/>
            <p:cNvCxnSpPr/>
            <p:nvPr/>
          </p:nvCxnSpPr>
          <p:spPr>
            <a:xfrm>
              <a:off x="4098257" y="3882239"/>
              <a:ext cx="325167" cy="6103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/>
            <p:cNvCxnSpPr/>
            <p:nvPr/>
          </p:nvCxnSpPr>
          <p:spPr>
            <a:xfrm>
              <a:off x="4229512" y="3504412"/>
              <a:ext cx="372208" cy="34435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/>
            <p:cNvCxnSpPr/>
            <p:nvPr/>
          </p:nvCxnSpPr>
          <p:spPr>
            <a:xfrm flipH="1">
              <a:off x="5034485" y="3601114"/>
              <a:ext cx="73013" cy="2262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/>
            <p:nvPr/>
          </p:nvCxnSpPr>
          <p:spPr>
            <a:xfrm flipH="1">
              <a:off x="4820468" y="5616785"/>
              <a:ext cx="36507" cy="2746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/>
            <p:nvPr/>
          </p:nvCxnSpPr>
          <p:spPr>
            <a:xfrm flipH="1">
              <a:off x="4238305" y="5535401"/>
              <a:ext cx="299007" cy="13733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27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перегрузкой сети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24840" y="1105966"/>
            <a:ext cx="1063142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800" dirty="0" smtClean="0"/>
              <a:t>Решение</a:t>
            </a:r>
            <a:endParaRPr lang="en-US" altLang="ru-RU" sz="2800" dirty="0" smtClean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b="1" dirty="0" smtClean="0"/>
              <a:t>Учет загрузки сети при определении размера окна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altLang="ru-RU" sz="2400" b="1" dirty="0" smtClean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b="1" dirty="0" smtClean="0"/>
              <a:t>Предложенный подход:</a:t>
            </a:r>
            <a:r>
              <a:rPr lang="ru-RU" altLang="ru-RU" sz="2400" dirty="0" smtClean="0"/>
              <a:t> размер окна динамически меняется в зависимости от нагрузки на сеть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altLang="ru-RU" sz="2400" b="1" dirty="0" smtClean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b="1" dirty="0" smtClean="0"/>
              <a:t>Механизм реализации: </a:t>
            </a:r>
          </a:p>
          <a:p>
            <a:pPr marL="1079500" lvl="1" indent="-342900"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окно перегрузки</a:t>
            </a:r>
            <a:endParaRPr lang="en-US" altLang="ru-RU" sz="2400" dirty="0" smtClean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altLang="ru-RU" sz="2400" b="1" dirty="0" smtClean="0"/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b="1" dirty="0" smtClean="0"/>
              <a:t>Сигналы о перегрузке сети:</a:t>
            </a:r>
          </a:p>
          <a:p>
            <a:pPr marL="1079500" lvl="1" indent="-342900"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потеря сегмента, </a:t>
            </a:r>
          </a:p>
          <a:p>
            <a:pPr marL="1079500" lvl="1" indent="-342900"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задержка сегмента, </a:t>
            </a:r>
          </a:p>
          <a:p>
            <a:pPr marL="1079500" lvl="1" indent="-342900"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сигнал от маршрутизатора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altLang="ru-RU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399106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перегрузкой сети. </a:t>
            </a:r>
            <a:br>
              <a:rPr lang="ru-RU" sz="3600" b="1" dirty="0" smtClean="0">
                <a:solidFill>
                  <a:schemeClr val="tx1"/>
                </a:solidFill>
              </a:rPr>
            </a:br>
            <a:r>
              <a:rPr lang="ru-RU" sz="3600" b="1" dirty="0" smtClean="0">
                <a:solidFill>
                  <a:schemeClr val="tx1"/>
                </a:solidFill>
              </a:rPr>
              <a:t>Потеря сегментов</a:t>
            </a:r>
            <a:endParaRPr lang="ru-RU" sz="3600" b="1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531285" y="1636776"/>
            <a:ext cx="10642683" cy="4866453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ru-RU" sz="2800" dirty="0" smtClean="0"/>
              <a:t>TCP </a:t>
            </a:r>
            <a:r>
              <a:rPr lang="ru-RU" altLang="ru-RU" sz="2800" dirty="0" smtClean="0"/>
              <a:t>создает перегрузку</a:t>
            </a:r>
            <a:endParaRPr lang="ru-RU" altLang="ru-RU" sz="2800" dirty="0"/>
          </a:p>
          <a:p>
            <a:pPr marL="715963" lvl="0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Размер окна постоянно увеличивается</a:t>
            </a:r>
            <a:endParaRPr lang="en-US" altLang="ru-RU" sz="2400" dirty="0"/>
          </a:p>
          <a:p>
            <a:pPr marL="715963" lvl="0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Окно начинает уменьшаться только после того, как перегрузка произошла</a:t>
            </a:r>
            <a:endParaRPr lang="ru-RU" altLang="ru-RU" sz="24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800" dirty="0" smtClean="0"/>
              <a:t>Глобальная синхронизация </a:t>
            </a:r>
            <a:r>
              <a:rPr lang="en-US" altLang="ru-RU" sz="2800" dirty="0" smtClean="0"/>
              <a:t>TCP (TCP </a:t>
            </a:r>
            <a:r>
              <a:rPr lang="en-US" altLang="ru-RU" sz="2800" dirty="0"/>
              <a:t>global </a:t>
            </a:r>
            <a:r>
              <a:rPr lang="en-US" altLang="ru-RU" sz="2800" dirty="0" smtClean="0"/>
              <a:t>synchronization)</a:t>
            </a:r>
            <a:endParaRPr lang="ru-RU" altLang="ru-RU" sz="2800" dirty="0" smtClean="0"/>
          </a:p>
          <a:p>
            <a:pPr marL="715963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Место в буфере маршрутизатора заканчивается, он отбрасывает все новые сегменты</a:t>
            </a:r>
          </a:p>
          <a:p>
            <a:pPr marL="715963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Отправители получают сигнал о перегрузке и уменьшают размер окна</a:t>
            </a:r>
          </a:p>
          <a:p>
            <a:pPr marL="715963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Передача данных начинается всеми отправителями почти одновременно</a:t>
            </a: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68057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перегрузкой сети. </a:t>
            </a:r>
            <a:br>
              <a:rPr lang="ru-RU" sz="3600" b="1" dirty="0" smtClean="0">
                <a:solidFill>
                  <a:schemeClr val="tx1"/>
                </a:solidFill>
              </a:rPr>
            </a:br>
            <a:r>
              <a:rPr lang="ru-RU" sz="3600" b="1" dirty="0" smtClean="0">
                <a:solidFill>
                  <a:schemeClr val="tx1"/>
                </a:solidFill>
              </a:rPr>
              <a:t>Задержка сегментов</a:t>
            </a:r>
            <a:endParaRPr lang="ru-RU" sz="3600" b="1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604437" y="1776987"/>
            <a:ext cx="10688403" cy="3654549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800" dirty="0" smtClean="0"/>
              <a:t>«</a:t>
            </a:r>
            <a:r>
              <a:rPr lang="ru-RU" altLang="ru-RU" sz="2800" dirty="0" smtClean="0"/>
              <a:t>Несправедливость» на загруженных каналах</a:t>
            </a:r>
            <a:endParaRPr lang="ru-RU" altLang="ru-RU" sz="2800" dirty="0"/>
          </a:p>
          <a:p>
            <a:pPr marL="715963" lvl="0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Размер окна уменьшается при задержке сегмента, а другие отправители уменьшают только при потерях сегмента </a:t>
            </a:r>
            <a:endParaRPr lang="en-US" altLang="ru-RU" sz="24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800" dirty="0" smtClean="0"/>
              <a:t>Решение</a:t>
            </a:r>
          </a:p>
          <a:p>
            <a:pPr marL="715963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Совместное использование сигналов задержка и потеря сегментов</a:t>
            </a:r>
          </a:p>
          <a:p>
            <a:pPr marL="715963" indent="-342900" algn="just" defTabSz="91440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Пример</a:t>
            </a:r>
            <a:r>
              <a:rPr lang="en-US" altLang="ru-RU" sz="2400" dirty="0" smtClean="0"/>
              <a:t>: Compound TCP </a:t>
            </a:r>
            <a:r>
              <a:rPr lang="ru-RU" altLang="ru-RU" sz="2400" dirty="0" smtClean="0"/>
              <a:t>компании </a:t>
            </a:r>
            <a:r>
              <a:rPr lang="en-US" altLang="ru-RU" sz="2400" dirty="0" smtClean="0"/>
              <a:t>Microsoft</a:t>
            </a: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312050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перегрузкой сети. </a:t>
            </a:r>
            <a:br>
              <a:rPr lang="ru-RU" sz="3600" b="1" dirty="0" smtClean="0">
                <a:solidFill>
                  <a:schemeClr val="tx1"/>
                </a:solidFill>
              </a:rPr>
            </a:br>
            <a:r>
              <a:rPr lang="ru-RU" sz="3600" b="1" dirty="0" smtClean="0">
                <a:solidFill>
                  <a:schemeClr val="tx1"/>
                </a:solidFill>
              </a:rPr>
              <a:t>Сигналы от маршрутизатора</a:t>
            </a:r>
            <a:endParaRPr lang="ru-RU" sz="3600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32" y="3277137"/>
            <a:ext cx="1496642" cy="1417605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>
            <a:endCxn id="13" idx="1"/>
          </p:cNvCxnSpPr>
          <p:nvPr/>
        </p:nvCxnSpPr>
        <p:spPr>
          <a:xfrm>
            <a:off x="2487066" y="3985939"/>
            <a:ext cx="104016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4282829" y="3156843"/>
            <a:ext cx="1418292" cy="6707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131283" y="3113238"/>
            <a:ext cx="1457073" cy="69774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4223712" y="4013931"/>
            <a:ext cx="1457073" cy="69774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6099242" y="4036877"/>
            <a:ext cx="1449290" cy="68715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234" y="3654309"/>
            <a:ext cx="1162898" cy="66326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997" y="2887342"/>
            <a:ext cx="1162898" cy="66326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997" y="4465118"/>
            <a:ext cx="1162898" cy="66326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555" y="3654309"/>
            <a:ext cx="1162898" cy="66326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481" y="1766371"/>
            <a:ext cx="1496642" cy="1417605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835" y="1320674"/>
            <a:ext cx="1496642" cy="141760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719" y="1436217"/>
            <a:ext cx="1496642" cy="1417605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66" y="5175219"/>
            <a:ext cx="1496642" cy="1417605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099" y="4796748"/>
            <a:ext cx="1496642" cy="1417605"/>
          </a:xfrm>
          <a:prstGeom prst="rect">
            <a:avLst/>
          </a:prstGeom>
        </p:spPr>
      </p:pic>
      <p:cxnSp>
        <p:nvCxnSpPr>
          <p:cNvPr id="22" name="Прямая соединительная линия 21"/>
          <p:cNvCxnSpPr/>
          <p:nvPr/>
        </p:nvCxnSpPr>
        <p:spPr>
          <a:xfrm>
            <a:off x="4896123" y="2966911"/>
            <a:ext cx="426874" cy="7589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5068432" y="2497099"/>
            <a:ext cx="488629" cy="42819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6125189" y="2617344"/>
            <a:ext cx="95850" cy="28138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>
            <a:off x="5844230" y="5123745"/>
            <a:ext cx="47926" cy="34152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5079976" y="5022547"/>
            <a:ext cx="392532" cy="17076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8135378" y="3957983"/>
            <a:ext cx="104016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Рисунок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918" y="3249371"/>
            <a:ext cx="1496642" cy="1417605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3007150" y="3277137"/>
            <a:ext cx="736949" cy="2734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966" y="3714643"/>
            <a:ext cx="499257" cy="55452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524186" y="3341864"/>
            <a:ext cx="146304" cy="120245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7966353" y="3188644"/>
            <a:ext cx="736949" cy="2734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8114301" y="3277137"/>
            <a:ext cx="146304" cy="120245"/>
          </a:xfrm>
          <a:prstGeom prst="rect">
            <a:avLst/>
          </a:prstGeom>
          <a:ln w="57150"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2076047" y="3109555"/>
            <a:ext cx="736949" cy="2734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2150716" y="3162184"/>
            <a:ext cx="146304" cy="120245"/>
          </a:xfrm>
          <a:prstGeom prst="rect">
            <a:avLst/>
          </a:prstGeom>
          <a:ln w="57150"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8509158" y="3271739"/>
            <a:ext cx="146304" cy="120245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18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4" grpId="0" animBg="1"/>
      <p:bldP spid="4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4" grpId="0" animBg="1"/>
      <p:bldP spid="35" grpId="0" animBg="1"/>
      <p:bldP spid="3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Управление перегрузкой сети. </a:t>
            </a:r>
            <a:br>
              <a:rPr lang="ru-RU" sz="3600" b="1" dirty="0" smtClean="0">
                <a:solidFill>
                  <a:schemeClr val="tx1"/>
                </a:solidFill>
              </a:rPr>
            </a:br>
            <a:r>
              <a:rPr lang="ru-RU" sz="3600" b="1" dirty="0" smtClean="0">
                <a:solidFill>
                  <a:schemeClr val="tx1"/>
                </a:solidFill>
              </a:rPr>
              <a:t>Сравнение методов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20600" y="1685826"/>
            <a:ext cx="10967160" cy="4626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400" b="1" dirty="0" smtClean="0"/>
              <a:t>Потеря сегмента</a:t>
            </a:r>
          </a:p>
          <a:p>
            <a:pPr marL="280800" algn="just"/>
            <a:r>
              <a:rPr lang="ru-RU" altLang="ru-RU" sz="2400" dirty="0" smtClean="0"/>
              <a:t>Окно начинает уменьшаться только после того, как перегрузка произошла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400" b="1" dirty="0" smtClean="0"/>
              <a:t>Задержка сегмента</a:t>
            </a:r>
          </a:p>
          <a:p>
            <a:pPr marL="279400"/>
            <a:r>
              <a:rPr lang="ru-RU" altLang="ru-RU" sz="2400" dirty="0" smtClean="0"/>
              <a:t>Невысокая надежность</a:t>
            </a:r>
          </a:p>
          <a:p>
            <a:pPr marL="279400"/>
            <a:r>
              <a:rPr lang="ru-RU" altLang="ru-RU" sz="2400" dirty="0" smtClean="0"/>
              <a:t>«Несправедливость» на загруженных каналах</a:t>
            </a:r>
          </a:p>
          <a:p>
            <a:pPr marL="279400">
              <a:spcAft>
                <a:spcPts val="800"/>
              </a:spcAft>
            </a:pPr>
            <a:r>
              <a:rPr lang="ru-RU" altLang="ru-RU" sz="2400" dirty="0" smtClean="0"/>
              <a:t>Изменения только на стороне отправителя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2400" b="1" dirty="0" smtClean="0"/>
              <a:t>Сигнал от маршрутизатора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Высокая надежность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Быстрое обнаружение перегрузки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Взаимодействие сетевого и транспортного уровня</a:t>
            </a:r>
          </a:p>
          <a:p>
            <a:pPr marL="6223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altLang="ru-RU" sz="2400" dirty="0" smtClean="0"/>
              <a:t>Изменения в отправителе, получателе и маршрутизаторах</a:t>
            </a:r>
            <a:endParaRPr lang="en-US" alt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99567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Установка соединения</a:t>
            </a:r>
            <a:endParaRPr lang="ru-RU" sz="3600" b="1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320600" y="1429515"/>
            <a:ext cx="11091672" cy="4351338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 smtClean="0"/>
              <a:t>Передача данных в </a:t>
            </a:r>
            <a:r>
              <a:rPr lang="en-US" sz="2800" dirty="0" smtClean="0"/>
              <a:t>TCP</a:t>
            </a:r>
            <a:r>
              <a:rPr lang="ru-RU" sz="2800" dirty="0" smtClean="0"/>
              <a:t>:</a:t>
            </a:r>
            <a:endParaRPr lang="ru-RU" sz="2800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Установка соединения</a:t>
            </a:r>
            <a:endParaRPr lang="ru-RU" sz="2400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Передача данных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dirty="0" smtClean="0"/>
              <a:t>Разрыв соединения</a:t>
            </a:r>
            <a:endParaRPr lang="ru-RU" sz="2400" dirty="0"/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/>
              <a:t>Установка соединения (трёхкратное рукопожатие):</a:t>
            </a:r>
            <a:endParaRPr lang="ru-RU" sz="2800" b="1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SYN</a:t>
            </a:r>
            <a:endParaRPr lang="ru-RU" sz="2400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SYN + ACK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ACK</a:t>
            </a:r>
            <a:endParaRPr lang="ru-RU" sz="2400" dirty="0"/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/>
              <a:t>Разрыв соединения:</a:t>
            </a:r>
            <a:endParaRPr lang="ru-RU" sz="2800" b="1" dirty="0"/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FIN</a:t>
            </a:r>
          </a:p>
          <a:p>
            <a:pPr marL="6223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RST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ru-RU" sz="2800" dirty="0" smtClean="0"/>
              <a:t>Накладные расходы выше, чем в </a:t>
            </a:r>
            <a:r>
              <a:rPr lang="en-US" sz="2800" dirty="0" smtClean="0"/>
              <a:t>UDP</a:t>
            </a:r>
            <a:endParaRPr lang="ru-RU" sz="2800" b="1" dirty="0"/>
          </a:p>
          <a:p>
            <a:pPr marL="2794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804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Установка соединения</a:t>
            </a:r>
            <a:endParaRPr lang="ru-RU" sz="3600" b="1" dirty="0"/>
          </a:p>
        </p:txBody>
      </p:sp>
      <p:grpSp>
        <p:nvGrpSpPr>
          <p:cNvPr id="3" name="Группа 2"/>
          <p:cNvGrpSpPr/>
          <p:nvPr/>
        </p:nvGrpSpPr>
        <p:grpSpPr>
          <a:xfrm>
            <a:off x="2350181" y="816963"/>
            <a:ext cx="7287596" cy="5656989"/>
            <a:chOff x="868853" y="1498154"/>
            <a:chExt cx="5532822" cy="4587040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853" y="1498154"/>
              <a:ext cx="1136645" cy="1136645"/>
            </a:xfrm>
            <a:prstGeom prst="rect">
              <a:avLst/>
            </a:prstGeom>
          </p:spPr>
        </p:pic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5030" y="1501342"/>
              <a:ext cx="1136645" cy="1136645"/>
            </a:xfrm>
            <a:prstGeom prst="rect">
              <a:avLst/>
            </a:prstGeom>
          </p:spPr>
        </p:pic>
        <p:cxnSp>
          <p:nvCxnSpPr>
            <p:cNvPr id="9" name="Прямая соединительная линия 8"/>
            <p:cNvCxnSpPr/>
            <p:nvPr/>
          </p:nvCxnSpPr>
          <p:spPr>
            <a:xfrm>
              <a:off x="1473816" y="2642747"/>
              <a:ext cx="11075" cy="33998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/>
            <p:nvPr/>
          </p:nvCxnSpPr>
          <p:spPr>
            <a:xfrm>
              <a:off x="5833352" y="2700818"/>
              <a:ext cx="11073" cy="33843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/>
            <p:cNvCxnSpPr/>
            <p:nvPr/>
          </p:nvCxnSpPr>
          <p:spPr>
            <a:xfrm>
              <a:off x="1484891" y="2855794"/>
              <a:ext cx="4359534" cy="2091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420537" y="2560631"/>
              <a:ext cx="2429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SYN, </a:t>
              </a:r>
              <a:r>
                <a:rPr lang="ru-RU" dirty="0"/>
                <a:t>байт </a:t>
              </a:r>
              <a:r>
                <a:rPr lang="en-US" dirty="0" smtClean="0"/>
                <a:t>7537</a:t>
              </a:r>
              <a:endParaRPr lang="ru-RU" dirty="0"/>
            </a:p>
          </p:txBody>
        </p:sp>
        <p:cxnSp>
          <p:nvCxnSpPr>
            <p:cNvPr id="13" name="Прямая со стрелкой 12"/>
            <p:cNvCxnSpPr/>
            <p:nvPr/>
          </p:nvCxnSpPr>
          <p:spPr>
            <a:xfrm flipH="1">
              <a:off x="1484891" y="3553569"/>
              <a:ext cx="4359536" cy="2987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484891" y="3236843"/>
              <a:ext cx="4359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SYN, </a:t>
              </a:r>
              <a:r>
                <a:rPr lang="ru-RU" dirty="0" smtClean="0"/>
                <a:t>байт 36829, </a:t>
              </a:r>
              <a:r>
                <a:rPr lang="en-US" dirty="0" smtClean="0"/>
                <a:t>ACK 7538</a:t>
              </a:r>
              <a:r>
                <a:rPr lang="ru-RU" dirty="0" smtClean="0"/>
                <a:t> </a:t>
              </a:r>
              <a:endParaRPr lang="ru-RU" dirty="0"/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>
              <a:off x="1484891" y="4486179"/>
              <a:ext cx="4359534" cy="2091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444394" y="4142200"/>
              <a:ext cx="2429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Б</a:t>
              </a:r>
              <a:r>
                <a:rPr lang="ru-RU" dirty="0" smtClean="0"/>
                <a:t>айт </a:t>
              </a:r>
              <a:r>
                <a:rPr lang="en-US" dirty="0" smtClean="0"/>
                <a:t>753</a:t>
              </a:r>
              <a:r>
                <a:rPr lang="ru-RU" dirty="0" smtClean="0"/>
                <a:t>8, </a:t>
              </a:r>
              <a:r>
                <a:rPr lang="en-US" dirty="0" smtClean="0"/>
                <a:t>ACK </a:t>
              </a:r>
              <a:r>
                <a:rPr lang="ru-RU" dirty="0" smtClean="0"/>
                <a:t>368</a:t>
              </a:r>
              <a:r>
                <a:rPr lang="en-US" dirty="0" smtClean="0"/>
                <a:t>30 </a:t>
              </a:r>
              <a:endParaRPr lang="ru-RU" dirty="0"/>
            </a:p>
          </p:txBody>
        </p:sp>
        <p:sp>
          <p:nvSpPr>
            <p:cNvPr id="17" name="Двойная стрелка влево/вправо 16"/>
            <p:cNvSpPr/>
            <p:nvPr/>
          </p:nvSpPr>
          <p:spPr>
            <a:xfrm>
              <a:off x="1495966" y="4928546"/>
              <a:ext cx="4348459" cy="677333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4394" y="5507709"/>
              <a:ext cx="2429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 smtClean="0"/>
                <a:t>Соединение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31555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Разрыв соединения</a:t>
            </a:r>
            <a:endParaRPr lang="ru-RU" sz="3600" b="1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0" y="1333562"/>
            <a:ext cx="1136645" cy="1136645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77" y="1336750"/>
            <a:ext cx="1136645" cy="1136645"/>
          </a:xfrm>
          <a:prstGeom prst="rect">
            <a:avLst/>
          </a:prstGeom>
        </p:spPr>
      </p:pic>
      <p:cxnSp>
        <p:nvCxnSpPr>
          <p:cNvPr id="21" name="Прямая соединительная линия 20"/>
          <p:cNvCxnSpPr/>
          <p:nvPr/>
        </p:nvCxnSpPr>
        <p:spPr>
          <a:xfrm>
            <a:off x="925563" y="2478155"/>
            <a:ext cx="11075" cy="3399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285099" y="2536226"/>
            <a:ext cx="11073" cy="33843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936638" y="2691202"/>
            <a:ext cx="4359534" cy="2091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72284" y="2396039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FIN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 flipH="1">
            <a:off x="936638" y="3195504"/>
            <a:ext cx="4359536" cy="2987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6638" y="2928722"/>
            <a:ext cx="43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ACK</a:t>
            </a:r>
            <a:endParaRPr lang="ru-RU" dirty="0"/>
          </a:p>
        </p:txBody>
      </p:sp>
      <p:cxnSp>
        <p:nvCxnSpPr>
          <p:cNvPr id="27" name="Прямая со стрелкой 26"/>
          <p:cNvCxnSpPr/>
          <p:nvPr/>
        </p:nvCxnSpPr>
        <p:spPr>
          <a:xfrm flipH="1">
            <a:off x="936638" y="4212457"/>
            <a:ext cx="4359536" cy="2987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72284" y="3937986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FIN</a:t>
            </a:r>
            <a:endParaRPr lang="ru-RU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936638" y="4978597"/>
            <a:ext cx="4359534" cy="2091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7243" y="4713834"/>
            <a:ext cx="43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ACK</a:t>
            </a:r>
            <a:endParaRPr lang="ru-RU" dirty="0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425" y="1346149"/>
            <a:ext cx="1136645" cy="1136645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602" y="1349337"/>
            <a:ext cx="1136645" cy="1136645"/>
          </a:xfrm>
          <a:prstGeom prst="rect">
            <a:avLst/>
          </a:prstGeom>
        </p:spPr>
      </p:pic>
      <p:cxnSp>
        <p:nvCxnSpPr>
          <p:cNvPr id="33" name="Прямая соединительная линия 32"/>
          <p:cNvCxnSpPr/>
          <p:nvPr/>
        </p:nvCxnSpPr>
        <p:spPr>
          <a:xfrm>
            <a:off x="6807388" y="2490742"/>
            <a:ext cx="11075" cy="3399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11166924" y="2548813"/>
            <a:ext cx="11073" cy="33843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6818463" y="2703789"/>
            <a:ext cx="4359534" cy="2091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54109" y="2408626"/>
            <a:ext cx="242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504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Структура заголовка </a:t>
            </a:r>
            <a:r>
              <a:rPr lang="en-US" sz="3600" b="1" dirty="0" smtClean="0">
                <a:solidFill>
                  <a:schemeClr val="tx1"/>
                </a:solidFill>
              </a:rPr>
              <a:t>TCP</a:t>
            </a:r>
            <a:endParaRPr lang="ru-RU" sz="3600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741680" y="1027274"/>
            <a:ext cx="10617200" cy="5576725"/>
            <a:chOff x="2286000" y="1295400"/>
            <a:chExt cx="7620000" cy="4267200"/>
          </a:xfrm>
        </p:grpSpPr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3721001" y="3197949"/>
              <a:ext cx="34925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NS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3994931" y="3050083"/>
              <a:ext cx="349250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CWR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9" name="Text Box 34"/>
            <p:cNvSpPr txBox="1">
              <a:spLocks noChangeArrowheads="1"/>
            </p:cNvSpPr>
            <p:nvPr/>
          </p:nvSpPr>
          <p:spPr bwMode="auto">
            <a:xfrm>
              <a:off x="4257700" y="3043793"/>
              <a:ext cx="349250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ECE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Text Box 34"/>
            <p:cNvSpPr txBox="1">
              <a:spLocks noChangeArrowheads="1"/>
            </p:cNvSpPr>
            <p:nvPr/>
          </p:nvSpPr>
          <p:spPr bwMode="auto">
            <a:xfrm>
              <a:off x="4531122" y="3048000"/>
              <a:ext cx="34925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U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1" name="Text Box 33"/>
            <p:cNvSpPr txBox="1">
              <a:spLocks noChangeArrowheads="1"/>
            </p:cNvSpPr>
            <p:nvPr/>
          </p:nvSpPr>
          <p:spPr bwMode="auto">
            <a:xfrm>
              <a:off x="4788421" y="3048000"/>
              <a:ext cx="34925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2" name="Text Box 32"/>
            <p:cNvSpPr txBox="1">
              <a:spLocks noChangeArrowheads="1"/>
            </p:cNvSpPr>
            <p:nvPr/>
          </p:nvSpPr>
          <p:spPr bwMode="auto">
            <a:xfrm>
              <a:off x="5039758" y="3048000"/>
              <a:ext cx="34925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3" name="Text Box 31"/>
            <p:cNvSpPr txBox="1">
              <a:spLocks noChangeArrowheads="1"/>
            </p:cNvSpPr>
            <p:nvPr/>
          </p:nvSpPr>
          <p:spPr bwMode="auto">
            <a:xfrm>
              <a:off x="5326451" y="3048000"/>
              <a:ext cx="34925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4" name="Text Box 30"/>
            <p:cNvSpPr txBox="1">
              <a:spLocks noChangeArrowheads="1"/>
            </p:cNvSpPr>
            <p:nvPr/>
          </p:nvSpPr>
          <p:spPr bwMode="auto">
            <a:xfrm>
              <a:off x="5585983" y="3048000"/>
              <a:ext cx="34925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Y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5" name="Text Box 23"/>
            <p:cNvSpPr txBox="1">
              <a:spLocks noChangeArrowheads="1"/>
            </p:cNvSpPr>
            <p:nvPr/>
          </p:nvSpPr>
          <p:spPr bwMode="auto">
            <a:xfrm>
              <a:off x="5814089" y="3048000"/>
              <a:ext cx="357790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</a:t>
              </a:r>
            </a:p>
            <a:p>
              <a:pPr algn="ctr"/>
              <a:r>
                <a:rPr lang="en-US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  <a:endParaRPr lang="ru-RU" alt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2286000" y="1905000"/>
              <a:ext cx="7620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7" name="Line 5"/>
            <p:cNvSpPr>
              <a:spLocks noChangeShapeType="1"/>
            </p:cNvSpPr>
            <p:nvPr/>
          </p:nvSpPr>
          <p:spPr bwMode="auto">
            <a:xfrm>
              <a:off x="2286000" y="16002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8" name="Line 6"/>
            <p:cNvSpPr>
              <a:spLocks noChangeShapeType="1"/>
            </p:cNvSpPr>
            <p:nvPr/>
          </p:nvSpPr>
          <p:spPr bwMode="auto">
            <a:xfrm>
              <a:off x="9906000" y="16002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Line 7"/>
            <p:cNvSpPr>
              <a:spLocks noChangeShapeType="1"/>
            </p:cNvSpPr>
            <p:nvPr/>
          </p:nvSpPr>
          <p:spPr bwMode="auto">
            <a:xfrm>
              <a:off x="2286000" y="1752600"/>
              <a:ext cx="76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0" name="Text Box 8"/>
            <p:cNvSpPr txBox="1">
              <a:spLocks noChangeArrowheads="1"/>
            </p:cNvSpPr>
            <p:nvPr/>
          </p:nvSpPr>
          <p:spPr bwMode="auto">
            <a:xfrm>
              <a:off x="5638800" y="1295400"/>
              <a:ext cx="11015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32 </a:t>
              </a:r>
              <a:r>
                <a:rPr lang="ru-RU" alt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бита</a:t>
              </a:r>
            </a:p>
          </p:txBody>
        </p:sp>
        <p:sp>
          <p:nvSpPr>
            <p:cNvPr id="51" name="Line 9"/>
            <p:cNvSpPr>
              <a:spLocks noChangeShapeType="1"/>
            </p:cNvSpPr>
            <p:nvPr/>
          </p:nvSpPr>
          <p:spPr bwMode="auto">
            <a:xfrm>
              <a:off x="6096000" y="19050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2" name="Text Box 11"/>
            <p:cNvSpPr txBox="1">
              <a:spLocks noChangeArrowheads="1"/>
            </p:cNvSpPr>
            <p:nvPr/>
          </p:nvSpPr>
          <p:spPr bwMode="auto">
            <a:xfrm>
              <a:off x="2362200" y="1905000"/>
              <a:ext cx="3733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Порт отправителя</a:t>
              </a:r>
            </a:p>
          </p:txBody>
        </p:sp>
        <p:sp>
          <p:nvSpPr>
            <p:cNvPr id="53" name="Text Box 12"/>
            <p:cNvSpPr txBox="1">
              <a:spLocks noChangeArrowheads="1"/>
            </p:cNvSpPr>
            <p:nvPr/>
          </p:nvSpPr>
          <p:spPr bwMode="auto">
            <a:xfrm>
              <a:off x="6172200" y="1905000"/>
              <a:ext cx="3733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Порт получателя</a:t>
              </a:r>
            </a:p>
          </p:txBody>
        </p:sp>
        <p:sp>
          <p:nvSpPr>
            <p:cNvPr id="54" name="Rectangle 13"/>
            <p:cNvSpPr>
              <a:spLocks noChangeArrowheads="1"/>
            </p:cNvSpPr>
            <p:nvPr/>
          </p:nvSpPr>
          <p:spPr bwMode="auto">
            <a:xfrm>
              <a:off x="2286000" y="2286000"/>
              <a:ext cx="7620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2286000" y="2286000"/>
              <a:ext cx="7620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Порядковый номер</a:t>
              </a:r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2286000" y="2667000"/>
              <a:ext cx="7620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2286000" y="2667000"/>
              <a:ext cx="7620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Номер подтверждения</a:t>
              </a:r>
            </a:p>
          </p:txBody>
        </p:sp>
        <p:sp>
          <p:nvSpPr>
            <p:cNvPr id="58" name="Rectangle 20"/>
            <p:cNvSpPr>
              <a:spLocks noChangeArrowheads="1"/>
            </p:cNvSpPr>
            <p:nvPr/>
          </p:nvSpPr>
          <p:spPr bwMode="auto">
            <a:xfrm>
              <a:off x="2286000" y="3048000"/>
              <a:ext cx="7620000" cy="914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9" name="Line 21"/>
            <p:cNvSpPr>
              <a:spLocks noChangeShapeType="1"/>
            </p:cNvSpPr>
            <p:nvPr/>
          </p:nvSpPr>
          <p:spPr bwMode="auto">
            <a:xfrm>
              <a:off x="6096000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6172200" y="3276600"/>
              <a:ext cx="3733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Размер окна</a:t>
              </a:r>
            </a:p>
          </p:txBody>
        </p:sp>
        <p:sp>
          <p:nvSpPr>
            <p:cNvPr id="61" name="Line 24"/>
            <p:cNvSpPr>
              <a:spLocks noChangeShapeType="1"/>
            </p:cNvSpPr>
            <p:nvPr/>
          </p:nvSpPr>
          <p:spPr bwMode="auto">
            <a:xfrm>
              <a:off x="5879976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2" name="Line 25"/>
            <p:cNvSpPr>
              <a:spLocks noChangeShapeType="1"/>
            </p:cNvSpPr>
            <p:nvPr/>
          </p:nvSpPr>
          <p:spPr bwMode="auto">
            <a:xfrm>
              <a:off x="5631251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3" name="Line 26"/>
            <p:cNvSpPr>
              <a:spLocks noChangeShapeType="1"/>
            </p:cNvSpPr>
            <p:nvPr/>
          </p:nvSpPr>
          <p:spPr bwMode="auto">
            <a:xfrm>
              <a:off x="5344557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4" name="Line 27"/>
            <p:cNvSpPr>
              <a:spLocks noChangeShapeType="1"/>
            </p:cNvSpPr>
            <p:nvPr/>
          </p:nvSpPr>
          <p:spPr bwMode="auto">
            <a:xfrm>
              <a:off x="5090085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5" name="Line 28"/>
            <p:cNvSpPr>
              <a:spLocks noChangeShapeType="1"/>
            </p:cNvSpPr>
            <p:nvPr/>
          </p:nvSpPr>
          <p:spPr bwMode="auto">
            <a:xfrm>
              <a:off x="4829266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6" name="Line 29"/>
            <p:cNvSpPr>
              <a:spLocks noChangeShapeType="1"/>
            </p:cNvSpPr>
            <p:nvPr/>
          </p:nvSpPr>
          <p:spPr bwMode="auto">
            <a:xfrm>
              <a:off x="4554328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7" name="Line 35"/>
            <p:cNvSpPr>
              <a:spLocks noChangeShapeType="1"/>
            </p:cNvSpPr>
            <p:nvPr/>
          </p:nvSpPr>
          <p:spPr bwMode="auto">
            <a:xfrm>
              <a:off x="3200400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8" name="Text Box 36"/>
            <p:cNvSpPr txBox="1">
              <a:spLocks noChangeArrowheads="1"/>
            </p:cNvSpPr>
            <p:nvPr/>
          </p:nvSpPr>
          <p:spPr bwMode="auto">
            <a:xfrm>
              <a:off x="2286000" y="3048000"/>
              <a:ext cx="99060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Длина заголо-вка</a:t>
              </a:r>
            </a:p>
          </p:txBody>
        </p:sp>
        <p:sp>
          <p:nvSpPr>
            <p:cNvPr id="69" name="Rectangle 37"/>
            <p:cNvSpPr>
              <a:spLocks noChangeArrowheads="1"/>
            </p:cNvSpPr>
            <p:nvPr/>
          </p:nvSpPr>
          <p:spPr bwMode="auto">
            <a:xfrm>
              <a:off x="2286000" y="3962400"/>
              <a:ext cx="7620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0" name="Line 38"/>
            <p:cNvSpPr>
              <a:spLocks noChangeShapeType="1"/>
            </p:cNvSpPr>
            <p:nvPr/>
          </p:nvSpPr>
          <p:spPr bwMode="auto">
            <a:xfrm>
              <a:off x="6096000" y="39624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1" name="Text Box 39"/>
            <p:cNvSpPr txBox="1">
              <a:spLocks noChangeArrowheads="1"/>
            </p:cNvSpPr>
            <p:nvPr/>
          </p:nvSpPr>
          <p:spPr bwMode="auto">
            <a:xfrm>
              <a:off x="2362200" y="3962400"/>
              <a:ext cx="3733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Контрольная сумма</a:t>
              </a:r>
            </a:p>
          </p:txBody>
        </p:sp>
        <p:sp>
          <p:nvSpPr>
            <p:cNvPr id="72" name="Text Box 40"/>
            <p:cNvSpPr txBox="1">
              <a:spLocks noChangeArrowheads="1"/>
            </p:cNvSpPr>
            <p:nvPr/>
          </p:nvSpPr>
          <p:spPr bwMode="auto">
            <a:xfrm>
              <a:off x="6047281" y="3962400"/>
              <a:ext cx="385871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Указатель на срочные данные</a:t>
              </a:r>
            </a:p>
          </p:txBody>
        </p:sp>
        <p:sp>
          <p:nvSpPr>
            <p:cNvPr id="73" name="Rectangle 41"/>
            <p:cNvSpPr>
              <a:spLocks noChangeArrowheads="1"/>
            </p:cNvSpPr>
            <p:nvPr/>
          </p:nvSpPr>
          <p:spPr bwMode="auto">
            <a:xfrm>
              <a:off x="2286000" y="4343400"/>
              <a:ext cx="7620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4" name="Text Box 42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7620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Параметры (не обязательно)</a:t>
              </a:r>
            </a:p>
          </p:txBody>
        </p:sp>
        <p:sp>
          <p:nvSpPr>
            <p:cNvPr id="75" name="Rectangle 43"/>
            <p:cNvSpPr>
              <a:spLocks noChangeArrowheads="1"/>
            </p:cNvSpPr>
            <p:nvPr/>
          </p:nvSpPr>
          <p:spPr bwMode="auto">
            <a:xfrm>
              <a:off x="2286000" y="4724400"/>
              <a:ext cx="76200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6" name="Text Box 44"/>
            <p:cNvSpPr txBox="1">
              <a:spLocks noChangeArrowheads="1"/>
            </p:cNvSpPr>
            <p:nvPr/>
          </p:nvSpPr>
          <p:spPr bwMode="auto">
            <a:xfrm>
              <a:off x="2286000" y="4967288"/>
              <a:ext cx="76200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alt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Данные (не обязательно)</a:t>
              </a:r>
            </a:p>
          </p:txBody>
        </p:sp>
        <p:sp>
          <p:nvSpPr>
            <p:cNvPr id="77" name="Rectangle 45"/>
            <p:cNvSpPr>
              <a:spLocks noChangeArrowheads="1"/>
            </p:cNvSpPr>
            <p:nvPr/>
          </p:nvSpPr>
          <p:spPr bwMode="auto">
            <a:xfrm>
              <a:off x="3200399" y="3048000"/>
              <a:ext cx="591023" cy="914400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8" name="Line 29"/>
            <p:cNvSpPr>
              <a:spLocks noChangeShapeType="1"/>
            </p:cNvSpPr>
            <p:nvPr/>
          </p:nvSpPr>
          <p:spPr bwMode="auto">
            <a:xfrm>
              <a:off x="4302136" y="3048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9" name="Line 29"/>
            <p:cNvSpPr>
              <a:spLocks noChangeShapeType="1"/>
            </p:cNvSpPr>
            <p:nvPr/>
          </p:nvSpPr>
          <p:spPr bwMode="auto">
            <a:xfrm>
              <a:off x="4029087" y="304903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80" name="Line 29"/>
            <p:cNvSpPr>
              <a:spLocks noChangeShapeType="1"/>
            </p:cNvSpPr>
            <p:nvPr/>
          </p:nvSpPr>
          <p:spPr bwMode="auto">
            <a:xfrm>
              <a:off x="3791744" y="3051819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231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20600" y="208977"/>
            <a:ext cx="10259007" cy="818298"/>
          </a:xfrm>
        </p:spPr>
        <p:txBody>
          <a:bodyPr/>
          <a:lstStyle/>
          <a:p>
            <a:r>
              <a:rPr lang="ru-RU" sz="3600" b="1" dirty="0" smtClean="0">
                <a:solidFill>
                  <a:schemeClr val="tx1"/>
                </a:solidFill>
              </a:rPr>
              <a:t>Параметры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9480" y="1027275"/>
            <a:ext cx="110744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3200" b="1" dirty="0" smtClean="0"/>
              <a:t>Максимальный размер сегмента (</a:t>
            </a:r>
            <a:r>
              <a:rPr lang="ru-RU" altLang="ru-RU" sz="3200" b="1" dirty="0" err="1" smtClean="0"/>
              <a:t>Maximum</a:t>
            </a:r>
            <a:r>
              <a:rPr lang="ru-RU" altLang="ru-RU" sz="3200" b="1" dirty="0" smtClean="0"/>
              <a:t> </a:t>
            </a:r>
            <a:r>
              <a:rPr lang="ru-RU" altLang="ru-RU" sz="3200" b="1" dirty="0" err="1" smtClean="0"/>
              <a:t>Segment</a:t>
            </a:r>
            <a:r>
              <a:rPr lang="ru-RU" altLang="ru-RU" sz="3200" b="1" dirty="0" smtClean="0"/>
              <a:t> </a:t>
            </a:r>
            <a:r>
              <a:rPr lang="ru-RU" altLang="ru-RU" sz="3200" b="1" dirty="0" err="1" smtClean="0"/>
              <a:t>Size</a:t>
            </a:r>
            <a:r>
              <a:rPr lang="ru-RU" altLang="ru-RU" sz="3200" b="1" dirty="0" smtClean="0"/>
              <a:t>, MSS)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ru-RU" altLang="ru-RU" sz="3200" b="1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3200" b="1" dirty="0" smtClean="0"/>
              <a:t>Масштаб окна </a:t>
            </a:r>
            <a:r>
              <a:rPr lang="ru-RU" altLang="ru-RU" sz="3200" dirty="0" smtClean="0"/>
              <a:t>- позволяет увеличить размер окна до 1 ГБ, что эффективно для быстрых каналов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ru-RU" altLang="ru-RU" sz="32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3200" b="1" dirty="0" smtClean="0"/>
              <a:t>Выборочное подтверждение (</a:t>
            </a:r>
            <a:r>
              <a:rPr lang="ru-RU" altLang="ru-RU" sz="3200" b="1" dirty="0" err="1" smtClean="0"/>
              <a:t>Selective</a:t>
            </a:r>
            <a:r>
              <a:rPr lang="ru-RU" altLang="ru-RU" sz="3200" b="1" dirty="0" smtClean="0"/>
              <a:t> </a:t>
            </a:r>
            <a:r>
              <a:rPr lang="ru-RU" altLang="ru-RU" sz="3200" b="1" dirty="0" err="1" smtClean="0"/>
              <a:t>Acknowledgment</a:t>
            </a:r>
            <a:r>
              <a:rPr lang="ru-RU" altLang="ru-RU" sz="3200" b="1" dirty="0" smtClean="0"/>
              <a:t>, SACK) </a:t>
            </a:r>
            <a:r>
              <a:rPr lang="ru-RU" altLang="ru-RU" sz="3200" dirty="0" smtClean="0"/>
              <a:t>– подтверждение диапазонов принятых байт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ru-RU" altLang="ru-RU" sz="32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altLang="ru-RU" sz="3200" b="1" dirty="0" smtClean="0"/>
              <a:t>Метки времени</a:t>
            </a:r>
            <a:endParaRPr lang="ru-RU" alt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04599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240</TotalTime>
  <Words>1342</Words>
  <Application>Microsoft Office PowerPoint</Application>
  <PresentationFormat>Широкоэкранный</PresentationFormat>
  <Paragraphs>420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Arial</vt:lpstr>
      <vt:lpstr>Century Gothic</vt:lpstr>
      <vt:lpstr>Verdana</vt:lpstr>
      <vt:lpstr>Wingdings 3</vt:lpstr>
      <vt:lpstr>Ион</vt:lpstr>
      <vt:lpstr>Транспортный уровень</vt:lpstr>
      <vt:lpstr>Транспортный уровень в моделях OSI и TCP/IP</vt:lpstr>
      <vt:lpstr>Транспортный уровень в моделях OSI и TCP/IP</vt:lpstr>
      <vt:lpstr>Сервис транспортного уровня</vt:lpstr>
      <vt:lpstr>Транспортный уровень на сетевых узлах</vt:lpstr>
      <vt:lpstr>Адреса. Порты</vt:lpstr>
      <vt:lpstr>Типы портов</vt:lpstr>
      <vt:lpstr>IP-адреса и порты</vt:lpstr>
      <vt:lpstr>Надежность на транспортном уровне</vt:lpstr>
      <vt:lpstr>Надежность на транспортном уровне</vt:lpstr>
      <vt:lpstr>Интерфейс транспортного уровня TCP/IP</vt:lpstr>
      <vt:lpstr>Краткие итоги</vt:lpstr>
      <vt:lpstr>Протокол UDP</vt:lpstr>
      <vt:lpstr>Протокол UDP.Основы.</vt:lpstr>
      <vt:lpstr>Формат заголовка UDP</vt:lpstr>
      <vt:lpstr>Применение UDP</vt:lpstr>
      <vt:lpstr>Применение UDP</vt:lpstr>
      <vt:lpstr>Применение UDP:DNS</vt:lpstr>
      <vt:lpstr>Применение UDP:DNS</vt:lpstr>
      <vt:lpstr>Протокол UDP. Краткие итоги</vt:lpstr>
      <vt:lpstr>Протокол TCP</vt:lpstr>
      <vt:lpstr>Протокол TCP</vt:lpstr>
      <vt:lpstr>Протокол TCP</vt:lpstr>
      <vt:lpstr>Гарантия доставки.  Подтверждение доставки</vt:lpstr>
      <vt:lpstr>Гарантия доставки.  Остановка и ожидание</vt:lpstr>
      <vt:lpstr>Остановка и ожидание</vt:lpstr>
      <vt:lpstr>Остановка и ожидание</vt:lpstr>
      <vt:lpstr>Остановка и ожидание. Недостатки</vt:lpstr>
      <vt:lpstr>Скользящее окно</vt:lpstr>
      <vt:lpstr>Скользящее окно</vt:lpstr>
      <vt:lpstr>Скользящее окно</vt:lpstr>
      <vt:lpstr>Скользящее окно</vt:lpstr>
      <vt:lpstr>Управление потоком</vt:lpstr>
      <vt:lpstr>Управление потоком</vt:lpstr>
      <vt:lpstr>Управление потоком</vt:lpstr>
      <vt:lpstr>Управление потоком</vt:lpstr>
      <vt:lpstr>Управление потоком</vt:lpstr>
      <vt:lpstr>Управление перегрузкой сети</vt:lpstr>
      <vt:lpstr>Управление перегрузкой сети</vt:lpstr>
      <vt:lpstr>Управление перегрузкой сети.  Потеря сегментов</vt:lpstr>
      <vt:lpstr>Управление перегрузкой сети.  Задержка сегментов</vt:lpstr>
      <vt:lpstr>Управление перегрузкой сети.  Сигналы от маршрутизатора</vt:lpstr>
      <vt:lpstr>Управление перегрузкой сети.  Сравнение методов</vt:lpstr>
      <vt:lpstr>Установка соединения</vt:lpstr>
      <vt:lpstr>Установка соединения</vt:lpstr>
      <vt:lpstr>Разрыв соединения</vt:lpstr>
      <vt:lpstr>Структура заголовка TCP</vt:lpstr>
      <vt:lpstr>Параметры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Транспортный уровень</dc:title>
  <dc:creator>Helen</dc:creator>
  <cp:lastModifiedBy>Helen</cp:lastModifiedBy>
  <cp:revision>16</cp:revision>
  <dcterms:created xsi:type="dcterms:W3CDTF">2017-01-08T12:38:21Z</dcterms:created>
  <dcterms:modified xsi:type="dcterms:W3CDTF">2017-01-08T16:39:18Z</dcterms:modified>
</cp:coreProperties>
</file>