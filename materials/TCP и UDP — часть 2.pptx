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8" r:id="rId7"/>
    <p:sldId id="288" r:id="rId8"/>
    <p:sldId id="261" r:id="rId9"/>
    <p:sldId id="264" r:id="rId10"/>
    <p:sldId id="266" r:id="rId11"/>
    <p:sldId id="267" r:id="rId12"/>
    <p:sldId id="289" r:id="rId13"/>
    <p:sldId id="270" r:id="rId14"/>
    <p:sldId id="262" r:id="rId15"/>
    <p:sldId id="263" r:id="rId16"/>
    <p:sldId id="290" r:id="rId17"/>
    <p:sldId id="269" r:id="rId18"/>
    <p:sldId id="271" r:id="rId19"/>
    <p:sldId id="272" r:id="rId20"/>
    <p:sldId id="273" r:id="rId21"/>
    <p:sldId id="287" r:id="rId22"/>
    <p:sldId id="274" r:id="rId23"/>
    <p:sldId id="285" r:id="rId24"/>
    <p:sldId id="276" r:id="rId25"/>
    <p:sldId id="277" r:id="rId26"/>
    <p:sldId id="278" r:id="rId27"/>
    <p:sldId id="279" r:id="rId28"/>
    <p:sldId id="280" r:id="rId29"/>
    <p:sldId id="275" r:id="rId30"/>
    <p:sldId id="281" r:id="rId31"/>
    <p:sldId id="291" r:id="rId32"/>
    <p:sldId id="292" r:id="rId33"/>
    <p:sldId id="282" r:id="rId34"/>
    <p:sldId id="293" r:id="rId35"/>
    <p:sldId id="260" r:id="rId36"/>
    <p:sldId id="283" r:id="rId37"/>
    <p:sldId id="286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na Levenets" initials="AL" lastIdx="1" clrIdx="0">
    <p:extLst>
      <p:ext uri="{19B8F6BF-5375-455C-9EA6-DF929625EA0E}">
        <p15:presenceInfo xmlns:p15="http://schemas.microsoft.com/office/powerpoint/2012/main" userId="S-1-5-21-89005552-1247760770-141977967-86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2/25/2016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2/25/2016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2/25/2016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2/25/2016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2/25/2016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2/25/2016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2/25/2016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2/25/2016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2/25/2016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2/25/2016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2/25/2016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2/25/2016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2/25/2016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2/25/2016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2/25/2016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2/25/2016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2/25/2016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2/25/2016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Транспортный уровень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TCP/UDP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524238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Модель </a:t>
            </a:r>
            <a:r>
              <a:rPr lang="en-US" dirty="0" smtClean="0"/>
              <a:t>OSI  </a:t>
            </a:r>
            <a:r>
              <a:rPr lang="ru-RU" dirty="0" smtClean="0"/>
              <a:t>и стек </a:t>
            </a:r>
            <a:r>
              <a:rPr lang="en-US" dirty="0" smtClean="0"/>
              <a:t>TCP/IP</a:t>
            </a:r>
            <a:endParaRPr lang="ru-RU" dirty="0"/>
          </a:p>
        </p:txBody>
      </p:sp>
      <p:graphicFrame>
        <p:nvGraphicFramePr>
          <p:cNvPr id="4" name="Объект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6448788"/>
              </p:ext>
            </p:extLst>
          </p:nvPr>
        </p:nvGraphicFramePr>
        <p:xfrm>
          <a:off x="1334292" y="2624282"/>
          <a:ext cx="8761413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436"/>
                <a:gridCol w="2580506"/>
                <a:gridCol w="292047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 smtClean="0">
                          <a:solidFill>
                            <a:schemeClr val="tx1"/>
                          </a:solidFill>
                        </a:rPr>
                        <a:t>Модель</a:t>
                      </a:r>
                      <a:r>
                        <a:rPr lang="ru-RU" sz="2800" b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800" b="1" baseline="0" dirty="0" smtClean="0">
                          <a:solidFill>
                            <a:schemeClr val="tx1"/>
                          </a:solidFill>
                        </a:rPr>
                        <a:t>OSI</a:t>
                      </a:r>
                      <a:endParaRPr lang="ru-RU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schemeClr val="tx1"/>
                          </a:solidFill>
                        </a:rPr>
                        <a:t>Протоколы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solidFill>
                            <a:schemeClr val="tx1"/>
                          </a:solidFill>
                        </a:rPr>
                        <a:t>Стек протоколов </a:t>
                      </a:r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TCP/IP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Уровень</a:t>
                      </a:r>
                      <a:r>
                        <a:rPr lang="ru-RU" baseline="0" dirty="0" smtClean="0"/>
                        <a:t> приложений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HTTP,</a:t>
                      </a:r>
                      <a:r>
                        <a:rPr lang="en-US" baseline="0" dirty="0" smtClean="0"/>
                        <a:t> DNS, DHCP,FTP 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Уровень приложений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Уровень представления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Сеансовый уровень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Транспортный уровень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TCP,</a:t>
                      </a:r>
                      <a:r>
                        <a:rPr lang="en-US" baseline="0" dirty="0" smtClean="0"/>
                        <a:t> UDP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Транспортный уровень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Сетевой уровень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IPv4, IPv6,</a:t>
                      </a:r>
                      <a:r>
                        <a:rPr lang="en-US" baseline="0" dirty="0" smtClean="0"/>
                        <a:t> </a:t>
                      </a:r>
                    </a:p>
                    <a:p>
                      <a:pPr algn="ctr"/>
                      <a:r>
                        <a:rPr lang="en-US" baseline="0" dirty="0" smtClean="0"/>
                        <a:t>ICMPv4, ICMPv6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Межсетевой</a:t>
                      </a:r>
                      <a:r>
                        <a:rPr lang="ru-RU" baseline="0" dirty="0" smtClean="0"/>
                        <a:t> уровень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Канальный уровень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PPP,</a:t>
                      </a:r>
                      <a:r>
                        <a:rPr lang="en-US" baseline="0" dirty="0" smtClean="0"/>
                        <a:t> Frame Relay, Ethernet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Уровень сетевого доступа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Физический</a:t>
                      </a:r>
                      <a:r>
                        <a:rPr lang="ru-RU" baseline="0" dirty="0" smtClean="0"/>
                        <a:t> уровень</a:t>
                      </a:r>
                      <a:endParaRPr lang="ru-RU" dirty="0" smtClean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479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Транспортный уровень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301597"/>
              </p:ext>
            </p:extLst>
          </p:nvPr>
        </p:nvGraphicFramePr>
        <p:xfrm>
          <a:off x="708892" y="2759365"/>
          <a:ext cx="2920471" cy="3434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0471"/>
              </a:tblGrid>
              <a:tr h="771652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solidFill>
                            <a:schemeClr val="tx1"/>
                          </a:solidFill>
                        </a:rPr>
                        <a:t>Стек протоколов </a:t>
                      </a:r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TCP/IP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53257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Уровень приложений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81891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 smtClean="0"/>
                        <a:t>Транспортный уровень</a:t>
                      </a:r>
                      <a:endParaRPr lang="ru-RU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524162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Межсетевой</a:t>
                      </a:r>
                      <a:r>
                        <a:rPr lang="ru-RU" baseline="0" dirty="0" smtClean="0"/>
                        <a:t> уровень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32884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Уровень сетевого доступа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733665"/>
              </p:ext>
            </p:extLst>
          </p:nvPr>
        </p:nvGraphicFramePr>
        <p:xfrm>
          <a:off x="8696036" y="2785342"/>
          <a:ext cx="2920471" cy="3371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0471"/>
              </a:tblGrid>
              <a:tr h="771652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solidFill>
                            <a:schemeClr val="tx1"/>
                          </a:solidFill>
                        </a:rPr>
                        <a:t>Стек протоколов </a:t>
                      </a:r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TCP/IP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90911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Уровень приложений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92282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 smtClean="0"/>
                        <a:t>Транспортный уровень</a:t>
                      </a:r>
                      <a:endParaRPr lang="ru-RU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524162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Межсетевой</a:t>
                      </a:r>
                      <a:r>
                        <a:rPr lang="ru-RU" baseline="0" dirty="0" smtClean="0"/>
                        <a:t> уровень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32884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Уровень сетевого доступа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739145" y="3728370"/>
            <a:ext cx="2847109" cy="1485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транспортный </a:t>
            </a:r>
            <a:r>
              <a:rPr lang="ru-RU" sz="1400" b="1" dirty="0" smtClean="0">
                <a:solidFill>
                  <a:schemeClr val="tx1"/>
                </a:solidFill>
              </a:rPr>
              <a:t>уровень отвечает за транспортировку данных между </a:t>
            </a:r>
            <a:r>
              <a:rPr lang="ru-RU" sz="1400" b="1" dirty="0">
                <a:solidFill>
                  <a:schemeClr val="tx1"/>
                </a:solidFill>
              </a:rPr>
              <a:t>приложениями </a:t>
            </a:r>
            <a:r>
              <a:rPr lang="ru-RU" sz="1400" b="1" dirty="0" smtClean="0">
                <a:solidFill>
                  <a:schemeClr val="tx1"/>
                </a:solidFill>
              </a:rPr>
              <a:t>устройства-получателя </a:t>
            </a:r>
            <a:r>
              <a:rPr lang="ru-RU" sz="1400" b="1" dirty="0">
                <a:solidFill>
                  <a:schemeClr val="tx1"/>
                </a:solidFill>
              </a:rPr>
              <a:t>и</a:t>
            </a:r>
          </a:p>
          <a:p>
            <a:pPr algn="ctr"/>
            <a:r>
              <a:rPr lang="ru-RU" sz="1400" b="1" dirty="0">
                <a:solidFill>
                  <a:schemeClr val="tx1"/>
                </a:solidFill>
              </a:rPr>
              <a:t>у</a:t>
            </a:r>
            <a:r>
              <a:rPr lang="ru-RU" sz="1400" b="1" dirty="0" smtClean="0">
                <a:solidFill>
                  <a:schemeClr val="tx1"/>
                </a:solidFill>
              </a:rPr>
              <a:t>стройства-отправителя</a:t>
            </a:r>
            <a:r>
              <a:rPr lang="ru-RU" sz="1400" b="1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8" name="Прямая со стрелкой 7"/>
          <p:cNvCxnSpPr>
            <a:stCxn id="6" idx="1"/>
            <a:endCxn id="4" idx="3"/>
          </p:cNvCxnSpPr>
          <p:nvPr/>
        </p:nvCxnSpPr>
        <p:spPr>
          <a:xfrm flipH="1">
            <a:off x="3629363" y="4471320"/>
            <a:ext cx="1109782" cy="51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>
            <a:stCxn id="6" idx="3"/>
            <a:endCxn id="5" idx="1"/>
          </p:cNvCxnSpPr>
          <p:nvPr/>
        </p:nvCxnSpPr>
        <p:spPr>
          <a:xfrm>
            <a:off x="7586254" y="4471320"/>
            <a:ext cx="11097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V="1">
            <a:off x="803036" y="3789219"/>
            <a:ext cx="10391" cy="5099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V="1">
            <a:off x="8790181" y="3789219"/>
            <a:ext cx="10391" cy="5099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>
            <a:off x="3553691" y="4416941"/>
            <a:ext cx="0" cy="5187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>
            <a:off x="11530445" y="4416940"/>
            <a:ext cx="0" cy="5187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85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Функции транспортного уровня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5801" y="2624281"/>
            <a:ext cx="8761412" cy="3416300"/>
          </a:xfrm>
        </p:spPr>
        <p:txBody>
          <a:bodyPr>
            <a:noAutofit/>
          </a:bodyPr>
          <a:lstStyle/>
          <a:p>
            <a:r>
              <a:rPr lang="ru-RU" sz="2400" dirty="0" smtClean="0"/>
              <a:t>сегментация </a:t>
            </a:r>
            <a:r>
              <a:rPr lang="ru-RU" sz="2400" dirty="0"/>
              <a:t>данных приложений верхних уровней;</a:t>
            </a:r>
          </a:p>
          <a:p>
            <a:r>
              <a:rPr lang="ru-RU" sz="2400" dirty="0" smtClean="0"/>
              <a:t>управление </a:t>
            </a:r>
            <a:r>
              <a:rPr lang="ru-RU" sz="2400" dirty="0"/>
              <a:t>сквозным взаимодействием;</a:t>
            </a:r>
          </a:p>
          <a:p>
            <a:r>
              <a:rPr lang="ru-RU" sz="2400" dirty="0" smtClean="0"/>
              <a:t>передача </a:t>
            </a:r>
            <a:r>
              <a:rPr lang="ru-RU" sz="2400" dirty="0"/>
              <a:t>сегментов от одного конечного узла другому;</a:t>
            </a:r>
          </a:p>
          <a:p>
            <a:r>
              <a:rPr lang="ru-RU" sz="2400" dirty="0" smtClean="0"/>
              <a:t>управление </a:t>
            </a:r>
            <a:r>
              <a:rPr lang="ru-RU" sz="2400" dirty="0"/>
              <a:t>потоком посредством изменения размера окна;</a:t>
            </a:r>
          </a:p>
          <a:p>
            <a:r>
              <a:rPr lang="ru-RU" sz="2400" dirty="0" smtClean="0"/>
              <a:t>обеспечение </a:t>
            </a:r>
            <a:r>
              <a:rPr lang="ru-RU" sz="2400" dirty="0"/>
              <a:t>надежности путем назначения номеров и использования </a:t>
            </a:r>
            <a:r>
              <a:rPr lang="ru-RU" sz="2400" dirty="0" smtClean="0"/>
              <a:t>подтверждений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598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Сегментация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3" y="2587558"/>
            <a:ext cx="10080164" cy="427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239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Сегментация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57" y="2440519"/>
            <a:ext cx="8572229" cy="418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01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</a:rPr>
              <a:t>Transport Protocol Data Unit</a:t>
            </a:r>
            <a:endParaRPr lang="ru-RU" dirty="0"/>
          </a:p>
        </p:txBody>
      </p:sp>
      <p:sp>
        <p:nvSpPr>
          <p:cNvPr id="4" name="Объект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alibri" panose="020F0502020204030204" pitchFamily="34" charset="0"/>
              </a:rPr>
              <a:t>TDPU (Transport Protocol Data Unit) – </a:t>
            </a:r>
            <a:r>
              <a:rPr lang="ru-RU" sz="2000" dirty="0" smtClean="0">
                <a:latin typeface="Calibri" panose="020F0502020204030204" pitchFamily="34" charset="0"/>
              </a:rPr>
              <a:t>модуль данных транспортного уровня</a:t>
            </a:r>
            <a:endParaRPr lang="ru-RU" sz="2000" dirty="0">
              <a:latin typeface="Calibri" panose="020F050202020403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971" y="3364937"/>
            <a:ext cx="8256271" cy="281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709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Протоколы транспортного уровня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434" y="2168970"/>
            <a:ext cx="8560284" cy="2223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70434" y="4309801"/>
            <a:ext cx="37159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/>
              <a:t>Быстрота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/>
              <a:t>Низкая нагрузка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/>
              <a:t>Отсутствие подтверждений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/>
              <a:t>Отсутствие повторной передачи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 smtClean="0"/>
              <a:t>Доставка данных сразу после их поступления</a:t>
            </a:r>
            <a:endParaRPr lang="ru-R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712084" y="4476184"/>
            <a:ext cx="348244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000" dirty="0" smtClean="0"/>
              <a:t>Надежность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000" dirty="0" smtClean="0"/>
              <a:t>Подтверждение данных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000" dirty="0" smtClean="0"/>
              <a:t>Повторная отправка утраченных данных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000" dirty="0" smtClean="0"/>
              <a:t>Доставка данных в порядке их отправки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54703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438480" y="1025623"/>
            <a:ext cx="3209229" cy="706964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TCP</a:t>
            </a:r>
            <a:r>
              <a:rPr lang="ru-RU" b="1" dirty="0" smtClean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UDP</a:t>
            </a:r>
            <a:r>
              <a:rPr lang="ru-RU" dirty="0">
                <a:solidFill>
                  <a:schemeClr val="bg1"/>
                </a:solidFill>
              </a:rPr>
              <a:t/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295" y="2422822"/>
            <a:ext cx="76200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216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4954" y="869759"/>
            <a:ext cx="8761413" cy="706964"/>
          </a:xfrm>
        </p:spPr>
        <p:txBody>
          <a:bodyPr/>
          <a:lstStyle/>
          <a:p>
            <a:r>
              <a:rPr lang="ru-RU" sz="3200" b="1" i="1" dirty="0"/>
              <a:t>UDP </a:t>
            </a:r>
            <a:r>
              <a:rPr lang="en-US" sz="3200" b="1" i="1" dirty="0" smtClean="0"/>
              <a:t>- </a:t>
            </a:r>
            <a:r>
              <a:rPr lang="ru-RU" sz="3200" b="1" i="1" dirty="0" err="1" smtClean="0"/>
              <a:t>User</a:t>
            </a:r>
            <a:r>
              <a:rPr lang="ru-RU" sz="3200" b="1" i="1" dirty="0" smtClean="0"/>
              <a:t> </a:t>
            </a:r>
            <a:r>
              <a:rPr lang="ru-RU" sz="3200" b="1" i="1" dirty="0" err="1"/>
              <a:t>Datagram</a:t>
            </a:r>
            <a:r>
              <a:rPr lang="ru-RU" sz="3200" b="1" i="1" dirty="0"/>
              <a:t> </a:t>
            </a:r>
            <a:r>
              <a:rPr lang="ru-RU" sz="3200" b="1" i="1" dirty="0" err="1" smtClean="0"/>
              <a:t>Protocol</a:t>
            </a:r>
            <a:r>
              <a:rPr lang="en-US" sz="3200" b="1" i="1" dirty="0" smtClean="0"/>
              <a:t>, </a:t>
            </a:r>
            <a:r>
              <a:rPr lang="ru-RU" sz="3200" b="1" i="1" dirty="0" smtClean="0"/>
              <a:t>протокол </a:t>
            </a:r>
            <a:r>
              <a:rPr lang="ru-RU" sz="3200" b="1" i="1" dirty="0"/>
              <a:t>передачи дейтаграмм </a:t>
            </a:r>
            <a:r>
              <a:rPr lang="ru-RU" sz="3200" b="1" i="1" dirty="0" smtClean="0"/>
              <a:t>пользователя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8027" y="2934240"/>
            <a:ext cx="8761412" cy="3416300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Ненадежная доставка</a:t>
            </a:r>
          </a:p>
          <a:p>
            <a:r>
              <a:rPr lang="ru-RU" sz="3200" dirty="0" smtClean="0"/>
              <a:t>Без контроля потока</a:t>
            </a:r>
          </a:p>
          <a:p>
            <a:r>
              <a:rPr lang="ru-RU" sz="3200" dirty="0" smtClean="0"/>
              <a:t>Без установления соединения</a:t>
            </a:r>
          </a:p>
          <a:p>
            <a:r>
              <a:rPr lang="ru-RU" sz="3200" dirty="0" smtClean="0"/>
              <a:t>Без восстановления порядка данных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867411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4954" y="869759"/>
            <a:ext cx="8761413" cy="706964"/>
          </a:xfrm>
        </p:spPr>
        <p:txBody>
          <a:bodyPr/>
          <a:lstStyle/>
          <a:p>
            <a:r>
              <a:rPr lang="ru-RU" sz="3200" b="1" i="1" dirty="0"/>
              <a:t>UDP </a:t>
            </a:r>
            <a:r>
              <a:rPr lang="en-US" sz="3200" b="1" i="1" dirty="0" smtClean="0"/>
              <a:t>- </a:t>
            </a:r>
            <a:r>
              <a:rPr lang="ru-RU" sz="3200" b="1" i="1" dirty="0" err="1" smtClean="0"/>
              <a:t>User</a:t>
            </a:r>
            <a:r>
              <a:rPr lang="ru-RU" sz="3200" b="1" i="1" dirty="0" smtClean="0"/>
              <a:t> </a:t>
            </a:r>
            <a:r>
              <a:rPr lang="ru-RU" sz="3200" b="1" i="1" dirty="0" err="1"/>
              <a:t>Datagram</a:t>
            </a:r>
            <a:r>
              <a:rPr lang="ru-RU" sz="3200" b="1" i="1" dirty="0"/>
              <a:t> </a:t>
            </a:r>
            <a:r>
              <a:rPr lang="ru-RU" sz="3200" b="1" i="1" dirty="0" err="1" smtClean="0"/>
              <a:t>Protocol</a:t>
            </a:r>
            <a:r>
              <a:rPr lang="en-US" sz="3200" b="1" i="1" dirty="0" smtClean="0"/>
              <a:t>, </a:t>
            </a:r>
            <a:r>
              <a:rPr lang="ru-RU" sz="3200" b="1" i="1" dirty="0" smtClean="0"/>
              <a:t>протокол </a:t>
            </a:r>
            <a:r>
              <a:rPr lang="ru-RU" sz="3200" b="1" i="1" dirty="0"/>
              <a:t>передачи дейтаграмм </a:t>
            </a:r>
            <a:r>
              <a:rPr lang="ru-RU" sz="3200" b="1" i="1" dirty="0" smtClean="0"/>
              <a:t>пользователя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5410" y="2738581"/>
            <a:ext cx="10836154" cy="3416300"/>
          </a:xfrm>
        </p:spPr>
        <p:txBody>
          <a:bodyPr>
            <a:normAutofit/>
          </a:bodyPr>
          <a:lstStyle/>
          <a:p>
            <a:r>
              <a:rPr lang="ru-RU" sz="2000" dirty="0"/>
              <a:t>Протокол UDP используют такие службы и протоколы верхнего уровня:</a:t>
            </a:r>
          </a:p>
          <a:p>
            <a:pPr lvl="1"/>
            <a:r>
              <a:rPr lang="en-US" sz="2000" dirty="0" smtClean="0"/>
              <a:t>TFTP </a:t>
            </a:r>
            <a:r>
              <a:rPr lang="en-US" sz="2000" dirty="0"/>
              <a:t>(Trivial File Transfer Protocol -</a:t>
            </a:r>
            <a:r>
              <a:rPr lang="en-US" sz="2000" dirty="0" smtClean="0"/>
              <a:t> </a:t>
            </a:r>
            <a:r>
              <a:rPr lang="ru-RU" sz="2000" dirty="0"/>
              <a:t>простейший протокол </a:t>
            </a:r>
            <a:r>
              <a:rPr lang="ru-RU" sz="2000" dirty="0" smtClean="0"/>
              <a:t>передачи</a:t>
            </a:r>
            <a:r>
              <a:rPr lang="en-US" sz="2000" dirty="0" smtClean="0"/>
              <a:t> </a:t>
            </a:r>
            <a:r>
              <a:rPr lang="ru-RU" sz="2000" dirty="0" smtClean="0"/>
              <a:t>файлов);</a:t>
            </a:r>
            <a:endParaRPr lang="en-US" sz="2000" dirty="0" smtClean="0"/>
          </a:p>
          <a:p>
            <a:pPr lvl="1"/>
            <a:r>
              <a:rPr lang="en-US" sz="2000" dirty="0" smtClean="0"/>
              <a:t>SNMP </a:t>
            </a:r>
            <a:r>
              <a:rPr lang="en-US" sz="2000" dirty="0"/>
              <a:t>(Simple Network Management Protocol </a:t>
            </a:r>
            <a:r>
              <a:rPr lang="en-US" sz="2000" dirty="0" smtClean="0"/>
              <a:t>- </a:t>
            </a:r>
            <a:r>
              <a:rPr lang="ru-RU" sz="2000" dirty="0" smtClean="0"/>
              <a:t>простой </a:t>
            </a:r>
            <a:r>
              <a:rPr lang="ru-RU" sz="2000" dirty="0"/>
              <a:t>протокол </a:t>
            </a:r>
            <a:r>
              <a:rPr lang="ru-RU" sz="2000" dirty="0" smtClean="0"/>
              <a:t>управления</a:t>
            </a:r>
            <a:r>
              <a:rPr lang="en-US" sz="2000" dirty="0" smtClean="0"/>
              <a:t> </a:t>
            </a:r>
            <a:r>
              <a:rPr lang="ru-RU" sz="2000" dirty="0" smtClean="0"/>
              <a:t>сетью</a:t>
            </a:r>
            <a:r>
              <a:rPr lang="ru-RU" sz="2000" dirty="0"/>
              <a:t>);</a:t>
            </a:r>
          </a:p>
          <a:p>
            <a:pPr lvl="1"/>
            <a:r>
              <a:rPr lang="en-US" sz="2000" dirty="0" smtClean="0"/>
              <a:t>DHCP </a:t>
            </a:r>
            <a:r>
              <a:rPr lang="en-US" sz="2000" dirty="0"/>
              <a:t>(Dynamic Host Configuration Protocol </a:t>
            </a:r>
            <a:r>
              <a:rPr lang="en-US" sz="2000" dirty="0" smtClean="0"/>
              <a:t>- </a:t>
            </a:r>
            <a:r>
              <a:rPr lang="ru-RU" sz="2000" dirty="0" smtClean="0"/>
              <a:t>протокол </a:t>
            </a:r>
            <a:r>
              <a:rPr lang="ru-RU" sz="2000" dirty="0"/>
              <a:t>динамической </a:t>
            </a:r>
            <a:r>
              <a:rPr lang="ru-RU" sz="2000" dirty="0" smtClean="0"/>
              <a:t>конфигурации </a:t>
            </a:r>
            <a:r>
              <a:rPr lang="ru-RU" sz="2000" dirty="0"/>
              <a:t>узла);</a:t>
            </a:r>
          </a:p>
          <a:p>
            <a:pPr lvl="1"/>
            <a:r>
              <a:rPr lang="en-US" sz="2000" dirty="0" smtClean="0"/>
              <a:t>DNS </a:t>
            </a:r>
            <a:r>
              <a:rPr lang="en-US" sz="2000" dirty="0"/>
              <a:t>(Domain Name System -</a:t>
            </a:r>
            <a:r>
              <a:rPr lang="en-US" sz="2000" dirty="0" smtClean="0"/>
              <a:t> </a:t>
            </a:r>
            <a:r>
              <a:rPr lang="ru-RU" sz="2000" dirty="0"/>
              <a:t>служба доменных имен).</a:t>
            </a:r>
          </a:p>
        </p:txBody>
      </p:sp>
    </p:spTree>
    <p:extLst>
      <p:ext uri="{BB962C8B-B14F-4D97-AF65-F5344CB8AC3E}">
        <p14:creationId xmlns:p14="http://schemas.microsoft.com/office/powerpoint/2010/main" val="367196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69703" y="2180304"/>
            <a:ext cx="2793159" cy="1600200"/>
          </a:xfrm>
        </p:spPr>
        <p:txBody>
          <a:bodyPr/>
          <a:lstStyle/>
          <a:p>
            <a:r>
              <a:rPr lang="ru-RU" sz="3200" b="1" i="1" dirty="0"/>
              <a:t>UDP </a:t>
            </a:r>
            <a:r>
              <a:rPr lang="en-US" sz="3200" b="1" i="1" dirty="0" smtClean="0"/>
              <a:t>- </a:t>
            </a:r>
            <a:r>
              <a:rPr lang="ru-RU" sz="3200" b="1" i="1" dirty="0" err="1" smtClean="0"/>
              <a:t>User</a:t>
            </a:r>
            <a:r>
              <a:rPr lang="ru-RU" sz="3200" b="1" i="1" dirty="0" smtClean="0"/>
              <a:t> </a:t>
            </a:r>
            <a:r>
              <a:rPr lang="ru-RU" sz="3200" b="1" i="1" dirty="0" err="1"/>
              <a:t>Datagram</a:t>
            </a:r>
            <a:r>
              <a:rPr lang="ru-RU" sz="3200" b="1" i="1" dirty="0"/>
              <a:t> </a:t>
            </a:r>
            <a:r>
              <a:rPr lang="ru-RU" sz="3200" b="1" i="1" dirty="0" err="1" smtClean="0"/>
              <a:t>Protocol</a:t>
            </a:r>
            <a:r>
              <a:rPr lang="en-US" sz="3200" b="1" i="1" dirty="0" smtClean="0"/>
              <a:t> </a:t>
            </a:r>
            <a:endParaRPr lang="ru-RU" sz="3200" b="1" dirty="0"/>
          </a:p>
        </p:txBody>
      </p:sp>
      <p:pic>
        <p:nvPicPr>
          <p:cNvPr id="1026" name="Picture 2" descr="http://iptcp.net/sites/default/files/16/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352" y="657223"/>
            <a:ext cx="7090360" cy="564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625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UDP </a:t>
            </a:r>
            <a:r>
              <a:rPr lang="ru-RU" dirty="0"/>
              <a:t>с</a:t>
            </a:r>
            <a:r>
              <a:rPr lang="ru-RU" dirty="0" smtClean="0"/>
              <a:t>егмент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2713182"/>
            <a:ext cx="6629833" cy="3479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1682" y="2883421"/>
            <a:ext cx="47070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Порт отправителя  </a:t>
            </a:r>
            <a:endParaRPr lang="ru-RU" b="1" dirty="0" smtClean="0"/>
          </a:p>
          <a:p>
            <a:r>
              <a:rPr lang="ru-RU" b="1" dirty="0" smtClean="0"/>
              <a:t>Порт получателя</a:t>
            </a:r>
            <a:endParaRPr lang="ru-RU" dirty="0"/>
          </a:p>
          <a:p>
            <a:r>
              <a:rPr lang="ru-RU" b="1" dirty="0" smtClean="0"/>
              <a:t>Длина </a:t>
            </a:r>
            <a:r>
              <a:rPr lang="ru-RU" dirty="0" smtClean="0"/>
              <a:t>-  </a:t>
            </a:r>
            <a:r>
              <a:rPr lang="ru-RU" dirty="0"/>
              <a:t>количество байтов, включая заголовок и данные.</a:t>
            </a:r>
          </a:p>
          <a:p>
            <a:r>
              <a:rPr lang="ru-RU" b="1" dirty="0" smtClean="0"/>
              <a:t>Контрольная </a:t>
            </a:r>
            <a:r>
              <a:rPr lang="ru-RU" b="1" dirty="0"/>
              <a:t>сумма </a:t>
            </a:r>
            <a:r>
              <a:rPr lang="ru-RU" dirty="0" smtClean="0"/>
              <a:t>- </a:t>
            </a:r>
            <a:r>
              <a:rPr lang="ru-RU" dirty="0"/>
              <a:t>расчетная контрольная сумма заголовка и полей данных.</a:t>
            </a:r>
          </a:p>
          <a:p>
            <a:r>
              <a:rPr lang="ru-RU" b="1" dirty="0" smtClean="0"/>
              <a:t>Данные- </a:t>
            </a:r>
            <a:r>
              <a:rPr lang="ru-RU" dirty="0" smtClean="0"/>
              <a:t>данные </a:t>
            </a:r>
            <a:r>
              <a:rPr lang="ru-RU" dirty="0"/>
              <a:t>протокола более высокого уровня.</a:t>
            </a:r>
          </a:p>
        </p:txBody>
      </p:sp>
    </p:spTree>
    <p:extLst>
      <p:ext uri="{BB962C8B-B14F-4D97-AF65-F5344CB8AC3E}">
        <p14:creationId xmlns:p14="http://schemas.microsoft.com/office/powerpoint/2010/main" val="1125107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05149" y="1129310"/>
            <a:ext cx="8761413" cy="7069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TCP</a:t>
            </a:r>
            <a:r>
              <a:rPr lang="en-US" dirty="0">
                <a:solidFill>
                  <a:schemeClr val="bg1"/>
                </a:solidFill>
              </a:rPr>
              <a:t> - Transmission Control Protocol, </a:t>
            </a:r>
            <a:r>
              <a:rPr lang="ru-RU" dirty="0">
                <a:solidFill>
                  <a:schemeClr val="bg1"/>
                </a:solidFill>
              </a:rPr>
              <a:t>протокол управления передачей</a:t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8026" y="2817509"/>
            <a:ext cx="10012399" cy="3416300"/>
          </a:xfrm>
        </p:spPr>
        <p:txBody>
          <a:bodyPr>
            <a:normAutofit/>
          </a:bodyPr>
          <a:lstStyle/>
          <a:p>
            <a:r>
              <a:rPr lang="ru-RU" sz="3600" dirty="0" smtClean="0"/>
              <a:t>Установление сеанса</a:t>
            </a:r>
          </a:p>
          <a:p>
            <a:r>
              <a:rPr lang="ru-RU" sz="3600" dirty="0" smtClean="0"/>
              <a:t>Надежная доставка</a:t>
            </a:r>
          </a:p>
          <a:p>
            <a:r>
              <a:rPr lang="ru-RU" sz="3600" dirty="0" smtClean="0"/>
              <a:t>Упорядоченная доставка сегментов</a:t>
            </a:r>
          </a:p>
          <a:p>
            <a:r>
              <a:rPr lang="ru-RU" sz="3600" dirty="0" smtClean="0"/>
              <a:t>Управление потоком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904232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Службы и протоколы верхнего уровня, которые используют механизмы TCP:</a:t>
            </a:r>
          </a:p>
          <a:p>
            <a:pPr lvl="1"/>
            <a:r>
              <a:rPr lang="en-US" sz="2000" dirty="0"/>
              <a:t>F</a:t>
            </a:r>
            <a:r>
              <a:rPr lang="en-US" sz="2000" dirty="0" smtClean="0"/>
              <a:t>TP </a:t>
            </a:r>
            <a:r>
              <a:rPr lang="en-US" sz="2000" dirty="0"/>
              <a:t>(File Transfer Protocol </a:t>
            </a:r>
            <a:r>
              <a:rPr lang="en-US" sz="2000" dirty="0" smtClean="0"/>
              <a:t>- </a:t>
            </a:r>
            <a:r>
              <a:rPr lang="ru-RU" sz="2000" dirty="0" smtClean="0"/>
              <a:t>протокол </a:t>
            </a:r>
            <a:r>
              <a:rPr lang="ru-RU" sz="2000" dirty="0"/>
              <a:t>передачи файлов);</a:t>
            </a:r>
          </a:p>
          <a:p>
            <a:pPr lvl="1"/>
            <a:r>
              <a:rPr lang="en-US" sz="2000" dirty="0" smtClean="0"/>
              <a:t>HTTP </a:t>
            </a:r>
            <a:r>
              <a:rPr lang="en-US" sz="2000" dirty="0"/>
              <a:t>(Hypertext Transfer Protocol </a:t>
            </a:r>
            <a:r>
              <a:rPr lang="en-US" sz="2000" dirty="0" smtClean="0"/>
              <a:t>- </a:t>
            </a:r>
            <a:r>
              <a:rPr lang="ru-RU" sz="2000" dirty="0"/>
              <a:t>протокол передачи гипертекста);</a:t>
            </a:r>
          </a:p>
          <a:p>
            <a:pPr lvl="1"/>
            <a:r>
              <a:rPr lang="en-US" sz="2000" dirty="0" smtClean="0"/>
              <a:t>SMTP </a:t>
            </a:r>
            <a:r>
              <a:rPr lang="en-US" sz="2000" dirty="0"/>
              <a:t>(Simple Mail Transfer Protocol </a:t>
            </a:r>
            <a:r>
              <a:rPr lang="en-US" sz="2000" dirty="0" smtClean="0"/>
              <a:t>- </a:t>
            </a:r>
            <a:r>
              <a:rPr lang="ru-RU" sz="2000" dirty="0"/>
              <a:t>простой протокол электронной почты);</a:t>
            </a:r>
          </a:p>
          <a:p>
            <a:pPr lvl="1"/>
            <a:r>
              <a:rPr lang="en-US" sz="2000" dirty="0" smtClean="0"/>
              <a:t>DNS </a:t>
            </a:r>
            <a:r>
              <a:rPr lang="en-US" sz="2000" dirty="0"/>
              <a:t>(Domain Name </a:t>
            </a:r>
            <a:r>
              <a:rPr lang="en-US" sz="2000" dirty="0" smtClean="0"/>
              <a:t>System - </a:t>
            </a:r>
            <a:r>
              <a:rPr lang="ru-RU" sz="2000" dirty="0" smtClean="0"/>
              <a:t>служба </a:t>
            </a:r>
            <a:r>
              <a:rPr lang="ru-RU" sz="2000" dirty="0"/>
              <a:t>доменных имен).</a:t>
            </a: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154955" y="1148766"/>
            <a:ext cx="8761413" cy="7069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TCP</a:t>
            </a:r>
            <a:r>
              <a:rPr lang="en-US" dirty="0">
                <a:solidFill>
                  <a:schemeClr val="bg1"/>
                </a:solidFill>
              </a:rPr>
              <a:t> - Transmission Control Protocol, </a:t>
            </a:r>
            <a:r>
              <a:rPr lang="ru-RU" dirty="0">
                <a:solidFill>
                  <a:schemeClr val="bg1"/>
                </a:solidFill>
              </a:rPr>
              <a:t>протокол управления передачей</a:t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6577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918979" y="1959078"/>
            <a:ext cx="2793159" cy="2303206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TCP</a:t>
            </a:r>
            <a:r>
              <a:rPr lang="en-US" sz="3200" dirty="0">
                <a:solidFill>
                  <a:schemeClr val="bg1"/>
                </a:solidFill>
              </a:rPr>
              <a:t> - Transmission Control </a:t>
            </a:r>
            <a:r>
              <a:rPr lang="en-US" sz="3200" dirty="0" smtClean="0">
                <a:solidFill>
                  <a:schemeClr val="bg1"/>
                </a:solidFill>
              </a:rPr>
              <a:t>Protocol</a:t>
            </a:r>
            <a:endParaRPr lang="ru-RU" sz="3200" dirty="0"/>
          </a:p>
        </p:txBody>
      </p:sp>
      <p:pic>
        <p:nvPicPr>
          <p:cNvPr id="2050" name="Picture 2" descr="http://iptcp.net/sites/default/files/16/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5049" y="607039"/>
            <a:ext cx="6032007" cy="5528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2985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TCP </a:t>
            </a:r>
            <a:r>
              <a:rPr lang="ru-RU" dirty="0"/>
              <a:t>с</a:t>
            </a:r>
            <a:r>
              <a:rPr lang="ru-RU" dirty="0" smtClean="0"/>
              <a:t>егмент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91" y="2324100"/>
            <a:ext cx="6172200" cy="4533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56664" y="2698173"/>
            <a:ext cx="548986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Порт отправителя  </a:t>
            </a:r>
            <a:endParaRPr lang="ru-RU" sz="1600" b="1" dirty="0" smtClean="0"/>
          </a:p>
          <a:p>
            <a:r>
              <a:rPr lang="ru-RU" sz="1600" b="1" dirty="0" smtClean="0"/>
              <a:t>Порт </a:t>
            </a:r>
            <a:r>
              <a:rPr lang="ru-RU" sz="1600" b="1" dirty="0"/>
              <a:t>получателя  </a:t>
            </a:r>
            <a:endParaRPr lang="ru-RU" sz="1600" b="1" dirty="0" smtClean="0"/>
          </a:p>
          <a:p>
            <a:r>
              <a:rPr lang="ru-RU" sz="1600" b="1" dirty="0" smtClean="0"/>
              <a:t>Порядковый </a:t>
            </a:r>
            <a:r>
              <a:rPr lang="ru-RU" sz="1600" b="1" dirty="0"/>
              <a:t>номер  </a:t>
            </a:r>
            <a:r>
              <a:rPr lang="ru-RU" sz="1600" dirty="0" err="1"/>
              <a:t>номер</a:t>
            </a:r>
            <a:r>
              <a:rPr lang="ru-RU" sz="1600" dirty="0"/>
              <a:t>, используемый для </a:t>
            </a:r>
            <a:r>
              <a:rPr lang="ru-RU" sz="1600" dirty="0" smtClean="0"/>
              <a:t>расположения</a:t>
            </a:r>
            <a:r>
              <a:rPr lang="en-US" sz="1600" dirty="0" smtClean="0"/>
              <a:t> </a:t>
            </a:r>
            <a:r>
              <a:rPr lang="ru-RU" sz="1600" dirty="0" smtClean="0"/>
              <a:t>поступающих</a:t>
            </a:r>
            <a:r>
              <a:rPr lang="en-US" sz="1600" dirty="0"/>
              <a:t> </a:t>
            </a:r>
            <a:r>
              <a:rPr lang="ru-RU" sz="1600" dirty="0" smtClean="0"/>
              <a:t>данных </a:t>
            </a:r>
            <a:r>
              <a:rPr lang="ru-RU" sz="1600" dirty="0"/>
              <a:t>в правильной последовательности.</a:t>
            </a:r>
          </a:p>
          <a:p>
            <a:r>
              <a:rPr lang="ru-RU" sz="1600" b="1" dirty="0" smtClean="0"/>
              <a:t>Номер </a:t>
            </a:r>
            <a:r>
              <a:rPr lang="ru-RU" sz="1600" b="1" dirty="0"/>
              <a:t>подтверждения </a:t>
            </a:r>
            <a:r>
              <a:rPr lang="ru-RU" sz="1600" dirty="0" smtClean="0"/>
              <a:t>номер </a:t>
            </a:r>
            <a:r>
              <a:rPr lang="ru-RU" sz="1600" dirty="0"/>
              <a:t>следующего ожидаемого </a:t>
            </a:r>
            <a:r>
              <a:rPr lang="ru-RU" sz="1600" dirty="0" smtClean="0"/>
              <a:t>ТСР сегмента.</a:t>
            </a:r>
            <a:endParaRPr lang="ru-RU" sz="1600" dirty="0"/>
          </a:p>
          <a:p>
            <a:r>
              <a:rPr lang="ru-RU" sz="1600" b="1" dirty="0" smtClean="0"/>
              <a:t>Управляющие биты -</a:t>
            </a:r>
            <a:r>
              <a:rPr lang="ru-RU" sz="1600" dirty="0" smtClean="0"/>
              <a:t> </a:t>
            </a:r>
            <a:r>
              <a:rPr lang="ru-RU" sz="1600" dirty="0"/>
              <a:t>служебные функции (например, установка и завершение сеанса).</a:t>
            </a:r>
          </a:p>
          <a:p>
            <a:r>
              <a:rPr lang="ru-RU" sz="1600" b="1" dirty="0" smtClean="0"/>
              <a:t>Окно - </a:t>
            </a:r>
            <a:r>
              <a:rPr lang="ru-RU" sz="1600" dirty="0" smtClean="0"/>
              <a:t> </a:t>
            </a:r>
            <a:r>
              <a:rPr lang="ru-RU" sz="1600" dirty="0"/>
              <a:t>количество октетов, с которым отправитель готов согласиться</a:t>
            </a:r>
            <a:r>
              <a:rPr lang="ru-RU" sz="1600" dirty="0" smtClean="0"/>
              <a:t>. </a:t>
            </a:r>
          </a:p>
          <a:p>
            <a:r>
              <a:rPr lang="ru-RU" sz="1600" b="1" dirty="0" smtClean="0"/>
              <a:t>Контрольная </a:t>
            </a:r>
            <a:r>
              <a:rPr lang="ru-RU" sz="1600" b="1" dirty="0"/>
              <a:t>сумма </a:t>
            </a:r>
            <a:r>
              <a:rPr lang="ru-RU" sz="1600" dirty="0" smtClean="0"/>
              <a:t>- расчетная </a:t>
            </a:r>
            <a:r>
              <a:rPr lang="ru-RU" sz="1600" dirty="0"/>
              <a:t>контрольная сумма заголовка и полей данных.</a:t>
            </a:r>
          </a:p>
          <a:p>
            <a:r>
              <a:rPr lang="ru-RU" sz="1600" b="1" dirty="0" smtClean="0"/>
              <a:t>Данные </a:t>
            </a:r>
            <a:r>
              <a:rPr lang="ru-RU" sz="1600" dirty="0" smtClean="0"/>
              <a:t>- </a:t>
            </a:r>
            <a:r>
              <a:rPr lang="ru-RU" sz="1600" dirty="0"/>
              <a:t>данные протокола более высокого уровня</a:t>
            </a:r>
            <a:r>
              <a:rPr lang="ru-RU" sz="1600" dirty="0" smtClean="0"/>
              <a:t>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300647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Адресация портов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191" y="2444455"/>
            <a:ext cx="6695026" cy="421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21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Адресация портов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4238430"/>
              </p:ext>
            </p:extLst>
          </p:nvPr>
        </p:nvGraphicFramePr>
        <p:xfrm>
          <a:off x="875490" y="2973151"/>
          <a:ext cx="1064206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030"/>
                <a:gridCol w="5321030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Диапазон номеров портов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Группа портов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От 0 до 1023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Общеизвестные порты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1024-49151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Зарегистрированные порты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49152-65535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Частные и/или динамические порты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425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Адресация портов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5946543"/>
              </p:ext>
            </p:extLst>
          </p:nvPr>
        </p:nvGraphicFramePr>
        <p:xfrm>
          <a:off x="894946" y="2584045"/>
          <a:ext cx="10642060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5420"/>
                <a:gridCol w="690664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Номер порта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Протокол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FTP/TCP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Telnet/TCP</a:t>
                      </a:r>
                      <a:endParaRPr lang="ru-RU" sz="28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SMTP/TCP</a:t>
                      </a:r>
                      <a:endParaRPr lang="ru-RU" sz="28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HTTP/TCP</a:t>
                      </a:r>
                      <a:endParaRPr lang="ru-RU" sz="28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53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DNS/TCP,UDP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161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SNMP/TCP,UDP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6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Сокет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8146" y="2894446"/>
            <a:ext cx="5125916" cy="2332182"/>
          </a:xfrm>
        </p:spPr>
        <p:txBody>
          <a:bodyPr>
            <a:normAutofit/>
          </a:bodyPr>
          <a:lstStyle/>
          <a:p>
            <a:r>
              <a:rPr lang="ru-RU" dirty="0" smtClean="0"/>
              <a:t>Сокет – совокупность </a:t>
            </a:r>
            <a:r>
              <a:rPr lang="en-US" dirty="0" smtClean="0"/>
              <a:t>IP-</a:t>
            </a:r>
            <a:r>
              <a:rPr lang="ru-RU" dirty="0" smtClean="0"/>
              <a:t>адресов и портов клиента и сервера, идентифицирующая </a:t>
            </a:r>
            <a:r>
              <a:rPr lang="en-US" dirty="0" smtClean="0"/>
              <a:t>TCP –</a:t>
            </a:r>
            <a:r>
              <a:rPr lang="ru-RU" dirty="0" smtClean="0"/>
              <a:t> соединение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707" y="2331460"/>
            <a:ext cx="509587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09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Проверка портов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0400" y="2603500"/>
            <a:ext cx="10206951" cy="3416300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Команда </a:t>
            </a:r>
            <a:r>
              <a:rPr lang="ru-RU" sz="2800" b="1" dirty="0"/>
              <a:t>NETSTAT</a:t>
            </a:r>
            <a:r>
              <a:rPr lang="ru-RU" sz="2800" dirty="0"/>
              <a:t> предназначена для получения сведений о состоянии сетевых соединений и слушаемых на данном компьютере портах TCP и UDP, а также, для отображения статистических данных по сетевым интерфейсам и протоколам. </a:t>
            </a:r>
            <a:endParaRPr lang="ru-RU" sz="2800" dirty="0" smtClean="0"/>
          </a:p>
          <a:p>
            <a:r>
              <a:rPr lang="ru-RU" sz="2800" dirty="0" smtClean="0"/>
              <a:t>Проверить доступность порта – </a:t>
            </a:r>
            <a:r>
              <a:rPr lang="en-US" sz="2800" b="1" dirty="0" smtClean="0">
                <a:solidFill>
                  <a:schemeClr val="tx1"/>
                </a:solidFill>
              </a:rPr>
              <a:t>Telnet</a:t>
            </a:r>
            <a:r>
              <a:rPr lang="en-US" sz="2800" dirty="0" smtClean="0"/>
              <a:t> (</a:t>
            </a:r>
            <a:r>
              <a:rPr lang="ru-RU" sz="2800" dirty="0" smtClean="0"/>
              <a:t>адрес</a:t>
            </a:r>
            <a:r>
              <a:rPr lang="en-US" sz="2800" dirty="0" smtClean="0"/>
              <a:t>)</a:t>
            </a:r>
            <a:r>
              <a:rPr lang="ru-RU" sz="2800" dirty="0" smtClean="0"/>
              <a:t> (порт)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44444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Установление соединения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162" y="2444441"/>
            <a:ext cx="5353664" cy="429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8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Установка соединения </a:t>
            </a:r>
            <a:r>
              <a:rPr lang="en-US" dirty="0" smtClean="0"/>
              <a:t>TCP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0205" y="2603499"/>
            <a:ext cx="10985165" cy="4050219"/>
          </a:xfrm>
        </p:spPr>
        <p:txBody>
          <a:bodyPr>
            <a:normAutofit/>
          </a:bodyPr>
          <a:lstStyle/>
          <a:p>
            <a:r>
              <a:rPr lang="ru-RU" sz="2400" dirty="0"/>
              <a:t>Заголовок сегмента TCP содержит шесть 1-битных полей с контрольной информацией, которая используется для управления процессами </a:t>
            </a:r>
            <a:r>
              <a:rPr lang="ru-RU" sz="2400" dirty="0" smtClean="0"/>
              <a:t>TCP:</a:t>
            </a:r>
          </a:p>
          <a:p>
            <a:pPr lvl="1"/>
            <a:r>
              <a:rPr lang="ru-RU" sz="2000" b="1" dirty="0"/>
              <a:t>URG</a:t>
            </a:r>
            <a:r>
              <a:rPr lang="ru-RU" sz="2000" dirty="0"/>
              <a:t> — поле «Указатель важности» </a:t>
            </a:r>
            <a:endParaRPr lang="ru-RU" sz="2000" dirty="0" smtClean="0"/>
          </a:p>
          <a:p>
            <a:pPr lvl="1"/>
            <a:r>
              <a:rPr lang="ru-RU" sz="2000" b="1" dirty="0" smtClean="0"/>
              <a:t>ACK</a:t>
            </a:r>
            <a:r>
              <a:rPr lang="ru-RU" sz="2000" dirty="0"/>
              <a:t> — поле «Номер подтверждения» </a:t>
            </a:r>
            <a:endParaRPr lang="ru-RU" sz="2000" dirty="0" smtClean="0"/>
          </a:p>
          <a:p>
            <a:pPr lvl="1"/>
            <a:r>
              <a:rPr lang="ru-RU" sz="2000" b="1" dirty="0" smtClean="0"/>
              <a:t>PSH</a:t>
            </a:r>
            <a:r>
              <a:rPr lang="ru-RU" sz="2000" dirty="0"/>
              <a:t> — протолкнуть данные</a:t>
            </a:r>
          </a:p>
          <a:p>
            <a:pPr lvl="1"/>
            <a:r>
              <a:rPr lang="ru-RU" sz="2000" b="1" dirty="0"/>
              <a:t>RST</a:t>
            </a:r>
            <a:r>
              <a:rPr lang="ru-RU" sz="2000" dirty="0"/>
              <a:t> — оборвать соединение</a:t>
            </a:r>
          </a:p>
          <a:p>
            <a:pPr lvl="1"/>
            <a:r>
              <a:rPr lang="ru-RU" sz="2000" b="1" dirty="0"/>
              <a:t>SYN</a:t>
            </a:r>
            <a:r>
              <a:rPr lang="ru-RU" sz="2000" dirty="0"/>
              <a:t> — синхронизировать порядковые номера</a:t>
            </a:r>
          </a:p>
          <a:p>
            <a:pPr lvl="1"/>
            <a:r>
              <a:rPr lang="ru-RU" sz="2000" b="1" dirty="0"/>
              <a:t>FIN</a:t>
            </a:r>
            <a:r>
              <a:rPr lang="ru-RU" sz="2000" dirty="0"/>
              <a:t> — больше нет данных от отправителя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2489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136" y="2511203"/>
            <a:ext cx="5225488" cy="4111665"/>
          </a:xfrm>
          <a:prstGeom prst="rect">
            <a:avLst/>
          </a:prstGeom>
        </p:spPr>
      </p:pic>
      <p:sp>
        <p:nvSpPr>
          <p:cNvPr id="7" name="Заголовок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TCP 3-way </a:t>
            </a:r>
            <a:r>
              <a:rPr lang="en-US" sz="3600" dirty="0" smtClean="0">
                <a:solidFill>
                  <a:schemeClr val="bg1"/>
                </a:solidFill>
              </a:rPr>
              <a:t>handshake</a:t>
            </a:r>
            <a:r>
              <a:rPr lang="ru-RU" sz="3600" dirty="0" smtClean="0">
                <a:solidFill>
                  <a:schemeClr val="bg1"/>
                </a:solidFill>
              </a:rPr>
              <a:t> </a:t>
            </a:r>
            <a:r>
              <a:rPr lang="en-US" sz="3600" dirty="0" smtClean="0">
                <a:solidFill>
                  <a:schemeClr val="bg1"/>
                </a:solidFill>
              </a:rPr>
              <a:t>– Step 1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4530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312" y="2457199"/>
            <a:ext cx="5369651" cy="4118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42661" y="936902"/>
            <a:ext cx="7242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TCP 3-way </a:t>
            </a:r>
            <a:r>
              <a:rPr lang="en-US" sz="3600" dirty="0" smtClean="0">
                <a:solidFill>
                  <a:schemeClr val="bg1"/>
                </a:solidFill>
              </a:rPr>
              <a:t>handshake</a:t>
            </a:r>
            <a:r>
              <a:rPr lang="ru-RU" sz="3600" dirty="0" smtClean="0">
                <a:solidFill>
                  <a:schemeClr val="bg1"/>
                </a:solidFill>
              </a:rPr>
              <a:t> </a:t>
            </a:r>
            <a:r>
              <a:rPr lang="en-US" sz="3600" dirty="0" smtClean="0">
                <a:solidFill>
                  <a:schemeClr val="bg1"/>
                </a:solidFill>
              </a:rPr>
              <a:t>– Step 2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971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650" y="2542469"/>
            <a:ext cx="5992046" cy="40943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18038" y="936902"/>
            <a:ext cx="7383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TCP 3-way </a:t>
            </a:r>
            <a:r>
              <a:rPr lang="en-US" sz="3600" dirty="0" smtClean="0">
                <a:solidFill>
                  <a:schemeClr val="bg1"/>
                </a:solidFill>
              </a:rPr>
              <a:t>handshake</a:t>
            </a:r>
            <a:r>
              <a:rPr lang="ru-RU" sz="3600" dirty="0" smtClean="0">
                <a:solidFill>
                  <a:schemeClr val="bg1"/>
                </a:solidFill>
              </a:rPr>
              <a:t> </a:t>
            </a:r>
            <a:r>
              <a:rPr lang="en-US" sz="3600" dirty="0" smtClean="0">
                <a:solidFill>
                  <a:schemeClr val="bg1"/>
                </a:solidFill>
              </a:rPr>
              <a:t>– Step 3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0048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54955" y="936901"/>
            <a:ext cx="6830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</a:rPr>
              <a:t>Завершение соединения</a:t>
            </a:r>
            <a:endParaRPr lang="ru-RU" sz="3600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545" y="2526344"/>
            <a:ext cx="6056695" cy="380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6211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pload.wikimedia.org/wikipedia/commons/thumb/a/a2/Tcp_state_diagram_fixed.svg/1024px-Tcp_state_diagram_fixed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659" y="283341"/>
            <a:ext cx="8572500" cy="644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3387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TCP</a:t>
            </a:r>
            <a:r>
              <a:rPr lang="ru-RU" dirty="0" smtClean="0"/>
              <a:t>: Упорядочивание сегментов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0" y="2334239"/>
            <a:ext cx="7049267" cy="422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543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Метод простоя источника</a:t>
            </a:r>
            <a:endParaRPr lang="ru-RU" dirty="0"/>
          </a:p>
        </p:txBody>
      </p:sp>
      <p:pic>
        <p:nvPicPr>
          <p:cNvPr id="3074" name="Picture 2" descr="http://iptcp.net/sites/default/files/16/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59" y="2244775"/>
            <a:ext cx="6756399" cy="4490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32190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Метод скользящего окна</a:t>
            </a:r>
            <a:endParaRPr lang="ru-RU" dirty="0"/>
          </a:p>
        </p:txBody>
      </p:sp>
      <p:pic>
        <p:nvPicPr>
          <p:cNvPr id="4098" name="Picture 2" descr="http://iptcp.net/sites/default/files/16/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41" y="2258039"/>
            <a:ext cx="7123472" cy="446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452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TCP</a:t>
            </a:r>
            <a:r>
              <a:rPr lang="ru-RU" dirty="0" smtClean="0"/>
              <a:t>: Подтверждение и размер окна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194" y="2369267"/>
            <a:ext cx="6610195" cy="404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5050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Система буферов </a:t>
            </a:r>
            <a:r>
              <a:rPr lang="en-US" dirty="0" smtClean="0"/>
              <a:t>TCP</a:t>
            </a:r>
            <a:r>
              <a:rPr lang="ru-RU" dirty="0" smtClean="0"/>
              <a:t>-соединения</a:t>
            </a:r>
            <a:endParaRPr lang="ru-RU" dirty="0"/>
          </a:p>
        </p:txBody>
      </p:sp>
      <p:pic>
        <p:nvPicPr>
          <p:cNvPr id="5122" name="Picture 2" descr="http://iptcp.net/sites/default/files/16/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148" y="2359639"/>
            <a:ext cx="5093361" cy="4356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2363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5960" y="899926"/>
            <a:ext cx="9065679" cy="706964"/>
          </a:xfrm>
        </p:spPr>
        <p:txBody>
          <a:bodyPr/>
          <a:lstStyle/>
          <a:p>
            <a:r>
              <a:rPr lang="en-US" dirty="0" smtClean="0"/>
              <a:t>TCP</a:t>
            </a:r>
            <a:r>
              <a:rPr lang="ru-RU" dirty="0" smtClean="0"/>
              <a:t>: Управление потоком </a:t>
            </a:r>
            <a:br>
              <a:rPr lang="ru-RU" dirty="0" smtClean="0"/>
            </a:br>
            <a:r>
              <a:rPr lang="ru-RU" dirty="0" smtClean="0"/>
              <a:t>(</a:t>
            </a:r>
            <a:r>
              <a:rPr lang="en-US" dirty="0"/>
              <a:t>flow control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948" y="2369784"/>
            <a:ext cx="6056825" cy="423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2722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17185" y="973668"/>
            <a:ext cx="8761413" cy="706964"/>
          </a:xfrm>
        </p:spPr>
        <p:txBody>
          <a:bodyPr/>
          <a:lstStyle/>
          <a:p>
            <a:r>
              <a:rPr lang="en-US" dirty="0" smtClean="0"/>
              <a:t>TCP:</a:t>
            </a:r>
            <a:r>
              <a:rPr lang="ru-RU" dirty="0" smtClean="0"/>
              <a:t>Управление потоком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(</a:t>
            </a:r>
            <a:r>
              <a:rPr lang="en-US" dirty="0"/>
              <a:t>flow control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439" y="2362814"/>
            <a:ext cx="6435367" cy="424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6673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5" y="467032"/>
            <a:ext cx="7711339" cy="59337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9078" y="1617407"/>
            <a:ext cx="2981907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smtClean="0"/>
              <a:t>192.168.0.0/24</a:t>
            </a:r>
          </a:p>
          <a:p>
            <a:endParaRPr lang="ru-RU" sz="3200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53513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 (конференц-зал)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766</TotalTime>
  <Words>639</Words>
  <Application>Microsoft Office PowerPoint</Application>
  <PresentationFormat>Широкоэкранный</PresentationFormat>
  <Paragraphs>146</Paragraphs>
  <Slides>37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3" baseType="lpstr">
      <vt:lpstr>Arial</vt:lpstr>
      <vt:lpstr>Calibri</vt:lpstr>
      <vt:lpstr>Century Gothic</vt:lpstr>
      <vt:lpstr>Wingdings</vt:lpstr>
      <vt:lpstr>Wingdings 3</vt:lpstr>
      <vt:lpstr>Ион (конференц-зал)</vt:lpstr>
      <vt:lpstr>Транспортный уровень</vt:lpstr>
      <vt:lpstr>Модель OSI  и стек TCP/IP</vt:lpstr>
      <vt:lpstr>Транспортный уровень</vt:lpstr>
      <vt:lpstr>Функции транспортного уровня</vt:lpstr>
      <vt:lpstr>Сегментация</vt:lpstr>
      <vt:lpstr>Сегментация</vt:lpstr>
      <vt:lpstr>Transport Protocol Data Unit</vt:lpstr>
      <vt:lpstr>Протоколы транспортного уровня</vt:lpstr>
      <vt:lpstr>TCP UDP </vt:lpstr>
      <vt:lpstr>UDP - User Datagram Protocol, протокол передачи дейтаграмм пользователя</vt:lpstr>
      <vt:lpstr>UDP - User Datagram Protocol, протокол передачи дейтаграмм пользователя</vt:lpstr>
      <vt:lpstr>UDP - User Datagram Protocol </vt:lpstr>
      <vt:lpstr>UDP сегмент</vt:lpstr>
      <vt:lpstr>TCP - Transmission Control Protocol, протокол управления передачей </vt:lpstr>
      <vt:lpstr>TCP - Transmission Control Protocol, протокол управления передачей </vt:lpstr>
      <vt:lpstr>TCP - Transmission Control Protocol</vt:lpstr>
      <vt:lpstr>TCP сегмент</vt:lpstr>
      <vt:lpstr>Адресация портов</vt:lpstr>
      <vt:lpstr>Адресация портов</vt:lpstr>
      <vt:lpstr>Адресация портов</vt:lpstr>
      <vt:lpstr>Сокет</vt:lpstr>
      <vt:lpstr>Проверка портов</vt:lpstr>
      <vt:lpstr>Установление соединения</vt:lpstr>
      <vt:lpstr>Установка соединения TCP</vt:lpstr>
      <vt:lpstr>TCP 3-way handshake – Step 1</vt:lpstr>
      <vt:lpstr>Презентация PowerPoint</vt:lpstr>
      <vt:lpstr>Презентация PowerPoint</vt:lpstr>
      <vt:lpstr>Презентация PowerPoint</vt:lpstr>
      <vt:lpstr>Презентация PowerPoint</vt:lpstr>
      <vt:lpstr>TCP: Упорядочивание сегментов</vt:lpstr>
      <vt:lpstr>Метод простоя источника</vt:lpstr>
      <vt:lpstr>Метод скользящего окна</vt:lpstr>
      <vt:lpstr>TCP: Подтверждение и размер окна</vt:lpstr>
      <vt:lpstr>Система буферов TCP-соединения</vt:lpstr>
      <vt:lpstr>TCP: Управление потоком  (flow control)</vt:lpstr>
      <vt:lpstr>TCP:Управление потоком  (flow control)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Транспортный уровень</dc:title>
  <dc:creator>Alina Levenets</dc:creator>
  <cp:lastModifiedBy>Alina Levenets</cp:lastModifiedBy>
  <cp:revision>25</cp:revision>
  <dcterms:created xsi:type="dcterms:W3CDTF">2016-02-24T08:41:56Z</dcterms:created>
  <dcterms:modified xsi:type="dcterms:W3CDTF">2016-02-25T13:34:57Z</dcterms:modified>
</cp:coreProperties>
</file>