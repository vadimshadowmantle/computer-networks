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42"/>
  </p:notesMasterIdLst>
  <p:sldIdLst>
    <p:sldId id="379" r:id="rId2"/>
    <p:sldId id="516" r:id="rId3"/>
    <p:sldId id="617" r:id="rId4"/>
    <p:sldId id="618" r:id="rId5"/>
    <p:sldId id="770" r:id="rId6"/>
    <p:sldId id="765" r:id="rId7"/>
    <p:sldId id="766" r:id="rId8"/>
    <p:sldId id="767" r:id="rId9"/>
    <p:sldId id="768" r:id="rId10"/>
    <p:sldId id="769" r:id="rId11"/>
    <p:sldId id="719" r:id="rId12"/>
    <p:sldId id="619" r:id="rId13"/>
    <p:sldId id="720" r:id="rId14"/>
    <p:sldId id="721" r:id="rId15"/>
    <p:sldId id="722" r:id="rId16"/>
    <p:sldId id="723" r:id="rId17"/>
    <p:sldId id="724" r:id="rId18"/>
    <p:sldId id="725" r:id="rId19"/>
    <p:sldId id="726" r:id="rId20"/>
    <p:sldId id="727" r:id="rId21"/>
    <p:sldId id="728" r:id="rId22"/>
    <p:sldId id="729" r:id="rId23"/>
    <p:sldId id="731" r:id="rId24"/>
    <p:sldId id="732" r:id="rId25"/>
    <p:sldId id="733" r:id="rId26"/>
    <p:sldId id="734" r:id="rId27"/>
    <p:sldId id="735" r:id="rId28"/>
    <p:sldId id="736" r:id="rId29"/>
    <p:sldId id="737" r:id="rId30"/>
    <p:sldId id="738" r:id="rId31"/>
    <p:sldId id="739" r:id="rId32"/>
    <p:sldId id="740" r:id="rId33"/>
    <p:sldId id="741" r:id="rId34"/>
    <p:sldId id="742" r:id="rId35"/>
    <p:sldId id="743" r:id="rId36"/>
    <p:sldId id="744" r:id="rId37"/>
    <p:sldId id="745" r:id="rId38"/>
    <p:sldId id="746" r:id="rId39"/>
    <p:sldId id="748" r:id="rId40"/>
    <p:sldId id="747" r:id="rId4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640" autoAdjust="0"/>
    <p:restoredTop sz="95501" autoAdjust="0"/>
  </p:normalViewPr>
  <p:slideViewPr>
    <p:cSldViewPr snapToGrid="0">
      <p:cViewPr varScale="1">
        <p:scale>
          <a:sx n="109" d="100"/>
          <a:sy n="109" d="100"/>
        </p:scale>
        <p:origin x="34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8DA331-39D4-4FDF-885D-4D0A23777F0F}" type="datetimeFigureOut">
              <a:rPr lang="ru-RU" smtClean="0"/>
              <a:t>30.09.2026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13E17D-C34B-472B-82E8-B061792E72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92263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632C1-689E-4130-B7D4-A8F24E84E736}" type="datetimeFigureOut">
              <a:rPr lang="ru-RU" smtClean="0"/>
              <a:t>30.09.2026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E272C-2F34-45C1-901E-A54295090247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06456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632C1-689E-4130-B7D4-A8F24E84E736}" type="datetimeFigureOut">
              <a:rPr lang="ru-RU" smtClean="0"/>
              <a:t>30.09.2026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E272C-2F34-45C1-901E-A542950902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37243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632C1-689E-4130-B7D4-A8F24E84E736}" type="datetimeFigureOut">
              <a:rPr lang="ru-RU" smtClean="0"/>
              <a:t>30.09.2026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E272C-2F34-45C1-901E-A54295090247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334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632C1-689E-4130-B7D4-A8F24E84E736}" type="datetimeFigureOut">
              <a:rPr lang="ru-RU" smtClean="0"/>
              <a:t>30.09.2026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E272C-2F34-45C1-901E-A542950902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23659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632C1-689E-4130-B7D4-A8F24E84E736}" type="datetimeFigureOut">
              <a:rPr lang="ru-RU" smtClean="0"/>
              <a:t>30.09.2026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E272C-2F34-45C1-901E-A542950902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11056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632C1-689E-4130-B7D4-A8F24E84E736}" type="datetimeFigureOut">
              <a:rPr lang="ru-RU" smtClean="0"/>
              <a:t>30.09.2026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E272C-2F34-45C1-901E-A542950902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23133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632C1-689E-4130-B7D4-A8F24E84E736}" type="datetimeFigureOut">
              <a:rPr lang="ru-RU" smtClean="0"/>
              <a:t>30.09.2026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E272C-2F34-45C1-901E-A542950902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40048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422632C1-689E-4130-B7D4-A8F24E84E736}" type="datetimeFigureOut">
              <a:rPr lang="ru-RU" smtClean="0"/>
              <a:t>30.09.2026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FDE272C-2F34-45C1-901E-A542950902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02352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632C1-689E-4130-B7D4-A8F24E84E736}" type="datetimeFigureOut">
              <a:rPr lang="ru-RU" smtClean="0"/>
              <a:t>30.09.2026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E272C-2F34-45C1-901E-A542950902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6189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632C1-689E-4130-B7D4-A8F24E84E736}" type="datetimeFigureOut">
              <a:rPr lang="ru-RU" smtClean="0"/>
              <a:t>30.09.2026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E272C-2F34-45C1-901E-A542950902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87883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632C1-689E-4130-B7D4-A8F24E84E736}" type="datetimeFigureOut">
              <a:rPr lang="ru-RU" smtClean="0"/>
              <a:t>30.09.2026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E272C-2F34-45C1-901E-A542950902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3991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422632C1-689E-4130-B7D4-A8F24E84E736}" type="datetimeFigureOut">
              <a:rPr lang="ru-RU" smtClean="0"/>
              <a:t>30.09.2026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2FDE272C-2F34-45C1-901E-A54295090247}" type="slidenum">
              <a:rPr lang="ru-RU" smtClean="0"/>
              <a:t>‹#›</a:t>
            </a:fld>
            <a:endParaRPr lang="ru-RU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11099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1239983" y="1940770"/>
            <a:ext cx="9313718" cy="19018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 b="1" dirty="0"/>
              <a:t>Протокол </a:t>
            </a:r>
            <a:r>
              <a:rPr lang="en-US" sz="4000" b="1" dirty="0"/>
              <a:t>DHCP</a:t>
            </a:r>
            <a:endParaRPr lang="ru-RU" sz="4000" b="1" dirty="0"/>
          </a:p>
        </p:txBody>
      </p:sp>
    </p:spTree>
    <p:extLst>
      <p:ext uri="{BB962C8B-B14F-4D97-AF65-F5344CB8AC3E}">
        <p14:creationId xmlns:p14="http://schemas.microsoft.com/office/powerpoint/2010/main" val="39417893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1356096" y="0"/>
            <a:ext cx="9144000" cy="9035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 b="1" dirty="0"/>
              <a:t>Протокол </a:t>
            </a:r>
            <a:r>
              <a:rPr lang="en-US" sz="4000" b="1" dirty="0"/>
              <a:t>DHCP</a:t>
            </a:r>
          </a:p>
        </p:txBody>
      </p:sp>
      <p:sp>
        <p:nvSpPr>
          <p:cNvPr id="3" name="Объект 2"/>
          <p:cNvSpPr txBox="1">
            <a:spLocks/>
          </p:cNvSpPr>
          <p:nvPr/>
        </p:nvSpPr>
        <p:spPr>
          <a:xfrm>
            <a:off x="1212766" y="1045029"/>
            <a:ext cx="9788237" cy="5288038"/>
          </a:xfrm>
          <a:prstGeom prst="rect">
            <a:avLst/>
          </a:prstGeom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800" dirty="0"/>
              <a:t>Для нормальной работы сети каждому сетевому интерфейсу компьютера и маршрутизатора должен быть назначен</a:t>
            </a:r>
            <a:r>
              <a:rPr lang="en-US" sz="2800" dirty="0"/>
              <a:t>           </a:t>
            </a:r>
            <a:r>
              <a:rPr lang="ru-RU" sz="2800" dirty="0"/>
              <a:t> </a:t>
            </a:r>
            <a:r>
              <a:rPr lang="en-US" sz="2800" b="1" dirty="0"/>
              <a:t>I</a:t>
            </a:r>
            <a:r>
              <a:rPr lang="ru-RU" sz="2800" b="1" dirty="0"/>
              <a:t>Р-адрес</a:t>
            </a:r>
            <a:r>
              <a:rPr lang="ru-RU" sz="2800" dirty="0"/>
              <a:t>.</a:t>
            </a:r>
            <a:endParaRPr lang="en-US" sz="2800" dirty="0"/>
          </a:p>
          <a:p>
            <a:pPr marL="0" indent="0">
              <a:buNone/>
            </a:pPr>
            <a:r>
              <a:rPr lang="ru-RU" sz="2800" dirty="0"/>
              <a:t>Процедура присвоения адресов происходит в ходе </a:t>
            </a:r>
            <a:r>
              <a:rPr lang="ru-RU" sz="2800" b="1" dirty="0"/>
              <a:t>конфигурирования</a:t>
            </a:r>
            <a:r>
              <a:rPr lang="ru-RU" sz="2800" dirty="0"/>
              <a:t> компьютеров и маршрутизаторов. </a:t>
            </a:r>
            <a:endParaRPr lang="en-US" sz="2800" dirty="0"/>
          </a:p>
          <a:p>
            <a:pPr marL="0" indent="0">
              <a:buNone/>
            </a:pPr>
            <a:r>
              <a:rPr lang="ru-RU" sz="2800" dirty="0"/>
              <a:t>Назначение </a:t>
            </a:r>
            <a:r>
              <a:rPr lang="ru-RU" sz="2800" b="1" dirty="0"/>
              <a:t>IP-адресов</a:t>
            </a:r>
            <a:r>
              <a:rPr lang="ru-RU" sz="2800" dirty="0"/>
              <a:t> может происходить вручную в результате выполнения процедуры конфигурирования интерфейса, для компьютера сводящейся, например, к заполнению системы экранных форм. </a:t>
            </a:r>
            <a:endParaRPr lang="en-US" sz="2800" dirty="0"/>
          </a:p>
          <a:p>
            <a:pPr marL="0" indent="0">
              <a:buNone/>
            </a:pPr>
            <a:r>
              <a:rPr lang="ru-RU" sz="2800" dirty="0"/>
              <a:t>При этом администратор должен помнить, какие адреса из имеющегося множества он уже использовал для других интерфейсов, а какие еще свободны.</a:t>
            </a:r>
          </a:p>
        </p:txBody>
      </p:sp>
    </p:spTree>
    <p:extLst>
      <p:ext uri="{BB962C8B-B14F-4D97-AF65-F5344CB8AC3E}">
        <p14:creationId xmlns:p14="http://schemas.microsoft.com/office/powerpoint/2010/main" val="27578109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1356096" y="108344"/>
            <a:ext cx="9144000" cy="10745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 b="1" dirty="0"/>
              <a:t>Протокол </a:t>
            </a:r>
            <a:r>
              <a:rPr lang="en-US" sz="4000" b="1" dirty="0"/>
              <a:t>DHCP</a:t>
            </a:r>
          </a:p>
        </p:txBody>
      </p:sp>
      <p:sp>
        <p:nvSpPr>
          <p:cNvPr id="3" name="Объект 2"/>
          <p:cNvSpPr txBox="1">
            <a:spLocks/>
          </p:cNvSpPr>
          <p:nvPr/>
        </p:nvSpPr>
        <p:spPr>
          <a:xfrm>
            <a:off x="1212766" y="1332089"/>
            <a:ext cx="9788237" cy="5000977"/>
          </a:xfrm>
          <a:prstGeom prst="rect">
            <a:avLst/>
          </a:prstGeom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800" dirty="0"/>
              <a:t>При конфигурировании помимо </a:t>
            </a:r>
            <a:r>
              <a:rPr lang="ru-RU" sz="2800" b="1" dirty="0"/>
              <a:t>IP-адресов</a:t>
            </a:r>
            <a:r>
              <a:rPr lang="ru-RU" sz="2800" dirty="0"/>
              <a:t> сетевых интерфейсов (и соответствующих масок) устройству сообщается ряд других </a:t>
            </a:r>
            <a:r>
              <a:rPr lang="ru-RU" sz="2800" b="1" dirty="0"/>
              <a:t>конфи­гурационных параметров</a:t>
            </a:r>
            <a:r>
              <a:rPr lang="ru-RU" sz="2800" dirty="0"/>
              <a:t>. </a:t>
            </a:r>
            <a:endParaRPr lang="en-US" sz="2800" dirty="0"/>
          </a:p>
          <a:p>
            <a:pPr marL="0" indent="0">
              <a:buNone/>
            </a:pPr>
            <a:r>
              <a:rPr lang="ru-RU" sz="2800" dirty="0"/>
              <a:t>При конфигурировании администратор должен назначить клиенту не только </a:t>
            </a:r>
            <a:r>
              <a:rPr lang="ru-RU" sz="2800" b="1" dirty="0"/>
              <a:t>IP-адрес</a:t>
            </a:r>
            <a:r>
              <a:rPr lang="ru-RU" sz="2800" dirty="0"/>
              <a:t>, но и другие параметры стека </a:t>
            </a:r>
            <a:r>
              <a:rPr lang="ru-RU" sz="2800" b="1" dirty="0"/>
              <a:t>TCP/IP</a:t>
            </a:r>
            <a:r>
              <a:rPr lang="ru-RU" sz="2800" dirty="0"/>
              <a:t>, необходимые для его эффективной работы, например маску и </a:t>
            </a:r>
            <a:r>
              <a:rPr lang="ru-RU" sz="2800" b="1" dirty="0"/>
              <a:t>IP-адрес</a:t>
            </a:r>
            <a:r>
              <a:rPr lang="ru-RU" sz="2800" dirty="0"/>
              <a:t> маршрутизатора, предлагаемые по умолчанию, </a:t>
            </a:r>
            <a:r>
              <a:rPr lang="ru-RU" sz="2800" b="1" dirty="0"/>
              <a:t>IP-адрес</a:t>
            </a:r>
            <a:r>
              <a:rPr lang="ru-RU" sz="2800" dirty="0"/>
              <a:t> </a:t>
            </a:r>
            <a:r>
              <a:rPr lang="ru-RU" sz="2800" b="1" dirty="0"/>
              <a:t>DNS-сервера</a:t>
            </a:r>
            <a:r>
              <a:rPr lang="ru-RU" sz="2800" dirty="0"/>
              <a:t>, доменное имя компьютера и т. п. </a:t>
            </a:r>
            <a:endParaRPr lang="en-US" sz="2800" dirty="0"/>
          </a:p>
          <a:p>
            <a:pPr marL="0" indent="0">
              <a:buNone/>
            </a:pPr>
            <a:r>
              <a:rPr lang="ru-RU" sz="2800" dirty="0"/>
              <a:t>Даже при очень </a:t>
            </a:r>
            <a:r>
              <a:rPr lang="ru-RU" sz="2800" b="1" dirty="0"/>
              <a:t>небольшом</a:t>
            </a:r>
            <a:r>
              <a:rPr lang="ru-RU" sz="2800" dirty="0"/>
              <a:t> размере сети эта работа представляет для администратора утомительную процедуру.</a:t>
            </a:r>
          </a:p>
        </p:txBody>
      </p:sp>
    </p:spTree>
    <p:extLst>
      <p:ext uri="{BB962C8B-B14F-4D97-AF65-F5344CB8AC3E}">
        <p14:creationId xmlns:p14="http://schemas.microsoft.com/office/powerpoint/2010/main" val="5728875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1356096" y="108344"/>
            <a:ext cx="9144000" cy="10745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 b="1" dirty="0"/>
              <a:t>Протокол </a:t>
            </a:r>
            <a:r>
              <a:rPr lang="en-US" sz="4000" b="1" dirty="0"/>
              <a:t>DHCP</a:t>
            </a:r>
          </a:p>
        </p:txBody>
      </p:sp>
      <p:sp>
        <p:nvSpPr>
          <p:cNvPr id="3" name="Объект 2"/>
          <p:cNvSpPr txBox="1">
            <a:spLocks/>
          </p:cNvSpPr>
          <p:nvPr/>
        </p:nvSpPr>
        <p:spPr>
          <a:xfrm>
            <a:off x="1212766" y="1182915"/>
            <a:ext cx="10403501" cy="5150151"/>
          </a:xfrm>
          <a:prstGeom prst="rect">
            <a:avLst/>
          </a:prstGeom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800" b="1" dirty="0"/>
              <a:t>Протокол динамического конфигурирования хостов </a:t>
            </a:r>
            <a:r>
              <a:rPr lang="ru-RU" sz="2800" dirty="0"/>
              <a:t>(</a:t>
            </a:r>
            <a:r>
              <a:rPr lang="ru-RU" sz="2800" dirty="0" err="1"/>
              <a:t>Dynamic</a:t>
            </a:r>
            <a:r>
              <a:rPr lang="ru-RU" sz="2800" dirty="0"/>
              <a:t> </a:t>
            </a:r>
            <a:r>
              <a:rPr lang="ru-RU" sz="2800" dirty="0" err="1"/>
              <a:t>Host</a:t>
            </a:r>
            <a:r>
              <a:rPr lang="ru-RU" sz="2800" dirty="0"/>
              <a:t> </a:t>
            </a:r>
            <a:r>
              <a:rPr lang="ru-RU" sz="2800" dirty="0" err="1"/>
              <a:t>Configuration</a:t>
            </a:r>
            <a:r>
              <a:rPr lang="ru-RU" sz="2800" dirty="0"/>
              <a:t> </a:t>
            </a:r>
            <a:r>
              <a:rPr lang="ru-RU" sz="2800" dirty="0" err="1"/>
              <a:t>Protocol</a:t>
            </a:r>
            <a:r>
              <a:rPr lang="ru-RU" sz="2800" dirty="0"/>
              <a:t>, DHCP) автоматизирует процесс конфигурирования сетевых интерфейсов.</a:t>
            </a:r>
          </a:p>
          <a:p>
            <a:pPr marL="0" indent="0">
              <a:buNone/>
            </a:pPr>
            <a:r>
              <a:rPr lang="ru-RU" sz="2800" dirty="0"/>
              <a:t>При этом он </a:t>
            </a:r>
            <a:r>
              <a:rPr lang="ru-RU" sz="2800" b="1" dirty="0"/>
              <a:t>гарантирует от дублирования </a:t>
            </a:r>
            <a:r>
              <a:rPr lang="ru-RU" sz="2800" dirty="0"/>
              <a:t>адресов за счет централизованного управления их рас­пределением.</a:t>
            </a:r>
          </a:p>
        </p:txBody>
      </p:sp>
    </p:spTree>
    <p:extLst>
      <p:ext uri="{BB962C8B-B14F-4D97-AF65-F5344CB8AC3E}">
        <p14:creationId xmlns:p14="http://schemas.microsoft.com/office/powerpoint/2010/main" val="19450128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1239983" y="1940770"/>
            <a:ext cx="9313718" cy="19018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/>
              <a:t>DHCP </a:t>
            </a:r>
            <a:r>
              <a:rPr lang="ru-RU" sz="4000" b="1" dirty="0"/>
              <a:t>и его прародители</a:t>
            </a:r>
          </a:p>
        </p:txBody>
      </p:sp>
    </p:spTree>
    <p:extLst>
      <p:ext uri="{BB962C8B-B14F-4D97-AF65-F5344CB8AC3E}">
        <p14:creationId xmlns:p14="http://schemas.microsoft.com/office/powerpoint/2010/main" val="11654459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1356096" y="108344"/>
            <a:ext cx="9144000" cy="10745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/>
              <a:t>DHCP </a:t>
            </a:r>
            <a:r>
              <a:rPr lang="ru-RU" sz="4000" b="1" dirty="0"/>
              <a:t>и его прародители</a:t>
            </a:r>
            <a:endParaRPr lang="en-US" sz="4000" b="1" dirty="0"/>
          </a:p>
        </p:txBody>
      </p:sp>
      <p:sp>
        <p:nvSpPr>
          <p:cNvPr id="3" name="Объект 2"/>
          <p:cNvSpPr txBox="1">
            <a:spLocks/>
          </p:cNvSpPr>
          <p:nvPr/>
        </p:nvSpPr>
        <p:spPr>
          <a:xfrm>
            <a:off x="1212766" y="1182915"/>
            <a:ext cx="10403501" cy="5150151"/>
          </a:xfrm>
          <a:prstGeom prst="rect">
            <a:avLst/>
          </a:prstGeom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800" dirty="0"/>
              <a:t>Одна из первых реализаций протокола для выдачи </a:t>
            </a:r>
            <a:r>
              <a:rPr lang="ru-RU" sz="2800" b="1" dirty="0"/>
              <a:t>IP-адресов</a:t>
            </a:r>
            <a:r>
              <a:rPr lang="ru-RU" sz="2800" dirty="0"/>
              <a:t> появилась более 30 лет назад и называлась </a:t>
            </a:r>
            <a:r>
              <a:rPr lang="ru-RU" sz="2800" b="1" dirty="0"/>
              <a:t>RARP</a:t>
            </a:r>
            <a:r>
              <a:rPr lang="ru-RU" sz="2800" dirty="0"/>
              <a:t> (</a:t>
            </a:r>
            <a:r>
              <a:rPr lang="ru-RU" sz="2800" dirty="0" err="1"/>
              <a:t>Reverse</a:t>
            </a:r>
            <a:r>
              <a:rPr lang="ru-RU" sz="2800" dirty="0"/>
              <a:t> </a:t>
            </a:r>
            <a:r>
              <a:rPr lang="ru-RU" sz="2800" dirty="0" err="1"/>
              <a:t>Address</a:t>
            </a:r>
            <a:r>
              <a:rPr lang="ru-RU" sz="2800" dirty="0"/>
              <a:t> </a:t>
            </a:r>
            <a:r>
              <a:rPr lang="ru-RU" sz="2800" dirty="0" err="1"/>
              <a:t>Resolution</a:t>
            </a:r>
            <a:r>
              <a:rPr lang="ru-RU" sz="2800" dirty="0"/>
              <a:t> </a:t>
            </a:r>
            <a:r>
              <a:rPr lang="ru-RU" sz="2800" dirty="0" err="1"/>
              <a:t>Protocol</a:t>
            </a:r>
            <a:r>
              <a:rPr lang="ru-RU" sz="2800" dirty="0"/>
              <a:t>). </a:t>
            </a:r>
          </a:p>
          <a:p>
            <a:pPr marL="0" indent="0">
              <a:buNone/>
            </a:pPr>
            <a:r>
              <a:rPr lang="ru-RU" sz="2800" dirty="0"/>
              <a:t>Если немного упростить принцип его работы, то выглядело это так:</a:t>
            </a:r>
          </a:p>
          <a:p>
            <a:pPr marL="0" indent="0">
              <a:buNone/>
            </a:pPr>
            <a:r>
              <a:rPr lang="ru-RU" sz="2800" dirty="0"/>
              <a:t>   -   клиент делал запрос на широковещательный адрес сети, </a:t>
            </a:r>
          </a:p>
          <a:p>
            <a:pPr marL="0" indent="0">
              <a:buNone/>
            </a:pPr>
            <a:r>
              <a:rPr lang="ru-RU" sz="2800" dirty="0"/>
              <a:t>   -   сервер его принимал, находил в своей базе данных привязку </a:t>
            </a:r>
            <a:r>
              <a:rPr lang="ru-RU" sz="2800" b="1" dirty="0"/>
              <a:t>MAC-адреса</a:t>
            </a:r>
            <a:r>
              <a:rPr lang="ru-RU" sz="2800" dirty="0"/>
              <a:t> клиента и </a:t>
            </a:r>
            <a:r>
              <a:rPr lang="ru-RU" sz="2800" b="1" dirty="0"/>
              <a:t>IP</a:t>
            </a:r>
            <a:r>
              <a:rPr lang="ru-RU" sz="2800" dirty="0"/>
              <a:t> — и отправлял в ответ </a:t>
            </a:r>
            <a:r>
              <a:rPr lang="ru-RU" sz="2800" b="1" dirty="0"/>
              <a:t>IP-адрес</a:t>
            </a:r>
            <a:r>
              <a:rPr lang="ru-RU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300398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2"/>
          <a:srcRect t="4445" b="6190"/>
          <a:stretch/>
        </p:blipFill>
        <p:spPr>
          <a:xfrm>
            <a:off x="1534886" y="206828"/>
            <a:ext cx="9144000" cy="6128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998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1356096" y="108344"/>
            <a:ext cx="9144000" cy="10745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/>
              <a:t>DHCP </a:t>
            </a:r>
            <a:r>
              <a:rPr lang="ru-RU" sz="4000" b="1" dirty="0"/>
              <a:t>и его прародители</a:t>
            </a:r>
            <a:endParaRPr lang="en-US" sz="4000" b="1" dirty="0"/>
          </a:p>
        </p:txBody>
      </p:sp>
      <p:sp>
        <p:nvSpPr>
          <p:cNvPr id="3" name="Объект 2"/>
          <p:cNvSpPr txBox="1">
            <a:spLocks/>
          </p:cNvSpPr>
          <p:nvPr/>
        </p:nvSpPr>
        <p:spPr>
          <a:xfrm>
            <a:off x="1212766" y="1415143"/>
            <a:ext cx="10403501" cy="4917923"/>
          </a:xfrm>
          <a:prstGeom prst="rect">
            <a:avLst/>
          </a:prstGeom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800" dirty="0"/>
              <a:t>И все вроде </a:t>
            </a:r>
            <a:r>
              <a:rPr lang="ru-RU" sz="2800" b="1" dirty="0"/>
              <a:t>работало</a:t>
            </a:r>
            <a:r>
              <a:rPr lang="ru-RU" sz="2800" dirty="0"/>
              <a:t>. </a:t>
            </a:r>
          </a:p>
          <a:p>
            <a:pPr marL="0" indent="0">
              <a:buNone/>
            </a:pPr>
            <a:r>
              <a:rPr lang="ru-RU" sz="2800" dirty="0"/>
              <a:t>Но у протокола были </a:t>
            </a:r>
            <a:r>
              <a:rPr lang="ru-RU" sz="2800" b="1" dirty="0"/>
              <a:t>минусы</a:t>
            </a:r>
            <a:r>
              <a:rPr lang="ru-RU" sz="2800" dirty="0"/>
              <a:t>: </a:t>
            </a:r>
          </a:p>
          <a:p>
            <a:pPr marL="0" indent="0">
              <a:buNone/>
            </a:pPr>
            <a:r>
              <a:rPr lang="ru-RU" sz="2800" dirty="0"/>
              <a:t>   -   нужно было настраивать сервер в каждом сегменте локальной сети, </a:t>
            </a:r>
          </a:p>
          <a:p>
            <a:pPr marL="0" indent="0">
              <a:buNone/>
            </a:pPr>
            <a:r>
              <a:rPr lang="ru-RU" sz="2800" dirty="0"/>
              <a:t>   -   регистрировать </a:t>
            </a:r>
            <a:r>
              <a:rPr lang="ru-RU" sz="2800" b="1" dirty="0"/>
              <a:t>MAC-адреса</a:t>
            </a:r>
            <a:r>
              <a:rPr lang="ru-RU" sz="2800" dirty="0"/>
              <a:t> на этом сервере.</a:t>
            </a:r>
          </a:p>
          <a:p>
            <a:pPr marL="0" indent="0">
              <a:buNone/>
            </a:pPr>
            <a:r>
              <a:rPr lang="ru-RU" sz="2800" dirty="0"/>
              <a:t>   -   а передавать дополнительную информацию клиенту вообще не было возможности. </a:t>
            </a:r>
          </a:p>
          <a:p>
            <a:pPr marL="0" indent="0">
              <a:buNone/>
            </a:pPr>
            <a:r>
              <a:rPr lang="ru-RU" sz="2800" dirty="0"/>
              <a:t>Поэтому на смену ему был создан протокол </a:t>
            </a:r>
            <a:r>
              <a:rPr lang="ru-RU" sz="2800" b="1" dirty="0"/>
              <a:t>BOOTP</a:t>
            </a:r>
            <a:r>
              <a:rPr lang="ru-RU" sz="2800" dirty="0"/>
              <a:t> (</a:t>
            </a:r>
            <a:r>
              <a:rPr lang="ru-RU" sz="2800" dirty="0" err="1"/>
              <a:t>Bootstrap</a:t>
            </a:r>
            <a:r>
              <a:rPr lang="ru-RU" sz="2800" dirty="0"/>
              <a:t> </a:t>
            </a:r>
            <a:r>
              <a:rPr lang="ru-RU" sz="2800" dirty="0" err="1"/>
              <a:t>Protocol</a:t>
            </a:r>
            <a:r>
              <a:rPr lang="ru-RU" sz="2800" dirty="0"/>
              <a:t>). </a:t>
            </a:r>
          </a:p>
        </p:txBody>
      </p:sp>
    </p:spTree>
    <p:extLst>
      <p:ext uri="{BB962C8B-B14F-4D97-AF65-F5344CB8AC3E}">
        <p14:creationId xmlns:p14="http://schemas.microsoft.com/office/powerpoint/2010/main" val="39785488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1356096" y="108344"/>
            <a:ext cx="9144000" cy="10745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/>
              <a:t>DHCP </a:t>
            </a:r>
            <a:r>
              <a:rPr lang="ru-RU" sz="4000" b="1" dirty="0"/>
              <a:t>и его прародители</a:t>
            </a:r>
            <a:endParaRPr lang="en-US" sz="4000" b="1" dirty="0"/>
          </a:p>
        </p:txBody>
      </p:sp>
      <p:sp>
        <p:nvSpPr>
          <p:cNvPr id="3" name="Объект 2"/>
          <p:cNvSpPr txBox="1">
            <a:spLocks/>
          </p:cNvSpPr>
          <p:nvPr/>
        </p:nvSpPr>
        <p:spPr>
          <a:xfrm>
            <a:off x="1212766" y="1404257"/>
            <a:ext cx="10403501" cy="4928809"/>
          </a:xfrm>
          <a:prstGeom prst="rect">
            <a:avLst/>
          </a:prstGeom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800" dirty="0"/>
              <a:t>Изначально он использовался для бездисковых рабочих станций.</a:t>
            </a:r>
          </a:p>
          <a:p>
            <a:pPr marL="0" indent="0">
              <a:buNone/>
            </a:pPr>
            <a:r>
              <a:rPr lang="ru-RU" sz="2800" dirty="0"/>
              <a:t>Этим станциям нужно было не только выдать </a:t>
            </a:r>
            <a:r>
              <a:rPr lang="ru-RU" sz="2800" b="1" dirty="0"/>
              <a:t>IP-адрес</a:t>
            </a:r>
            <a:r>
              <a:rPr lang="ru-RU" sz="2800" dirty="0"/>
              <a:t>, но и передать клиенту дополнительную информацию:</a:t>
            </a:r>
          </a:p>
          <a:p>
            <a:pPr marL="0" indent="0">
              <a:buNone/>
            </a:pPr>
            <a:r>
              <a:rPr lang="ru-RU" sz="2800" dirty="0"/>
              <a:t>    -   адрес сервера </a:t>
            </a:r>
            <a:r>
              <a:rPr lang="ru-RU" sz="2800" b="1" dirty="0"/>
              <a:t>TFTP</a:t>
            </a:r>
            <a:r>
              <a:rPr lang="ru-RU" sz="2800" dirty="0"/>
              <a:t> </a:t>
            </a:r>
          </a:p>
          <a:p>
            <a:pPr marL="0" indent="0">
              <a:buNone/>
            </a:pPr>
            <a:r>
              <a:rPr lang="ru-RU" sz="2800" dirty="0"/>
              <a:t>    -   имя файла загрузки. </a:t>
            </a:r>
          </a:p>
          <a:p>
            <a:pPr marL="0" indent="0">
              <a:buNone/>
            </a:pPr>
            <a:r>
              <a:rPr lang="ru-RU" sz="2800" dirty="0"/>
              <a:t>В отличие от </a:t>
            </a:r>
            <a:r>
              <a:rPr lang="ru-RU" sz="2800" b="1" dirty="0"/>
              <a:t>RARP</a:t>
            </a:r>
            <a:r>
              <a:rPr lang="ru-RU" sz="2800" dirty="0"/>
              <a:t>, протокол уже поддерживал </a:t>
            </a:r>
            <a:r>
              <a:rPr lang="ru-RU" sz="2800" b="1" dirty="0" err="1"/>
              <a:t>relay</a:t>
            </a:r>
            <a:r>
              <a:rPr lang="ru-RU" sz="2800" dirty="0"/>
              <a:t>.</a:t>
            </a:r>
          </a:p>
          <a:p>
            <a:pPr marL="0" indent="0">
              <a:buNone/>
            </a:pPr>
            <a:r>
              <a:rPr lang="en-US" sz="2800" b="1" dirty="0"/>
              <a:t>Relay</a:t>
            </a:r>
            <a:r>
              <a:rPr lang="ru-RU" sz="2800" dirty="0"/>
              <a:t> — небольшие сервисы, которые пересылали запросы «главному» серверу. </a:t>
            </a:r>
          </a:p>
        </p:txBody>
      </p:sp>
    </p:spTree>
    <p:extLst>
      <p:ext uri="{BB962C8B-B14F-4D97-AF65-F5344CB8AC3E}">
        <p14:creationId xmlns:p14="http://schemas.microsoft.com/office/powerpoint/2010/main" val="19836231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1356096" y="108344"/>
            <a:ext cx="9144000" cy="10745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/>
              <a:t>DHCP </a:t>
            </a:r>
            <a:r>
              <a:rPr lang="ru-RU" sz="4000" b="1" dirty="0"/>
              <a:t>и его прародители</a:t>
            </a:r>
            <a:endParaRPr lang="en-US" sz="4000" b="1" dirty="0"/>
          </a:p>
        </p:txBody>
      </p:sp>
      <p:sp>
        <p:nvSpPr>
          <p:cNvPr id="3" name="Объект 2"/>
          <p:cNvSpPr txBox="1">
            <a:spLocks/>
          </p:cNvSpPr>
          <p:nvPr/>
        </p:nvSpPr>
        <p:spPr>
          <a:xfrm>
            <a:off x="1212767" y="1524000"/>
            <a:ext cx="9988634" cy="4809066"/>
          </a:xfrm>
          <a:prstGeom prst="rect">
            <a:avLst/>
          </a:prstGeom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800" dirty="0"/>
              <a:t>Это сделало возможным использование одного сервера на несколько сетей одновременно. </a:t>
            </a:r>
            <a:endParaRPr lang="en-US" sz="2800" dirty="0"/>
          </a:p>
          <a:p>
            <a:pPr marL="0" indent="0">
              <a:buNone/>
            </a:pPr>
            <a:r>
              <a:rPr lang="ru-RU" sz="2800" dirty="0"/>
              <a:t>Вот только оставалась необходимость </a:t>
            </a:r>
            <a:r>
              <a:rPr lang="ru-RU" sz="2800" b="1" dirty="0"/>
              <a:t>ручной настройки </a:t>
            </a:r>
            <a:r>
              <a:rPr lang="ru-RU" sz="2800" dirty="0"/>
              <a:t>таблиц и </a:t>
            </a:r>
            <a:r>
              <a:rPr lang="ru-RU" sz="2800" b="1" dirty="0"/>
              <a:t>ограничение по размеру </a:t>
            </a:r>
            <a:r>
              <a:rPr lang="ru-RU" sz="2800" dirty="0"/>
              <a:t>для дополнительной информации. </a:t>
            </a:r>
            <a:endParaRPr lang="en-US" sz="2800" dirty="0"/>
          </a:p>
          <a:p>
            <a:pPr marL="0" indent="0">
              <a:buNone/>
            </a:pPr>
            <a:r>
              <a:rPr lang="ru-RU" sz="2800" dirty="0"/>
              <a:t>Как результат, на сцену вышел современный протокол </a:t>
            </a:r>
            <a:r>
              <a:rPr lang="ru-RU" sz="2800" b="1" dirty="0"/>
              <a:t>DHCP</a:t>
            </a:r>
            <a:r>
              <a:rPr lang="en-US" sz="2800" dirty="0"/>
              <a:t>.</a:t>
            </a:r>
            <a:r>
              <a:rPr lang="ru-RU" sz="2800" dirty="0"/>
              <a:t> </a:t>
            </a:r>
            <a:endParaRPr lang="en-US" sz="2800" dirty="0"/>
          </a:p>
          <a:p>
            <a:pPr marL="0" indent="0">
              <a:buNone/>
            </a:pPr>
            <a:r>
              <a:rPr lang="ru-RU" sz="2800" b="1" dirty="0"/>
              <a:t>DHCP</a:t>
            </a:r>
            <a:r>
              <a:rPr lang="en-US" sz="2800" b="1" dirty="0"/>
              <a:t> </a:t>
            </a:r>
            <a:r>
              <a:rPr lang="ru-RU" sz="2800" dirty="0"/>
              <a:t> </a:t>
            </a:r>
            <a:r>
              <a:rPr lang="en-US" sz="2800" dirty="0"/>
              <a:t> </a:t>
            </a:r>
            <a:r>
              <a:rPr lang="ru-RU" sz="2800" dirty="0"/>
              <a:t>является </a:t>
            </a:r>
            <a:r>
              <a:rPr lang="en-US" sz="2800" dirty="0"/>
              <a:t>  </a:t>
            </a:r>
            <a:r>
              <a:rPr lang="ru-RU" sz="2800" dirty="0"/>
              <a:t>совместимым </a:t>
            </a:r>
            <a:r>
              <a:rPr lang="en-US" sz="2800" dirty="0"/>
              <a:t>  </a:t>
            </a:r>
            <a:r>
              <a:rPr lang="ru-RU" sz="2800" dirty="0"/>
              <a:t>расширением</a:t>
            </a:r>
            <a:r>
              <a:rPr lang="en-US" sz="2800" dirty="0"/>
              <a:t>  </a:t>
            </a:r>
            <a:r>
              <a:rPr lang="ru-RU" sz="2800" dirty="0"/>
              <a:t> </a:t>
            </a:r>
            <a:r>
              <a:rPr lang="ru-RU" sz="2800" b="1" dirty="0"/>
              <a:t>BOOTP</a:t>
            </a:r>
            <a:r>
              <a:rPr lang="en-US" sz="2800" b="1" dirty="0"/>
              <a:t>.</a:t>
            </a:r>
          </a:p>
          <a:p>
            <a:pPr marL="0" indent="0">
              <a:buNone/>
            </a:pPr>
            <a:r>
              <a:rPr lang="ru-RU" sz="2800" b="1" dirty="0"/>
              <a:t>DHCP-сервер</a:t>
            </a:r>
            <a:r>
              <a:rPr lang="ru-RU" sz="2800" dirty="0"/>
              <a:t> поддерживает устаревших клиентов, но не наоборот.</a:t>
            </a:r>
          </a:p>
        </p:txBody>
      </p:sp>
    </p:spTree>
    <p:extLst>
      <p:ext uri="{BB962C8B-B14F-4D97-AF65-F5344CB8AC3E}">
        <p14:creationId xmlns:p14="http://schemas.microsoft.com/office/powerpoint/2010/main" val="38266048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1239983" y="1940770"/>
            <a:ext cx="9313718" cy="19018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 b="1" dirty="0"/>
              <a:t>Режимы </a:t>
            </a:r>
            <a:r>
              <a:rPr lang="en-US" sz="4000" b="1" dirty="0"/>
              <a:t>DHCP</a:t>
            </a:r>
            <a:endParaRPr lang="ru-RU" sz="4000" b="1" dirty="0"/>
          </a:p>
        </p:txBody>
      </p:sp>
    </p:spTree>
    <p:extLst>
      <p:ext uri="{BB962C8B-B14F-4D97-AF65-F5344CB8AC3E}">
        <p14:creationId xmlns:p14="http://schemas.microsoft.com/office/powerpoint/2010/main" val="5612291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1356096" y="108343"/>
            <a:ext cx="9144000" cy="10745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 b="1" dirty="0"/>
              <a:t>Режимы </a:t>
            </a:r>
            <a:r>
              <a:rPr lang="en-US" sz="4000" b="1" dirty="0"/>
              <a:t>DHCP</a:t>
            </a:r>
            <a:endParaRPr lang="ru-RU" sz="4000" b="1" dirty="0"/>
          </a:p>
        </p:txBody>
      </p:sp>
      <p:sp>
        <p:nvSpPr>
          <p:cNvPr id="3" name="Объект 2"/>
          <p:cNvSpPr txBox="1">
            <a:spLocks/>
          </p:cNvSpPr>
          <p:nvPr/>
        </p:nvSpPr>
        <p:spPr>
          <a:xfrm>
            <a:off x="1212766" y="1354667"/>
            <a:ext cx="9934205" cy="4978399"/>
          </a:xfrm>
          <a:prstGeom prst="rect">
            <a:avLst/>
          </a:prstGeom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800" dirty="0"/>
              <a:t>Протокол </a:t>
            </a:r>
            <a:r>
              <a:rPr lang="ru-RU" sz="2800" b="1" dirty="0"/>
              <a:t>DHCP</a:t>
            </a:r>
            <a:r>
              <a:rPr lang="ru-RU" sz="2800" dirty="0"/>
              <a:t> работает в соответствии с моделью </a:t>
            </a:r>
            <a:r>
              <a:rPr lang="ru-RU" sz="2800" b="1" i="1" dirty="0"/>
              <a:t>клиент-сервер</a:t>
            </a:r>
            <a:r>
              <a:rPr lang="ru-RU" sz="2800" dirty="0"/>
              <a:t>. </a:t>
            </a:r>
          </a:p>
          <a:p>
            <a:pPr marL="0" indent="0">
              <a:buNone/>
            </a:pPr>
            <a:r>
              <a:rPr lang="ru-RU" sz="2800" dirty="0"/>
              <a:t>Во время старта си­стемы компьютер, являющийся </a:t>
            </a:r>
            <a:r>
              <a:rPr lang="ru-RU" sz="2800" b="1" dirty="0"/>
              <a:t>DHCP-клиентом</a:t>
            </a:r>
            <a:r>
              <a:rPr lang="ru-RU" sz="2800" dirty="0"/>
              <a:t>, посылает в сеть широковещательный запрос на получение </a:t>
            </a:r>
            <a:r>
              <a:rPr lang="en-US" sz="2800" b="1" dirty="0"/>
              <a:t>I</a:t>
            </a:r>
            <a:r>
              <a:rPr lang="ru-RU" sz="2800" b="1" dirty="0"/>
              <a:t>Р-адреса</a:t>
            </a:r>
            <a:r>
              <a:rPr lang="ru-RU" sz="2800" dirty="0"/>
              <a:t>. </a:t>
            </a:r>
            <a:endParaRPr lang="en-US" sz="2800" dirty="0"/>
          </a:p>
          <a:p>
            <a:pPr marL="0" indent="0">
              <a:buNone/>
            </a:pPr>
            <a:r>
              <a:rPr lang="ru-RU" sz="2800" b="1" dirty="0"/>
              <a:t>DHCP-сервер</a:t>
            </a:r>
            <a:r>
              <a:rPr lang="ru-RU" sz="2800" dirty="0"/>
              <a:t> откликается и посылает сообщение-ответ, содержащее </a:t>
            </a:r>
            <a:r>
              <a:rPr lang="ru-RU" sz="2800" b="1" dirty="0"/>
              <a:t>IP-адрес</a:t>
            </a:r>
            <a:r>
              <a:rPr lang="ru-RU" sz="2800" dirty="0"/>
              <a:t> и некоторые другие конфигурационные параметры</a:t>
            </a:r>
            <a:r>
              <a:rPr lang="en-US" sz="2800" dirty="0"/>
              <a:t>.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5217472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1356096" y="108343"/>
            <a:ext cx="9144000" cy="10745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 b="1" dirty="0"/>
              <a:t>Режимы </a:t>
            </a:r>
            <a:r>
              <a:rPr lang="en-US" sz="4000" b="1" dirty="0"/>
              <a:t>DHCP</a:t>
            </a:r>
            <a:endParaRPr lang="ru-RU" sz="4000" b="1" dirty="0"/>
          </a:p>
        </p:txBody>
      </p:sp>
      <p:sp>
        <p:nvSpPr>
          <p:cNvPr id="3" name="Объект 2"/>
          <p:cNvSpPr txBox="1">
            <a:spLocks/>
          </p:cNvSpPr>
          <p:nvPr/>
        </p:nvSpPr>
        <p:spPr>
          <a:xfrm>
            <a:off x="1212766" y="1354667"/>
            <a:ext cx="9934205" cy="4978399"/>
          </a:xfrm>
          <a:prstGeom prst="rect">
            <a:avLst/>
          </a:prstGeom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800" dirty="0"/>
              <a:t>При этом</a:t>
            </a:r>
            <a:r>
              <a:rPr lang="ru-RU" sz="2800" b="1" dirty="0"/>
              <a:t> DHCP-сервер </a:t>
            </a:r>
            <a:r>
              <a:rPr lang="ru-RU" sz="2800" dirty="0"/>
              <a:t>может работать в разных режимах, включая: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/>
              <a:t>   </a:t>
            </a:r>
            <a:r>
              <a:rPr lang="ru-RU" sz="2800" b="1" dirty="0"/>
              <a:t>□ </a:t>
            </a:r>
            <a:r>
              <a:rPr lang="en-US" sz="2800" b="1" dirty="0"/>
              <a:t> </a:t>
            </a:r>
            <a:r>
              <a:rPr lang="ru-RU" sz="2800" b="1" dirty="0"/>
              <a:t>ручное</a:t>
            </a:r>
            <a:r>
              <a:rPr lang="ru-RU" sz="2800" dirty="0"/>
              <a:t> назначение статических адресов;</a:t>
            </a:r>
            <a:endParaRPr lang="en-US" sz="2800" dirty="0"/>
          </a:p>
          <a:p>
            <a:pPr marL="0" indent="0">
              <a:buNone/>
            </a:pPr>
            <a:r>
              <a:rPr lang="en-US" sz="2800" dirty="0"/>
              <a:t>   </a:t>
            </a:r>
            <a:r>
              <a:rPr lang="ru-RU" sz="2800" dirty="0"/>
              <a:t>□</a:t>
            </a:r>
            <a:r>
              <a:rPr lang="en-US" sz="2800" dirty="0"/>
              <a:t> </a:t>
            </a:r>
            <a:r>
              <a:rPr lang="ru-RU" sz="2800" dirty="0"/>
              <a:t> </a:t>
            </a:r>
            <a:r>
              <a:rPr lang="ru-RU" sz="2800" b="1" dirty="0"/>
              <a:t>автоматическое назначение </a:t>
            </a:r>
            <a:r>
              <a:rPr lang="ru-RU" sz="2800" dirty="0"/>
              <a:t>статических адресов;</a:t>
            </a:r>
            <a:endParaRPr lang="en-US" sz="2800" dirty="0"/>
          </a:p>
          <a:p>
            <a:pPr marL="0" indent="0">
              <a:buNone/>
            </a:pPr>
            <a:r>
              <a:rPr lang="en-US" sz="2800" dirty="0"/>
              <a:t>   </a:t>
            </a:r>
            <a:r>
              <a:rPr lang="ru-RU" sz="2800" dirty="0"/>
              <a:t>□</a:t>
            </a:r>
            <a:r>
              <a:rPr lang="en-US" sz="2800" dirty="0"/>
              <a:t> </a:t>
            </a:r>
            <a:r>
              <a:rPr lang="ru-RU" sz="2800" dirty="0"/>
              <a:t> </a:t>
            </a:r>
            <a:r>
              <a:rPr lang="ru-RU" sz="2800" b="1" dirty="0"/>
              <a:t>автоматическое распределение </a:t>
            </a:r>
            <a:r>
              <a:rPr lang="ru-RU" sz="2800" dirty="0"/>
              <a:t>динамических адресов.</a:t>
            </a:r>
            <a:endParaRPr lang="en-US" sz="2800" dirty="0"/>
          </a:p>
          <a:p>
            <a:pPr marL="0" indent="0">
              <a:buNone/>
            </a:pPr>
            <a:r>
              <a:rPr lang="ru-RU" sz="2800" dirty="0"/>
              <a:t>Во всех режимах работы администратор при конфигурировании </a:t>
            </a:r>
            <a:r>
              <a:rPr lang="ru-RU" sz="2800" b="1" dirty="0"/>
              <a:t>DHCP-сервера</a:t>
            </a:r>
            <a:r>
              <a:rPr lang="ru-RU" sz="2800" dirty="0"/>
              <a:t> сообщает ему один или несколько диапазонов </a:t>
            </a:r>
            <a:r>
              <a:rPr lang="ru-RU" sz="2800" b="1" dirty="0"/>
              <a:t>IP-адресов</a:t>
            </a:r>
            <a:r>
              <a:rPr lang="ru-RU" sz="2800" dirty="0"/>
              <a:t>, причем все эти адреса относятся к одной сети, то есть имеют одно и то же значение в поле номера сети.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8222372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1356096" y="108343"/>
            <a:ext cx="9144000" cy="10745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 b="1" dirty="0"/>
              <a:t>Режимы </a:t>
            </a:r>
            <a:r>
              <a:rPr lang="en-US" sz="4000" b="1" dirty="0"/>
              <a:t>DHCP</a:t>
            </a:r>
            <a:endParaRPr lang="ru-RU" sz="4000" b="1" dirty="0"/>
          </a:p>
        </p:txBody>
      </p:sp>
      <p:sp>
        <p:nvSpPr>
          <p:cNvPr id="3" name="Объект 2"/>
          <p:cNvSpPr txBox="1">
            <a:spLocks/>
          </p:cNvSpPr>
          <p:nvPr/>
        </p:nvSpPr>
        <p:spPr>
          <a:xfrm>
            <a:off x="1212766" y="1354667"/>
            <a:ext cx="9934205" cy="4978399"/>
          </a:xfrm>
          <a:prstGeom prst="rect">
            <a:avLst/>
          </a:prstGeom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800" dirty="0"/>
              <a:t>В </a:t>
            </a:r>
            <a:r>
              <a:rPr lang="ru-RU" sz="2800" b="1" i="1" dirty="0"/>
              <a:t>ручном режиме </a:t>
            </a:r>
            <a:r>
              <a:rPr lang="ru-RU" sz="2800" dirty="0"/>
              <a:t>администратор помимо пула доступных адресов снабжает </a:t>
            </a:r>
            <a:r>
              <a:rPr lang="ru-RU" sz="2800" b="1" dirty="0"/>
              <a:t>DHCP-сервер</a:t>
            </a:r>
            <a:r>
              <a:rPr lang="ru-RU" sz="2800" dirty="0"/>
              <a:t> информацией о жестком соответствии </a:t>
            </a:r>
            <a:r>
              <a:rPr lang="ru-RU" sz="2800" b="1" dirty="0"/>
              <a:t>IP-адресов</a:t>
            </a:r>
            <a:r>
              <a:rPr lang="ru-RU" sz="2800" dirty="0"/>
              <a:t> физическим адресам или другим иденти­фикаторам клиентских узлов. </a:t>
            </a:r>
            <a:endParaRPr lang="en-US" sz="2800" dirty="0"/>
          </a:p>
          <a:p>
            <a:pPr marL="0" indent="0">
              <a:buNone/>
            </a:pPr>
            <a:r>
              <a:rPr lang="ru-RU" sz="2800" b="1" dirty="0"/>
              <a:t>DHCP-сервер</a:t>
            </a:r>
            <a:r>
              <a:rPr lang="ru-RU" sz="2800" dirty="0"/>
              <a:t>, пользуясь этой информацией, </a:t>
            </a:r>
            <a:r>
              <a:rPr lang="ru-RU" sz="2800" b="1" i="1" dirty="0"/>
              <a:t>всегда</a:t>
            </a:r>
            <a:r>
              <a:rPr lang="ru-RU" sz="2800" dirty="0"/>
              <a:t> выдаст</a:t>
            </a:r>
            <a:r>
              <a:rPr lang="en-US" sz="2800" dirty="0"/>
              <a:t> </a:t>
            </a:r>
            <a:r>
              <a:rPr lang="ru-RU" sz="2800" dirty="0"/>
              <a:t>определенному </a:t>
            </a:r>
            <a:r>
              <a:rPr lang="ru-RU" sz="2800" b="1" dirty="0"/>
              <a:t>DHCP-клиенту</a:t>
            </a:r>
            <a:r>
              <a:rPr lang="en-US" sz="2800" b="1" dirty="0"/>
              <a:t> </a:t>
            </a:r>
            <a:r>
              <a:rPr lang="ru-RU" sz="2800" dirty="0"/>
              <a:t> </a:t>
            </a:r>
            <a:r>
              <a:rPr lang="ru-RU" sz="2800" b="1" i="1" dirty="0"/>
              <a:t>один и тот же </a:t>
            </a:r>
            <a:r>
              <a:rPr lang="en-US" sz="2800" b="1" i="1" dirty="0"/>
              <a:t> </a:t>
            </a:r>
            <a:r>
              <a:rPr lang="ru-RU" sz="2800" dirty="0"/>
              <a:t>назначенный ему администратором </a:t>
            </a:r>
            <a:r>
              <a:rPr lang="en-US" sz="2800" b="1" dirty="0"/>
              <a:t>I</a:t>
            </a:r>
            <a:r>
              <a:rPr lang="ru-RU" sz="2800" b="1" dirty="0"/>
              <a:t>Р-адрес</a:t>
            </a:r>
            <a:r>
              <a:rPr lang="en-US" sz="2800" dirty="0"/>
              <a:t>, </a:t>
            </a:r>
            <a:r>
              <a:rPr lang="ru-RU" sz="2800" dirty="0"/>
              <a:t>а также набор других конфигурационных параметров.</a:t>
            </a:r>
          </a:p>
        </p:txBody>
      </p:sp>
    </p:spTree>
    <p:extLst>
      <p:ext uri="{BB962C8B-B14F-4D97-AF65-F5344CB8AC3E}">
        <p14:creationId xmlns:p14="http://schemas.microsoft.com/office/powerpoint/2010/main" val="17269475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1356096" y="108343"/>
            <a:ext cx="9144000" cy="10745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 b="1" dirty="0"/>
              <a:t>Режимы </a:t>
            </a:r>
            <a:r>
              <a:rPr lang="en-US" sz="4000" b="1" dirty="0"/>
              <a:t>DHCP</a:t>
            </a:r>
            <a:endParaRPr lang="ru-RU" sz="4000" b="1" dirty="0"/>
          </a:p>
        </p:txBody>
      </p:sp>
      <p:sp>
        <p:nvSpPr>
          <p:cNvPr id="3" name="Объект 2"/>
          <p:cNvSpPr txBox="1">
            <a:spLocks/>
          </p:cNvSpPr>
          <p:nvPr/>
        </p:nvSpPr>
        <p:spPr>
          <a:xfrm>
            <a:off x="1212766" y="1045029"/>
            <a:ext cx="9934205" cy="5288037"/>
          </a:xfrm>
          <a:prstGeom prst="rect">
            <a:avLst/>
          </a:prstGeom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800" dirty="0"/>
              <a:t>В </a:t>
            </a:r>
            <a:r>
              <a:rPr lang="ru-RU" sz="2800" b="1" i="1" dirty="0"/>
              <a:t>режиме автоматического </a:t>
            </a:r>
            <a:r>
              <a:rPr lang="ru-RU" sz="2800" dirty="0"/>
              <a:t>назначения статических адресов </a:t>
            </a:r>
            <a:r>
              <a:rPr lang="ru-RU" sz="2800" b="1" dirty="0"/>
              <a:t>DHCP-сервер</a:t>
            </a:r>
            <a:r>
              <a:rPr lang="ru-RU" sz="2800" dirty="0"/>
              <a:t> самостоятельно, без вмешательства администратора, произвольным образом выбирает клиенту</a:t>
            </a:r>
            <a:r>
              <a:rPr lang="en-US" sz="2800" dirty="0"/>
              <a:t>   </a:t>
            </a:r>
            <a:r>
              <a:rPr lang="ru-RU" sz="2800" dirty="0"/>
              <a:t> </a:t>
            </a:r>
            <a:r>
              <a:rPr lang="en-US" sz="2800" b="1" dirty="0"/>
              <a:t>I</a:t>
            </a:r>
            <a:r>
              <a:rPr lang="ru-RU" sz="2800" b="1" dirty="0"/>
              <a:t>Р-адрес</a:t>
            </a:r>
            <a:r>
              <a:rPr lang="ru-RU" sz="2800" dirty="0"/>
              <a:t> из пула наличных </a:t>
            </a:r>
            <a:r>
              <a:rPr lang="ru-RU" sz="2800" b="1" dirty="0"/>
              <a:t>IP-адресов</a:t>
            </a:r>
            <a:r>
              <a:rPr lang="ru-RU" sz="2800" dirty="0"/>
              <a:t>. </a:t>
            </a:r>
            <a:endParaRPr lang="en-US" sz="2800" dirty="0"/>
          </a:p>
          <a:p>
            <a:pPr marL="0" indent="0">
              <a:buNone/>
            </a:pPr>
            <a:r>
              <a:rPr lang="ru-RU" sz="2800" dirty="0"/>
              <a:t>Адрес дается клиенту из пула в </a:t>
            </a:r>
            <a:r>
              <a:rPr lang="ru-RU" sz="2800" b="1" dirty="0"/>
              <a:t>постоянное пользование</a:t>
            </a:r>
            <a:r>
              <a:rPr lang="ru-RU" sz="2800" dirty="0"/>
              <a:t>, то есть между идентифицирующей информацией клиента и его</a:t>
            </a:r>
            <a:r>
              <a:rPr lang="en-US" sz="2800" dirty="0"/>
              <a:t> </a:t>
            </a:r>
            <a:r>
              <a:rPr lang="ru-RU" sz="2800" dirty="0"/>
              <a:t> </a:t>
            </a:r>
            <a:r>
              <a:rPr lang="ru-RU" sz="2800" b="1" dirty="0"/>
              <a:t>IP-адресом</a:t>
            </a:r>
            <a:r>
              <a:rPr lang="ru-RU" sz="2800" dirty="0"/>
              <a:t> по-прежнему, как и при ручном назначении, существует постоянное соответствие. </a:t>
            </a:r>
            <a:endParaRPr lang="en-US" sz="2800" dirty="0"/>
          </a:p>
          <a:p>
            <a:pPr marL="0" indent="0">
              <a:buNone/>
            </a:pPr>
            <a:r>
              <a:rPr lang="ru-RU" sz="2800" dirty="0"/>
              <a:t>Оно</a:t>
            </a:r>
            <a:r>
              <a:rPr lang="en-US" sz="2800" dirty="0"/>
              <a:t> </a:t>
            </a:r>
            <a:r>
              <a:rPr lang="ru-RU" sz="2800" dirty="0"/>
              <a:t> устанавливается</a:t>
            </a:r>
            <a:r>
              <a:rPr lang="en-US" sz="2800" dirty="0"/>
              <a:t> </a:t>
            </a:r>
            <a:r>
              <a:rPr lang="ru-RU" sz="2800" dirty="0"/>
              <a:t> в </a:t>
            </a:r>
            <a:r>
              <a:rPr lang="en-US" sz="2800" dirty="0"/>
              <a:t> </a:t>
            </a:r>
            <a:r>
              <a:rPr lang="ru-RU" sz="2800" dirty="0"/>
              <a:t>момент </a:t>
            </a:r>
            <a:r>
              <a:rPr lang="en-US" sz="2800" dirty="0"/>
              <a:t> </a:t>
            </a:r>
            <a:r>
              <a:rPr lang="ru-RU" sz="2800" dirty="0"/>
              <a:t>первого</a:t>
            </a:r>
            <a:r>
              <a:rPr lang="en-US" sz="2800" dirty="0"/>
              <a:t> </a:t>
            </a:r>
            <a:r>
              <a:rPr lang="ru-RU" sz="2800" dirty="0"/>
              <a:t> назначения </a:t>
            </a:r>
            <a:r>
              <a:rPr lang="en-US" sz="2800" dirty="0"/>
              <a:t>       </a:t>
            </a:r>
            <a:r>
              <a:rPr lang="ru-RU" sz="2800" b="1" dirty="0"/>
              <a:t>DHCP-сервером</a:t>
            </a:r>
            <a:r>
              <a:rPr lang="en-US" sz="2800" b="1" dirty="0"/>
              <a:t>   </a:t>
            </a:r>
            <a:r>
              <a:rPr lang="ru-RU" sz="2800" b="1" dirty="0"/>
              <a:t> IP-адреса </a:t>
            </a:r>
            <a:r>
              <a:rPr lang="en-US" sz="2800" b="1" dirty="0"/>
              <a:t>  </a:t>
            </a:r>
            <a:r>
              <a:rPr lang="ru-RU" sz="2800" dirty="0"/>
              <a:t>клиенту. </a:t>
            </a:r>
            <a:endParaRPr lang="en-US" sz="2800" dirty="0"/>
          </a:p>
          <a:p>
            <a:pPr marL="0" indent="0">
              <a:buNone/>
            </a:pPr>
            <a:r>
              <a:rPr lang="ru-RU" sz="2800" dirty="0"/>
              <a:t>При всех последующих запросах сервер возвращает клиенту тот же самый </a:t>
            </a:r>
            <a:r>
              <a:rPr lang="en-US" sz="2800" b="1" dirty="0"/>
              <a:t>I</a:t>
            </a:r>
            <a:r>
              <a:rPr lang="ru-RU" sz="2800" b="1" dirty="0"/>
              <a:t>Р-адрес</a:t>
            </a:r>
            <a:r>
              <a:rPr lang="ru-RU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872618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1356096" y="108343"/>
            <a:ext cx="9144000" cy="10745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 b="1" dirty="0"/>
              <a:t>Режимы </a:t>
            </a:r>
            <a:r>
              <a:rPr lang="en-US" sz="4000" b="1" dirty="0"/>
              <a:t>DHCP</a:t>
            </a:r>
            <a:endParaRPr lang="ru-RU" sz="4000" b="1" dirty="0"/>
          </a:p>
        </p:txBody>
      </p:sp>
      <p:sp>
        <p:nvSpPr>
          <p:cNvPr id="3" name="Объект 2"/>
          <p:cNvSpPr txBox="1">
            <a:spLocks/>
          </p:cNvSpPr>
          <p:nvPr/>
        </p:nvSpPr>
        <p:spPr>
          <a:xfrm>
            <a:off x="1212766" y="1354667"/>
            <a:ext cx="9934205" cy="4978399"/>
          </a:xfrm>
          <a:prstGeom prst="rect">
            <a:avLst/>
          </a:prstGeom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800" dirty="0"/>
              <a:t>При </a:t>
            </a:r>
            <a:r>
              <a:rPr lang="ru-RU" sz="2800" b="1" i="1" dirty="0"/>
              <a:t>динамическом распределении </a:t>
            </a:r>
            <a:r>
              <a:rPr lang="ru-RU" sz="2800" dirty="0"/>
              <a:t>адресов </a:t>
            </a:r>
            <a:r>
              <a:rPr lang="ru-RU" sz="2800" b="1" dirty="0"/>
              <a:t>DHCP-сервер</a:t>
            </a:r>
            <a:r>
              <a:rPr lang="ru-RU" sz="2800" dirty="0"/>
              <a:t> выдает адрес клиенту на </a:t>
            </a:r>
            <a:r>
              <a:rPr lang="ru-RU" sz="2800" b="1" dirty="0"/>
              <a:t>огра­ниченное время</a:t>
            </a:r>
            <a:r>
              <a:rPr lang="ru-RU" sz="2800" dirty="0"/>
              <a:t>, называемое сроком аренды. </a:t>
            </a:r>
            <a:endParaRPr lang="en-US" sz="2800" dirty="0"/>
          </a:p>
          <a:p>
            <a:pPr marL="0" indent="0">
              <a:buNone/>
            </a:pPr>
            <a:r>
              <a:rPr lang="ru-RU" sz="2800" dirty="0"/>
              <a:t>Когда компьютер, являющийся </a:t>
            </a:r>
            <a:r>
              <a:rPr lang="ru-RU" sz="2800" b="1" dirty="0"/>
              <a:t>DHCP- клиентом</a:t>
            </a:r>
            <a:r>
              <a:rPr lang="ru-RU" sz="2800" dirty="0"/>
              <a:t>, удаляется из подсети, назначенный ему </a:t>
            </a:r>
            <a:r>
              <a:rPr lang="ru-RU" sz="2800" b="1" dirty="0"/>
              <a:t>IP-адрес</a:t>
            </a:r>
            <a:r>
              <a:rPr lang="ru-RU" sz="2800" dirty="0"/>
              <a:t> автоматически </a:t>
            </a:r>
            <a:r>
              <a:rPr lang="ru-RU" sz="2800" b="1" dirty="0"/>
              <a:t>освобождается</a:t>
            </a:r>
            <a:r>
              <a:rPr lang="ru-RU" sz="2800" dirty="0"/>
              <a:t>. </a:t>
            </a:r>
            <a:endParaRPr lang="en-US" sz="2800" dirty="0"/>
          </a:p>
          <a:p>
            <a:pPr marL="0" indent="0">
              <a:buNone/>
            </a:pPr>
            <a:r>
              <a:rPr lang="ru-RU" sz="2800" dirty="0"/>
              <a:t>Когда компьютер подключается к другой подсети, то ему автоматически назначается новый адрес. </a:t>
            </a:r>
            <a:endParaRPr lang="en-US" sz="2800" dirty="0"/>
          </a:p>
          <a:p>
            <a:pPr marL="0" indent="0">
              <a:buNone/>
            </a:pPr>
            <a:r>
              <a:rPr lang="ru-RU" sz="2800" dirty="0"/>
              <a:t>Ни пользователь, ни сетевой администратор </a:t>
            </a:r>
            <a:r>
              <a:rPr lang="ru-RU" sz="2800" b="1" dirty="0"/>
              <a:t>не вмешиваются </a:t>
            </a:r>
            <a:r>
              <a:rPr lang="ru-RU" sz="2800" dirty="0"/>
              <a:t>в этот процесс.</a:t>
            </a:r>
          </a:p>
        </p:txBody>
      </p:sp>
    </p:spTree>
    <p:extLst>
      <p:ext uri="{BB962C8B-B14F-4D97-AF65-F5344CB8AC3E}">
        <p14:creationId xmlns:p14="http://schemas.microsoft.com/office/powerpoint/2010/main" val="31726302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1356096" y="108343"/>
            <a:ext cx="9144000" cy="10745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 b="1" dirty="0"/>
              <a:t>Режимы </a:t>
            </a:r>
            <a:r>
              <a:rPr lang="en-US" sz="4000" b="1" dirty="0"/>
              <a:t>DHCP</a:t>
            </a:r>
            <a:endParaRPr lang="ru-RU" sz="4000" b="1" dirty="0"/>
          </a:p>
        </p:txBody>
      </p:sp>
      <p:sp>
        <p:nvSpPr>
          <p:cNvPr id="3" name="Объект 2"/>
          <p:cNvSpPr txBox="1">
            <a:spLocks/>
          </p:cNvSpPr>
          <p:nvPr/>
        </p:nvSpPr>
        <p:spPr>
          <a:xfrm>
            <a:off x="1212766" y="1354667"/>
            <a:ext cx="9934205" cy="4978399"/>
          </a:xfrm>
          <a:prstGeom prst="rect">
            <a:avLst/>
          </a:prstGeom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800" dirty="0"/>
              <a:t>Это дает возможность впоследствии повторно использовать этот </a:t>
            </a:r>
            <a:r>
              <a:rPr lang="ru-RU" sz="2800" b="1" dirty="0"/>
              <a:t>IP-адрес</a:t>
            </a:r>
            <a:r>
              <a:rPr lang="ru-RU" sz="2800" dirty="0"/>
              <a:t> для назначения другому компьютеру. </a:t>
            </a:r>
            <a:endParaRPr lang="en-US" sz="2800" dirty="0"/>
          </a:p>
          <a:p>
            <a:pPr marL="0" indent="0">
              <a:buNone/>
            </a:pPr>
            <a:r>
              <a:rPr lang="ru-RU" sz="2800" dirty="0"/>
              <a:t>Таким </a:t>
            </a:r>
            <a:r>
              <a:rPr lang="en-US" sz="2800" dirty="0"/>
              <a:t> </a:t>
            </a:r>
            <a:r>
              <a:rPr lang="ru-RU" sz="2800" dirty="0"/>
              <a:t>образом, </a:t>
            </a:r>
            <a:r>
              <a:rPr lang="en-US" sz="2800" dirty="0"/>
              <a:t> </a:t>
            </a:r>
            <a:r>
              <a:rPr lang="ru-RU" sz="2800" dirty="0"/>
              <a:t>помимо </a:t>
            </a:r>
            <a:r>
              <a:rPr lang="en-US" sz="2800" dirty="0"/>
              <a:t> </a:t>
            </a:r>
            <a:r>
              <a:rPr lang="ru-RU" sz="2800" dirty="0"/>
              <a:t>основного </a:t>
            </a:r>
            <a:r>
              <a:rPr lang="en-US" sz="2800" dirty="0"/>
              <a:t> </a:t>
            </a:r>
            <a:r>
              <a:rPr lang="ru-RU" sz="2800" dirty="0"/>
              <a:t>преимущества </a:t>
            </a:r>
            <a:r>
              <a:rPr lang="en-US" sz="2800" dirty="0"/>
              <a:t>           </a:t>
            </a:r>
            <a:r>
              <a:rPr lang="ru-RU" sz="2800" b="1" dirty="0"/>
              <a:t>DHCP</a:t>
            </a:r>
            <a:r>
              <a:rPr lang="ru-RU" sz="2800" dirty="0"/>
              <a:t> — автомати­зации рутинной работы администратора по конфигурированию стека </a:t>
            </a:r>
            <a:r>
              <a:rPr lang="ru-RU" sz="2800" b="1" dirty="0"/>
              <a:t>TCP/IP</a:t>
            </a:r>
            <a:r>
              <a:rPr lang="ru-RU" sz="2800" dirty="0"/>
              <a:t> на каждом компьютере, режим динамического распределения адресов в принципе позволяет строить </a:t>
            </a:r>
            <a:r>
              <a:rPr lang="ru-RU" sz="2800" b="1" dirty="0"/>
              <a:t>IP-сеть</a:t>
            </a:r>
            <a:r>
              <a:rPr lang="ru-RU" sz="2800" dirty="0"/>
              <a:t>, количество узлов в которой </a:t>
            </a:r>
            <a:r>
              <a:rPr lang="ru-RU" sz="2800" b="1" dirty="0"/>
              <a:t>превышает</a:t>
            </a:r>
            <a:r>
              <a:rPr lang="ru-RU" sz="2800" dirty="0"/>
              <a:t> количество имеющихся в распоряжении администратора </a:t>
            </a:r>
            <a:r>
              <a:rPr lang="en-US" sz="2800" b="1" dirty="0"/>
              <a:t>I</a:t>
            </a:r>
            <a:r>
              <a:rPr lang="ru-RU" sz="2800" b="1" dirty="0"/>
              <a:t>Р-адресов</a:t>
            </a:r>
            <a:r>
              <a:rPr lang="ru-RU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075458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1356096" y="108343"/>
            <a:ext cx="9144000" cy="10745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 b="1" dirty="0"/>
              <a:t>Режимы </a:t>
            </a:r>
            <a:r>
              <a:rPr lang="en-US" sz="4000" b="1" dirty="0"/>
              <a:t>DHCP</a:t>
            </a:r>
            <a:endParaRPr lang="ru-RU" sz="4000" b="1" dirty="0"/>
          </a:p>
        </p:txBody>
      </p:sp>
      <p:sp>
        <p:nvSpPr>
          <p:cNvPr id="3" name="Объект 2"/>
          <p:cNvSpPr txBox="1">
            <a:spLocks/>
          </p:cNvSpPr>
          <p:nvPr/>
        </p:nvSpPr>
        <p:spPr>
          <a:xfrm>
            <a:off x="1212766" y="1354667"/>
            <a:ext cx="9934205" cy="4978399"/>
          </a:xfrm>
          <a:prstGeom prst="rect">
            <a:avLst/>
          </a:prstGeom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800" dirty="0"/>
              <a:t>Рассмотрим </a:t>
            </a:r>
            <a:r>
              <a:rPr lang="ru-RU" sz="2800" b="1" dirty="0"/>
              <a:t>преимущества</a:t>
            </a:r>
            <a:r>
              <a:rPr lang="ru-RU" sz="2800" dirty="0"/>
              <a:t>, которые дает динамическое распределение пула адресов, на при­мере. </a:t>
            </a:r>
          </a:p>
          <a:p>
            <a:pPr marL="0" indent="0">
              <a:buNone/>
            </a:pPr>
            <a:r>
              <a:rPr lang="ru-RU" sz="2800" dirty="0"/>
              <a:t>Пусть в некоторой организации сотрудники значительную часть рабочего времени проводят вне офиса — дома или в командировках. </a:t>
            </a:r>
            <a:endParaRPr lang="en-US" sz="2800" dirty="0"/>
          </a:p>
          <a:p>
            <a:pPr marL="0" indent="0">
              <a:buNone/>
            </a:pPr>
            <a:r>
              <a:rPr lang="ru-RU" sz="2800" dirty="0"/>
              <a:t>Каждый из них имеет портативный компьютер, который во время пребывания в офисе подключается к корпоративной</a:t>
            </a:r>
            <a:r>
              <a:rPr lang="en-US" sz="2800" dirty="0"/>
              <a:t>    </a:t>
            </a:r>
            <a:r>
              <a:rPr lang="ru-RU" sz="2800" dirty="0"/>
              <a:t> </a:t>
            </a:r>
            <a:r>
              <a:rPr lang="en-US" sz="2800" b="1" dirty="0"/>
              <a:t>I</a:t>
            </a:r>
            <a:r>
              <a:rPr lang="ru-RU" sz="2800" b="1" dirty="0"/>
              <a:t>Р-сети</a:t>
            </a:r>
            <a:r>
              <a:rPr lang="ru-RU" sz="2800" dirty="0"/>
              <a:t>. </a:t>
            </a:r>
            <a:endParaRPr lang="en-US" sz="2800" dirty="0"/>
          </a:p>
          <a:p>
            <a:pPr marL="0" indent="0">
              <a:buNone/>
            </a:pPr>
            <a:r>
              <a:rPr lang="ru-RU" sz="2800" dirty="0"/>
              <a:t>Возникает вопрос, сколько </a:t>
            </a:r>
            <a:r>
              <a:rPr lang="ru-RU" sz="2800" b="1" dirty="0"/>
              <a:t>IP-адресов</a:t>
            </a:r>
            <a:r>
              <a:rPr lang="ru-RU" sz="2800" dirty="0"/>
              <a:t> необходимо этой организации?</a:t>
            </a:r>
          </a:p>
        </p:txBody>
      </p:sp>
    </p:spTree>
    <p:extLst>
      <p:ext uri="{BB962C8B-B14F-4D97-AF65-F5344CB8AC3E}">
        <p14:creationId xmlns:p14="http://schemas.microsoft.com/office/powerpoint/2010/main" val="17464416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1356096" y="108343"/>
            <a:ext cx="9144000" cy="10745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 b="1" dirty="0"/>
              <a:t>Режимы </a:t>
            </a:r>
            <a:r>
              <a:rPr lang="en-US" sz="4000" b="1" dirty="0"/>
              <a:t>DHCP</a:t>
            </a:r>
            <a:endParaRPr lang="ru-RU" sz="4000" b="1" dirty="0"/>
          </a:p>
        </p:txBody>
      </p:sp>
      <p:sp>
        <p:nvSpPr>
          <p:cNvPr id="3" name="Объект 2"/>
          <p:cNvSpPr txBox="1">
            <a:spLocks/>
          </p:cNvSpPr>
          <p:nvPr/>
        </p:nvSpPr>
        <p:spPr>
          <a:xfrm>
            <a:off x="1212766" y="1354667"/>
            <a:ext cx="9934205" cy="4978399"/>
          </a:xfrm>
          <a:prstGeom prst="rect">
            <a:avLst/>
          </a:prstGeom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800" b="1" i="1" dirty="0"/>
              <a:t>Первый ответ</a:t>
            </a:r>
            <a:r>
              <a:rPr lang="ru-RU" sz="2800" dirty="0"/>
              <a:t> — столько, скольким сотрудникам </a:t>
            </a:r>
            <a:r>
              <a:rPr lang="ru-RU" sz="2800" b="1" dirty="0"/>
              <a:t>необходим доступ в сеть</a:t>
            </a:r>
            <a:r>
              <a:rPr lang="ru-RU" sz="2800" dirty="0"/>
              <a:t>. </a:t>
            </a:r>
            <a:endParaRPr lang="en-US" sz="2800" dirty="0"/>
          </a:p>
          <a:p>
            <a:pPr marL="0" indent="0">
              <a:buNone/>
            </a:pPr>
            <a:r>
              <a:rPr lang="ru-RU" sz="2800" dirty="0"/>
              <a:t>Если их 500 че­ловек, то каждому из них должен быть назначен </a:t>
            </a:r>
            <a:r>
              <a:rPr lang="ru-RU" sz="2800" b="1" dirty="0"/>
              <a:t>IP-адрес</a:t>
            </a:r>
            <a:r>
              <a:rPr lang="ru-RU" sz="2800" dirty="0"/>
              <a:t> и выделено рабочее место. </a:t>
            </a:r>
            <a:endParaRPr lang="en-US" sz="2800" dirty="0"/>
          </a:p>
          <a:p>
            <a:pPr marL="0" indent="0">
              <a:buNone/>
            </a:pPr>
            <a:r>
              <a:rPr lang="ru-RU" sz="2800" dirty="0"/>
              <a:t>То есть администрация должна получить у поставщика услуг адреса двух сетей класса С и оборудовать соответствующим образом помещение. </a:t>
            </a:r>
            <a:endParaRPr lang="en-US" sz="2800" dirty="0"/>
          </a:p>
          <a:p>
            <a:pPr marL="0" indent="0">
              <a:buNone/>
            </a:pPr>
            <a:r>
              <a:rPr lang="ru-RU" sz="2800" dirty="0"/>
              <a:t>Однако вспомним, что сотрудники в этой организации </a:t>
            </a:r>
            <a:r>
              <a:rPr lang="ru-RU" sz="2800" b="1" dirty="0"/>
              <a:t>редко появляются в офисе</a:t>
            </a:r>
            <a:r>
              <a:rPr lang="ru-RU" sz="2800" dirty="0"/>
              <a:t>, значит, большая часть ресурсов при таком решении будет </a:t>
            </a:r>
            <a:r>
              <a:rPr lang="ru-RU" sz="2800" b="1" dirty="0"/>
              <a:t>простаивать</a:t>
            </a:r>
            <a:r>
              <a:rPr lang="ru-RU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425157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1356096" y="108343"/>
            <a:ext cx="9144000" cy="10745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 b="1" dirty="0"/>
              <a:t>Режимы </a:t>
            </a:r>
            <a:r>
              <a:rPr lang="en-US" sz="4000" b="1" dirty="0"/>
              <a:t>DHCP</a:t>
            </a:r>
            <a:endParaRPr lang="ru-RU" sz="4000" b="1" dirty="0"/>
          </a:p>
        </p:txBody>
      </p:sp>
      <p:sp>
        <p:nvSpPr>
          <p:cNvPr id="3" name="Объект 2"/>
          <p:cNvSpPr txBox="1">
            <a:spLocks/>
          </p:cNvSpPr>
          <p:nvPr/>
        </p:nvSpPr>
        <p:spPr>
          <a:xfrm>
            <a:off x="1212766" y="1354667"/>
            <a:ext cx="9934205" cy="4978399"/>
          </a:xfrm>
          <a:prstGeom prst="rect">
            <a:avLst/>
          </a:prstGeom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800" b="1" i="1" dirty="0"/>
              <a:t>Второй ответ</a:t>
            </a:r>
            <a:r>
              <a:rPr lang="ru-RU" sz="2800" dirty="0"/>
              <a:t> — столько, сколько сотрудников </a:t>
            </a:r>
            <a:r>
              <a:rPr lang="ru-RU" sz="2800" b="1" dirty="0"/>
              <a:t>обычно присутствует в офисе</a:t>
            </a:r>
            <a:r>
              <a:rPr lang="ru-RU" sz="2800" dirty="0"/>
              <a:t>, естественно, с некоторым запасом. </a:t>
            </a:r>
            <a:endParaRPr lang="en-US" sz="2800" dirty="0"/>
          </a:p>
          <a:p>
            <a:pPr marL="0" indent="0">
              <a:buNone/>
            </a:pPr>
            <a:r>
              <a:rPr lang="ru-RU" sz="2800" dirty="0"/>
              <a:t>Если обычно в офисе работает не более 50 сотрудников, то достаточно получить у поставщика услуг пул из 64 адресов и установить в рабочем помещении сеть с 64 коннек­торами для подключения компьютеров. </a:t>
            </a:r>
          </a:p>
          <a:p>
            <a:pPr marL="0" indent="0">
              <a:buNone/>
            </a:pPr>
            <a:r>
              <a:rPr lang="ru-RU" sz="2800" dirty="0"/>
              <a:t>Но возникает другая проблема — кто и как будет </a:t>
            </a:r>
            <a:r>
              <a:rPr lang="ru-RU" sz="2800" b="1" dirty="0"/>
              <a:t>конфигурировать</a:t>
            </a:r>
            <a:r>
              <a:rPr lang="ru-RU" sz="2800" dirty="0"/>
              <a:t> компьютеры, состав которых постоянно меняется?</a:t>
            </a:r>
          </a:p>
        </p:txBody>
      </p:sp>
    </p:spTree>
    <p:extLst>
      <p:ext uri="{BB962C8B-B14F-4D97-AF65-F5344CB8AC3E}">
        <p14:creationId xmlns:p14="http://schemas.microsoft.com/office/powerpoint/2010/main" val="6891030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1356096" y="108343"/>
            <a:ext cx="9144000" cy="10745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 b="1" dirty="0"/>
              <a:t>Режимы </a:t>
            </a:r>
            <a:r>
              <a:rPr lang="en-US" sz="4000" b="1" dirty="0"/>
              <a:t>DHCP</a:t>
            </a:r>
            <a:endParaRPr lang="ru-RU" sz="4000" b="1" dirty="0"/>
          </a:p>
        </p:txBody>
      </p:sp>
      <p:sp>
        <p:nvSpPr>
          <p:cNvPr id="3" name="Объект 2"/>
          <p:cNvSpPr txBox="1">
            <a:spLocks/>
          </p:cNvSpPr>
          <p:nvPr/>
        </p:nvSpPr>
        <p:spPr>
          <a:xfrm>
            <a:off x="1212766" y="1354667"/>
            <a:ext cx="9934205" cy="4978399"/>
          </a:xfrm>
          <a:prstGeom prst="rect">
            <a:avLst/>
          </a:prstGeom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800" b="1" dirty="0"/>
              <a:t>Существуют два пути</a:t>
            </a:r>
            <a:r>
              <a:rPr lang="ru-RU" sz="2800" dirty="0"/>
              <a:t>.  </a:t>
            </a:r>
          </a:p>
          <a:p>
            <a:pPr marL="0" indent="0">
              <a:buNone/>
            </a:pPr>
            <a:r>
              <a:rPr lang="ru-RU" sz="2800" b="1" i="1" dirty="0"/>
              <a:t>Во-первых</a:t>
            </a:r>
            <a:r>
              <a:rPr lang="ru-RU" sz="2800" dirty="0"/>
              <a:t>, администратор или сам мобильный пользователь может конфигурировать компьютер вручную каждый раз, когда возникает необходимость подключения к офисной сети. </a:t>
            </a:r>
          </a:p>
          <a:p>
            <a:pPr marL="0" indent="0">
              <a:buNone/>
            </a:pPr>
            <a:r>
              <a:rPr lang="ru-RU" sz="2800" dirty="0"/>
              <a:t>Такой подход требует от администратора или пользовате­лей большого объема рутинной работы, следовательно — это плохое решение. </a:t>
            </a:r>
          </a:p>
          <a:p>
            <a:pPr marL="0" indent="0">
              <a:buNone/>
            </a:pPr>
            <a:r>
              <a:rPr lang="ru-RU" sz="2800" dirty="0"/>
              <a:t>Гораздо привлекательнее выглядят возможности автоматического назначения динамических </a:t>
            </a:r>
            <a:r>
              <a:rPr lang="ru-RU" sz="2800" b="1" dirty="0"/>
              <a:t>DHCP-адресов</a:t>
            </a:r>
            <a:r>
              <a:rPr lang="ru-RU" sz="28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6175547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1356096" y="108343"/>
            <a:ext cx="9144000" cy="10745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 b="1" dirty="0"/>
              <a:t>Режимы </a:t>
            </a:r>
            <a:r>
              <a:rPr lang="en-US" sz="4000" b="1" dirty="0"/>
              <a:t>DHCP</a:t>
            </a:r>
            <a:endParaRPr lang="ru-RU" sz="4000" b="1" dirty="0"/>
          </a:p>
        </p:txBody>
      </p:sp>
      <p:sp>
        <p:nvSpPr>
          <p:cNvPr id="3" name="Объект 2"/>
          <p:cNvSpPr txBox="1">
            <a:spLocks/>
          </p:cNvSpPr>
          <p:nvPr/>
        </p:nvSpPr>
        <p:spPr>
          <a:xfrm>
            <a:off x="1212766" y="1354667"/>
            <a:ext cx="9934205" cy="4978399"/>
          </a:xfrm>
          <a:prstGeom prst="rect">
            <a:avLst/>
          </a:prstGeom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800" dirty="0"/>
              <a:t>Действительно, администратору достаточно один раз при настройке </a:t>
            </a:r>
            <a:r>
              <a:rPr lang="ru-RU" sz="2800" b="1" dirty="0"/>
              <a:t>DHCP-сервера</a:t>
            </a:r>
            <a:r>
              <a:rPr lang="ru-RU" sz="2800" dirty="0"/>
              <a:t> указать диапазон из 64 адресов.</a:t>
            </a:r>
          </a:p>
          <a:p>
            <a:pPr marL="0" indent="0">
              <a:buNone/>
            </a:pPr>
            <a:r>
              <a:rPr lang="ru-RU" sz="2800" dirty="0"/>
              <a:t>А каждый вновь прибывающий мобильный пользователь будет просто физически подключать в сеть свой компьютер, на котором за­пускается </a:t>
            </a:r>
            <a:r>
              <a:rPr lang="ru-RU" sz="2800" b="1" dirty="0"/>
              <a:t>DHCP-клиент</a:t>
            </a:r>
            <a:r>
              <a:rPr lang="ru-RU" sz="2800" dirty="0"/>
              <a:t>. </a:t>
            </a:r>
          </a:p>
          <a:p>
            <a:pPr marL="0" indent="0">
              <a:buNone/>
            </a:pPr>
            <a:r>
              <a:rPr lang="ru-RU" sz="2800" dirty="0"/>
              <a:t>Он запросит конфигурационные параметры и автоматически получит их от </a:t>
            </a:r>
            <a:r>
              <a:rPr lang="ru-RU" sz="2800" b="1" dirty="0"/>
              <a:t>DHCP-сервера</a:t>
            </a:r>
            <a:r>
              <a:rPr lang="ru-RU" sz="2800" dirty="0"/>
              <a:t>. </a:t>
            </a:r>
          </a:p>
          <a:p>
            <a:pPr marL="0" indent="0">
              <a:buNone/>
            </a:pPr>
            <a:r>
              <a:rPr lang="ru-RU" sz="2800" dirty="0"/>
              <a:t>Таким образом, для работы 500 (пятисот) мобильных сотрудников достаточно иметь в офисной сети  64   </a:t>
            </a:r>
            <a:r>
              <a:rPr lang="ru-RU" sz="2800" b="1" dirty="0"/>
              <a:t>IP-адреса  </a:t>
            </a:r>
            <a:r>
              <a:rPr lang="ru-RU" sz="2800" dirty="0"/>
              <a:t> и 64 рабочих места.</a:t>
            </a:r>
          </a:p>
        </p:txBody>
      </p:sp>
    </p:spTree>
    <p:extLst>
      <p:ext uri="{BB962C8B-B14F-4D97-AF65-F5344CB8AC3E}">
        <p14:creationId xmlns:p14="http://schemas.microsoft.com/office/powerpoint/2010/main" val="12595818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598714" y="1940770"/>
            <a:ext cx="10972799" cy="19018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 b="1" dirty="0"/>
              <a:t>Алгоритм динамического назначения адресов</a:t>
            </a:r>
          </a:p>
        </p:txBody>
      </p:sp>
    </p:spTree>
    <p:extLst>
      <p:ext uri="{BB962C8B-B14F-4D97-AF65-F5344CB8AC3E}">
        <p14:creationId xmlns:p14="http://schemas.microsoft.com/office/powerpoint/2010/main" val="36256755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511629" y="108343"/>
            <a:ext cx="11070771" cy="10745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 b="1" dirty="0"/>
              <a:t>Алгоритм динамического назначения адресов</a:t>
            </a:r>
          </a:p>
        </p:txBody>
      </p:sp>
      <p:sp>
        <p:nvSpPr>
          <p:cNvPr id="3" name="Объект 2"/>
          <p:cNvSpPr txBox="1">
            <a:spLocks/>
          </p:cNvSpPr>
          <p:nvPr/>
        </p:nvSpPr>
        <p:spPr>
          <a:xfrm>
            <a:off x="1212766" y="1354667"/>
            <a:ext cx="9934205" cy="4978399"/>
          </a:xfrm>
          <a:prstGeom prst="rect">
            <a:avLst/>
          </a:prstGeom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800" b="1" dirty="0"/>
              <a:t>Администратор</a:t>
            </a:r>
            <a:r>
              <a:rPr lang="ru-RU" sz="2800" dirty="0"/>
              <a:t> управляет процессом конфигурирования сети, определяя  два  основных  конфигурационных  параметра </a:t>
            </a:r>
            <a:r>
              <a:rPr lang="ru-RU" sz="2800" b="1" dirty="0"/>
              <a:t>DHCP-сервера</a:t>
            </a:r>
            <a:r>
              <a:rPr lang="ru-RU" sz="2800" dirty="0"/>
              <a:t>: </a:t>
            </a:r>
          </a:p>
          <a:p>
            <a:pPr marL="0" indent="0">
              <a:buNone/>
            </a:pPr>
            <a:r>
              <a:rPr lang="ru-RU" sz="2800" dirty="0"/>
              <a:t>     -   пул адресов, доступных распределению,</a:t>
            </a:r>
          </a:p>
          <a:p>
            <a:pPr marL="0" indent="0">
              <a:buNone/>
            </a:pPr>
            <a:r>
              <a:rPr lang="ru-RU" sz="2800" dirty="0"/>
              <a:t>     -   срок аренды. </a:t>
            </a:r>
          </a:p>
          <a:p>
            <a:pPr marL="0" indent="0">
              <a:buNone/>
            </a:pPr>
            <a:r>
              <a:rPr lang="ru-RU" sz="2800" dirty="0"/>
              <a:t>Срок аренды диктует, как долго компьютер может использовать назначен­ный </a:t>
            </a:r>
            <a:r>
              <a:rPr lang="ru-RU" sz="2800" b="1" dirty="0"/>
              <a:t>IP-адрес</a:t>
            </a:r>
            <a:r>
              <a:rPr lang="ru-RU" sz="2800" dirty="0"/>
              <a:t>, перед тем как снова запросить его у </a:t>
            </a:r>
            <a:r>
              <a:rPr lang="ru-RU" sz="2800" b="1" dirty="0"/>
              <a:t>DHCP-сервера</a:t>
            </a:r>
            <a:r>
              <a:rPr lang="ru-RU" sz="2800" dirty="0"/>
              <a:t>. </a:t>
            </a:r>
          </a:p>
          <a:p>
            <a:pPr marL="0" indent="0">
              <a:buNone/>
            </a:pPr>
            <a:r>
              <a:rPr lang="ru-RU" sz="2800" dirty="0"/>
              <a:t>Срок аренды зависит от режима работы пользователей сети. </a:t>
            </a:r>
          </a:p>
        </p:txBody>
      </p:sp>
    </p:spTree>
    <p:extLst>
      <p:ext uri="{BB962C8B-B14F-4D97-AF65-F5344CB8AC3E}">
        <p14:creationId xmlns:p14="http://schemas.microsoft.com/office/powerpoint/2010/main" val="32998473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511629" y="108343"/>
            <a:ext cx="11070771" cy="10745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 b="1" dirty="0"/>
              <a:t>Алгоритм динамического назначения адресов</a:t>
            </a:r>
          </a:p>
        </p:txBody>
      </p:sp>
      <p:sp>
        <p:nvSpPr>
          <p:cNvPr id="3" name="Объект 2"/>
          <p:cNvSpPr txBox="1">
            <a:spLocks/>
          </p:cNvSpPr>
          <p:nvPr/>
        </p:nvSpPr>
        <p:spPr>
          <a:xfrm>
            <a:off x="1212766" y="1354667"/>
            <a:ext cx="9934205" cy="4978399"/>
          </a:xfrm>
          <a:prstGeom prst="rect">
            <a:avLst/>
          </a:prstGeom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800" dirty="0"/>
              <a:t>Если это </a:t>
            </a:r>
            <a:r>
              <a:rPr lang="ru-RU" sz="2800" b="1" dirty="0"/>
              <a:t>небольшая сеть </a:t>
            </a:r>
            <a:r>
              <a:rPr lang="ru-RU" sz="2800" dirty="0"/>
              <a:t>учебного заведения, куда со своими компьютерами  приходят многочисленные студенты для  выполнения лабораторных работ, то </a:t>
            </a:r>
            <a:r>
              <a:rPr lang="ru-RU" sz="2800" b="1" dirty="0"/>
              <a:t>срок аренды  </a:t>
            </a:r>
            <a:r>
              <a:rPr lang="ru-RU" sz="2800" dirty="0"/>
              <a:t>может быть равен </a:t>
            </a:r>
            <a:r>
              <a:rPr lang="ru-RU" sz="2800" b="1" dirty="0"/>
              <a:t>длительности лабораторной работы</a:t>
            </a:r>
            <a:r>
              <a:rPr lang="ru-RU" sz="2800" dirty="0"/>
              <a:t>. </a:t>
            </a:r>
          </a:p>
          <a:p>
            <a:pPr marL="0" indent="0">
              <a:buNone/>
            </a:pPr>
            <a:r>
              <a:rPr lang="ru-RU" sz="2800" dirty="0"/>
              <a:t>Если же это </a:t>
            </a:r>
            <a:r>
              <a:rPr lang="ru-RU" sz="2800" b="1" dirty="0"/>
              <a:t>корпоративная сеть</a:t>
            </a:r>
            <a:r>
              <a:rPr lang="ru-RU" sz="2800" dirty="0"/>
              <a:t>, в которой сотрудники предприятия работают на регулярной основе, то </a:t>
            </a:r>
            <a:r>
              <a:rPr lang="ru-RU" sz="2800" b="1" dirty="0"/>
              <a:t>срок аренды </a:t>
            </a:r>
            <a:r>
              <a:rPr lang="ru-RU" sz="2800" dirty="0"/>
              <a:t>может быть достаточно длительным — </a:t>
            </a:r>
            <a:r>
              <a:rPr lang="ru-RU" sz="2800" b="1" dirty="0"/>
              <a:t>несколько дней </a:t>
            </a:r>
            <a:r>
              <a:rPr lang="ru-RU" sz="2800" dirty="0"/>
              <a:t>или даже недель.</a:t>
            </a:r>
          </a:p>
        </p:txBody>
      </p:sp>
    </p:spTree>
    <p:extLst>
      <p:ext uri="{BB962C8B-B14F-4D97-AF65-F5344CB8AC3E}">
        <p14:creationId xmlns:p14="http://schemas.microsoft.com/office/powerpoint/2010/main" val="31587302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511629" y="108343"/>
            <a:ext cx="11070771" cy="10745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 b="1" dirty="0"/>
              <a:t>Алгоритм динамического назначения адресов</a:t>
            </a:r>
          </a:p>
        </p:txBody>
      </p:sp>
      <p:sp>
        <p:nvSpPr>
          <p:cNvPr id="3" name="Объект 2"/>
          <p:cNvSpPr txBox="1">
            <a:spLocks/>
          </p:cNvSpPr>
          <p:nvPr/>
        </p:nvSpPr>
        <p:spPr>
          <a:xfrm>
            <a:off x="1212766" y="1354667"/>
            <a:ext cx="9934205" cy="4978399"/>
          </a:xfrm>
          <a:prstGeom prst="rect">
            <a:avLst/>
          </a:prstGeom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800" b="1" dirty="0"/>
              <a:t>DHCP-сервер</a:t>
            </a:r>
            <a:r>
              <a:rPr lang="ru-RU" sz="2800" dirty="0"/>
              <a:t> должен находиться в одной подсети с клиентами.</a:t>
            </a:r>
          </a:p>
          <a:p>
            <a:pPr marL="0" indent="0">
              <a:buNone/>
            </a:pPr>
            <a:r>
              <a:rPr lang="ru-RU" sz="2800" dirty="0"/>
              <a:t>Нужно учитывать, что клиенты посылают ему широковещательные запросы (как показано на следующем рисунке). </a:t>
            </a:r>
          </a:p>
          <a:p>
            <a:pPr marL="0" indent="0">
              <a:buNone/>
            </a:pPr>
            <a:r>
              <a:rPr lang="ru-RU" sz="2800" dirty="0"/>
              <a:t>Для  снижения  риска  выхода  сети  из  строя  из-за  отказа </a:t>
            </a:r>
            <a:r>
              <a:rPr lang="ru-RU" sz="2800" b="1" dirty="0"/>
              <a:t>DHCP-сервера</a:t>
            </a:r>
            <a:r>
              <a:rPr lang="ru-RU" sz="2800" dirty="0"/>
              <a:t> в сети иногда ставят резервный </a:t>
            </a:r>
            <a:r>
              <a:rPr lang="ru-RU" sz="2800" b="1" dirty="0"/>
              <a:t>DHCP-сервер.</a:t>
            </a:r>
          </a:p>
          <a:p>
            <a:pPr marL="0" indent="0">
              <a:buNone/>
            </a:pPr>
            <a:r>
              <a:rPr lang="ru-RU" sz="2800" dirty="0"/>
              <a:t>Такой вариант соответствует сети 1.</a:t>
            </a:r>
          </a:p>
        </p:txBody>
      </p:sp>
    </p:spTree>
    <p:extLst>
      <p:ext uri="{BB962C8B-B14F-4D97-AF65-F5344CB8AC3E}">
        <p14:creationId xmlns:p14="http://schemas.microsoft.com/office/powerpoint/2010/main" val="29413279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 descr="Вырезка экрана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4425" y="148581"/>
            <a:ext cx="8230749" cy="5973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0778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511629" y="108343"/>
            <a:ext cx="11070771" cy="10745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 b="1" dirty="0"/>
              <a:t>Алгоритм динамического назначения адресов</a:t>
            </a:r>
          </a:p>
        </p:txBody>
      </p:sp>
      <p:sp>
        <p:nvSpPr>
          <p:cNvPr id="3" name="Объект 2"/>
          <p:cNvSpPr txBox="1">
            <a:spLocks/>
          </p:cNvSpPr>
          <p:nvPr/>
        </p:nvSpPr>
        <p:spPr>
          <a:xfrm>
            <a:off x="1212766" y="1354667"/>
            <a:ext cx="9934205" cy="4978399"/>
          </a:xfrm>
          <a:prstGeom prst="rect">
            <a:avLst/>
          </a:prstGeom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800" dirty="0"/>
              <a:t>Иногда наблюдается и обратная картина: в сети нет ни одного </a:t>
            </a:r>
            <a:r>
              <a:rPr lang="ru-RU" sz="2800" b="1" dirty="0"/>
              <a:t>DHCP-сервера</a:t>
            </a:r>
            <a:r>
              <a:rPr lang="ru-RU" sz="2800" dirty="0"/>
              <a:t>. </a:t>
            </a:r>
          </a:p>
          <a:p>
            <a:pPr marL="0" indent="0">
              <a:buNone/>
            </a:pPr>
            <a:r>
              <a:rPr lang="ru-RU" sz="2800" dirty="0"/>
              <a:t>В этом случае его подменяет связной </a:t>
            </a:r>
            <a:r>
              <a:rPr lang="ru-RU" sz="2800" b="1" dirty="0"/>
              <a:t>DHCP-агент.</a:t>
            </a:r>
          </a:p>
          <a:p>
            <a:pPr marL="0" indent="0">
              <a:buNone/>
            </a:pPr>
            <a:r>
              <a:rPr lang="ru-RU" sz="2800" dirty="0"/>
              <a:t>Это программное обеспечение, которое играет роль посредника между </a:t>
            </a:r>
            <a:r>
              <a:rPr lang="ru-RU" sz="2800" b="1" dirty="0"/>
              <a:t>DHCP-клиентами</a:t>
            </a:r>
            <a:r>
              <a:rPr lang="ru-RU" sz="2800" dirty="0"/>
              <a:t> и </a:t>
            </a:r>
            <a:r>
              <a:rPr lang="ru-RU" sz="2800" b="1" dirty="0"/>
              <a:t>DHCP-серверами.</a:t>
            </a:r>
          </a:p>
          <a:p>
            <a:pPr marL="0" indent="0">
              <a:buNone/>
            </a:pPr>
            <a:r>
              <a:rPr lang="ru-RU" sz="2800" dirty="0"/>
              <a:t>Пример такого варианта — сеть 2. </a:t>
            </a:r>
          </a:p>
          <a:p>
            <a:pPr marL="0" indent="0">
              <a:buNone/>
            </a:pPr>
            <a:r>
              <a:rPr lang="ru-RU" sz="2800" dirty="0"/>
              <a:t>Связной  агент  переправляет  запросы  клиентов  из  сети  2 </a:t>
            </a:r>
            <a:r>
              <a:rPr lang="ru-RU" sz="2800" b="1" dirty="0"/>
              <a:t>DHCP-серверу</a:t>
            </a:r>
            <a:r>
              <a:rPr lang="ru-RU" sz="2800" dirty="0"/>
              <a:t>  сети 3. </a:t>
            </a:r>
          </a:p>
          <a:p>
            <a:pPr marL="0" indent="0">
              <a:buNone/>
            </a:pPr>
            <a:r>
              <a:rPr lang="ru-RU" sz="2800" dirty="0"/>
              <a:t>Таким  образом,  один  </a:t>
            </a:r>
            <a:r>
              <a:rPr lang="ru-RU" sz="2800" b="1" dirty="0"/>
              <a:t>DHCP-сервер</a:t>
            </a:r>
            <a:r>
              <a:rPr lang="ru-RU" sz="2800" dirty="0"/>
              <a:t>  может  обслуживать </a:t>
            </a:r>
            <a:r>
              <a:rPr lang="ru-RU" sz="2800" b="1" dirty="0"/>
              <a:t>DHCP-клиентов</a:t>
            </a:r>
            <a:r>
              <a:rPr lang="ru-RU" sz="2800" dirty="0"/>
              <a:t>  нескольких разных сетей.</a:t>
            </a:r>
          </a:p>
        </p:txBody>
      </p:sp>
    </p:spTree>
    <p:extLst>
      <p:ext uri="{BB962C8B-B14F-4D97-AF65-F5344CB8AC3E}">
        <p14:creationId xmlns:p14="http://schemas.microsoft.com/office/powerpoint/2010/main" val="273783523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511629" y="108343"/>
            <a:ext cx="11070771" cy="10745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 b="1" dirty="0"/>
              <a:t>Алгоритм динамического назначения адресов</a:t>
            </a:r>
          </a:p>
        </p:txBody>
      </p:sp>
      <p:sp>
        <p:nvSpPr>
          <p:cNvPr id="3" name="Объект 2"/>
          <p:cNvSpPr txBox="1">
            <a:spLocks/>
          </p:cNvSpPr>
          <p:nvPr/>
        </p:nvSpPr>
        <p:spPr>
          <a:xfrm>
            <a:off x="1212766" y="1354667"/>
            <a:ext cx="9934205" cy="4978399"/>
          </a:xfrm>
          <a:prstGeom prst="rect">
            <a:avLst/>
          </a:prstGeom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800" dirty="0"/>
              <a:t>Вот как выглядит упрощенная схема обмена сообщениями между клиентскими и сервер­ными частями </a:t>
            </a:r>
            <a:r>
              <a:rPr lang="ru-RU" sz="2800" b="1" dirty="0"/>
              <a:t>DHCP</a:t>
            </a:r>
            <a:r>
              <a:rPr lang="ru-RU" sz="2800" dirty="0"/>
              <a:t>.</a:t>
            </a:r>
          </a:p>
          <a:p>
            <a:pPr marL="0" indent="0">
              <a:buNone/>
            </a:pPr>
            <a:r>
              <a:rPr lang="ru-RU" sz="2800" dirty="0"/>
              <a:t>   1.    Когда  компьютер  включают,  установленный  на  нем </a:t>
            </a:r>
            <a:r>
              <a:rPr lang="ru-RU" sz="2800" b="1" dirty="0"/>
              <a:t>DHCP-клиент</a:t>
            </a:r>
            <a:r>
              <a:rPr lang="ru-RU" sz="2800" dirty="0"/>
              <a:t> посылает ограни­ченное широковещательное сообщение </a:t>
            </a:r>
            <a:r>
              <a:rPr lang="ru-RU" sz="2800" b="1" dirty="0"/>
              <a:t>DHCP-поиска.</a:t>
            </a:r>
          </a:p>
          <a:p>
            <a:pPr marL="0" indent="0">
              <a:buNone/>
            </a:pPr>
            <a:r>
              <a:rPr lang="ru-RU" sz="2800" dirty="0"/>
              <a:t>Им  является  </a:t>
            </a:r>
            <a:r>
              <a:rPr lang="ru-RU" sz="2800" b="1" dirty="0"/>
              <a:t>IP-пакет</a:t>
            </a:r>
            <a:r>
              <a:rPr lang="ru-RU" sz="2800" dirty="0"/>
              <a:t> с адресом назначения, состоящим из одних единиц, который должен быть доставлен всем узлам данной </a:t>
            </a:r>
            <a:r>
              <a:rPr lang="ru-RU" sz="2800" b="1" dirty="0"/>
              <a:t>IP- сети</a:t>
            </a:r>
            <a:r>
              <a:rPr lang="ru-RU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163616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511629" y="108343"/>
            <a:ext cx="11070771" cy="10745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 b="1" dirty="0"/>
              <a:t>Алгоритм динамического назначения адресов</a:t>
            </a:r>
          </a:p>
        </p:txBody>
      </p:sp>
      <p:sp>
        <p:nvSpPr>
          <p:cNvPr id="3" name="Объект 2"/>
          <p:cNvSpPr txBox="1">
            <a:spLocks/>
          </p:cNvSpPr>
          <p:nvPr/>
        </p:nvSpPr>
        <p:spPr>
          <a:xfrm>
            <a:off x="1212766" y="1354667"/>
            <a:ext cx="9934205" cy="4978399"/>
          </a:xfrm>
          <a:prstGeom prst="rect">
            <a:avLst/>
          </a:prstGeom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800" dirty="0"/>
              <a:t>   2.   Находящиеся в сети </a:t>
            </a:r>
            <a:r>
              <a:rPr lang="ru-RU" sz="2800" b="1" dirty="0"/>
              <a:t>DHCP-серверы</a:t>
            </a:r>
            <a:r>
              <a:rPr lang="ru-RU" sz="2800" dirty="0"/>
              <a:t> получают это сообщение. </a:t>
            </a:r>
          </a:p>
          <a:p>
            <a:pPr marL="0" indent="0">
              <a:buNone/>
            </a:pPr>
            <a:r>
              <a:rPr lang="ru-RU" sz="2800" dirty="0"/>
              <a:t>Если  в  сети  </a:t>
            </a:r>
            <a:r>
              <a:rPr lang="ru-RU" sz="2800" b="1" dirty="0"/>
              <a:t>DHCP-серверы</a:t>
            </a:r>
            <a:r>
              <a:rPr lang="ru-RU" sz="2800" dirty="0"/>
              <a:t>  отсутствуют,  то  сообщение   </a:t>
            </a:r>
            <a:r>
              <a:rPr lang="ru-RU" sz="2800" b="1" dirty="0"/>
              <a:t>DHCP-поиска</a:t>
            </a:r>
            <a:r>
              <a:rPr lang="ru-RU" sz="2800" dirty="0"/>
              <a:t>  получает  связной  </a:t>
            </a:r>
            <a:r>
              <a:rPr lang="ru-RU" sz="2800" b="1" dirty="0"/>
              <a:t>DHCP-агент</a:t>
            </a:r>
            <a:r>
              <a:rPr lang="ru-RU" sz="2800" dirty="0"/>
              <a:t>. </a:t>
            </a:r>
          </a:p>
          <a:p>
            <a:pPr marL="0" indent="0">
              <a:buNone/>
            </a:pPr>
            <a:r>
              <a:rPr lang="ru-RU" sz="2800" dirty="0"/>
              <a:t>Он пересылает это сообщение в другую, возможно, значительно отстоящую от него сеть </a:t>
            </a:r>
            <a:r>
              <a:rPr lang="ru-RU" sz="2800" b="1" dirty="0"/>
              <a:t>DHCP-серверу</a:t>
            </a:r>
            <a:r>
              <a:rPr lang="ru-RU" sz="2800" dirty="0"/>
              <a:t>, </a:t>
            </a:r>
            <a:r>
              <a:rPr lang="ru-RU" sz="2800" b="1" dirty="0"/>
              <a:t>IP-адрес</a:t>
            </a:r>
            <a:r>
              <a:rPr lang="ru-RU" sz="2800" dirty="0"/>
              <a:t> которого ему заранее известен.</a:t>
            </a:r>
          </a:p>
        </p:txBody>
      </p:sp>
    </p:spTree>
    <p:extLst>
      <p:ext uri="{BB962C8B-B14F-4D97-AF65-F5344CB8AC3E}">
        <p14:creationId xmlns:p14="http://schemas.microsoft.com/office/powerpoint/2010/main" val="412754887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511629" y="108343"/>
            <a:ext cx="11070771" cy="10745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 b="1" dirty="0"/>
              <a:t>Алгоритм динамического назначения адресов</a:t>
            </a:r>
          </a:p>
        </p:txBody>
      </p:sp>
      <p:sp>
        <p:nvSpPr>
          <p:cNvPr id="3" name="Объект 2"/>
          <p:cNvSpPr txBox="1">
            <a:spLocks/>
          </p:cNvSpPr>
          <p:nvPr/>
        </p:nvSpPr>
        <p:spPr>
          <a:xfrm>
            <a:off x="1212766" y="1354667"/>
            <a:ext cx="9934205" cy="4978399"/>
          </a:xfrm>
          <a:prstGeom prst="rect">
            <a:avLst/>
          </a:prstGeom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800" dirty="0"/>
              <a:t>   3.   Все </a:t>
            </a:r>
            <a:r>
              <a:rPr lang="ru-RU" sz="2800" b="1" dirty="0"/>
              <a:t>DHCP-серверы</a:t>
            </a:r>
            <a:r>
              <a:rPr lang="ru-RU" sz="2800" dirty="0"/>
              <a:t>, получившие сообщение </a:t>
            </a:r>
            <a:r>
              <a:rPr lang="ru-RU" sz="2800" b="1" dirty="0"/>
              <a:t>DHCP-поиска</a:t>
            </a:r>
            <a:r>
              <a:rPr lang="ru-RU" sz="2800" dirty="0"/>
              <a:t>, посылают</a:t>
            </a:r>
            <a:r>
              <a:rPr lang="ru-RU" sz="2800" b="1" dirty="0"/>
              <a:t> DHCP-клиенту</a:t>
            </a:r>
            <a:r>
              <a:rPr lang="ru-RU" sz="2800" dirty="0"/>
              <a:t>, обратившемуся с запросом, свои </a:t>
            </a:r>
            <a:r>
              <a:rPr lang="ru-RU" sz="2800" b="1" dirty="0"/>
              <a:t>DHCP-предложения</a:t>
            </a:r>
            <a:r>
              <a:rPr lang="ru-RU" sz="2800" dirty="0"/>
              <a:t>. </a:t>
            </a:r>
          </a:p>
          <a:p>
            <a:pPr marL="0" indent="0">
              <a:buNone/>
            </a:pPr>
            <a:r>
              <a:rPr lang="ru-RU" sz="2800" dirty="0"/>
              <a:t>Каждое предложение содержит </a:t>
            </a:r>
            <a:r>
              <a:rPr lang="ru-RU" sz="2800" b="1" dirty="0"/>
              <a:t>IP-адрес</a:t>
            </a:r>
            <a:r>
              <a:rPr lang="ru-RU" sz="2800" dirty="0"/>
              <a:t> и другую конфигурационную информацию. </a:t>
            </a:r>
          </a:p>
          <a:p>
            <a:pPr marL="0" indent="0">
              <a:buNone/>
            </a:pPr>
            <a:r>
              <a:rPr lang="ru-RU" sz="2800" b="1" dirty="0"/>
              <a:t>DHCP-сервер</a:t>
            </a:r>
            <a:r>
              <a:rPr lang="ru-RU" sz="2800" dirty="0"/>
              <a:t>, находящийся в другой сети, посылает ответ через </a:t>
            </a:r>
            <a:r>
              <a:rPr lang="ru-RU" sz="2800" b="1" dirty="0"/>
              <a:t>DHCP-агента</a:t>
            </a:r>
            <a:r>
              <a:rPr lang="ru-RU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8536893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511629" y="108343"/>
            <a:ext cx="11070771" cy="10745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 b="1" dirty="0"/>
              <a:t>Алгоритм динамического назначения адресов</a:t>
            </a:r>
          </a:p>
        </p:txBody>
      </p:sp>
      <p:sp>
        <p:nvSpPr>
          <p:cNvPr id="3" name="Объект 2"/>
          <p:cNvSpPr txBox="1">
            <a:spLocks/>
          </p:cNvSpPr>
          <p:nvPr/>
        </p:nvSpPr>
        <p:spPr>
          <a:xfrm>
            <a:off x="1212766" y="1354667"/>
            <a:ext cx="9934205" cy="4978399"/>
          </a:xfrm>
          <a:prstGeom prst="rect">
            <a:avLst/>
          </a:prstGeom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800" dirty="0"/>
              <a:t>   4.   </a:t>
            </a:r>
            <a:r>
              <a:rPr lang="ru-RU" sz="2800" b="1" dirty="0"/>
              <a:t>DHCP-клиент</a:t>
            </a:r>
            <a:r>
              <a:rPr lang="ru-RU" sz="2800" dirty="0"/>
              <a:t>   собирает   конфигурационные                   </a:t>
            </a:r>
            <a:r>
              <a:rPr lang="ru-RU" sz="2800" b="1" dirty="0"/>
              <a:t>DHCP-предложения</a:t>
            </a:r>
            <a:r>
              <a:rPr lang="ru-RU" sz="2800" dirty="0"/>
              <a:t> от всех </a:t>
            </a:r>
            <a:r>
              <a:rPr lang="ru-RU" sz="2800" b="1" dirty="0"/>
              <a:t>DHCP-</a:t>
            </a:r>
            <a:r>
              <a:rPr lang="ru-RU" sz="2800" b="1" dirty="0" err="1"/>
              <a:t>cepверов</a:t>
            </a:r>
            <a:r>
              <a:rPr lang="ru-RU" sz="2800" dirty="0"/>
              <a:t>. </a:t>
            </a:r>
          </a:p>
          <a:p>
            <a:pPr marL="0" indent="0">
              <a:buNone/>
            </a:pPr>
            <a:r>
              <a:rPr lang="ru-RU" sz="2800" dirty="0"/>
              <a:t>Как правило, он выбирает первое из поступивших предложений  и  отправляет  в  сеть  широковещательный </a:t>
            </a:r>
            <a:r>
              <a:rPr lang="ru-RU" sz="2800" b="1" dirty="0"/>
              <a:t>DHCP-запрос</a:t>
            </a:r>
            <a:r>
              <a:rPr lang="ru-RU" sz="2800" dirty="0"/>
              <a:t>. </a:t>
            </a:r>
          </a:p>
          <a:p>
            <a:pPr marL="0" indent="0">
              <a:buNone/>
            </a:pPr>
            <a:r>
              <a:rPr lang="ru-RU" sz="2800" dirty="0"/>
              <a:t>В этом запросе содержатся идентификаци­онная информация о </a:t>
            </a:r>
            <a:r>
              <a:rPr lang="ru-RU" sz="2800" b="1" dirty="0"/>
              <a:t>DHCP-сервере</a:t>
            </a:r>
            <a:r>
              <a:rPr lang="ru-RU" sz="2800" dirty="0"/>
              <a:t>, предложение которого принято, а также значения принятых конфигурационных параметров.</a:t>
            </a:r>
          </a:p>
        </p:txBody>
      </p:sp>
    </p:spTree>
    <p:extLst>
      <p:ext uri="{BB962C8B-B14F-4D97-AF65-F5344CB8AC3E}">
        <p14:creationId xmlns:p14="http://schemas.microsoft.com/office/powerpoint/2010/main" val="326780503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511629" y="108343"/>
            <a:ext cx="11070771" cy="10745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 b="1" dirty="0"/>
              <a:t>Алгоритм динамического назначения адресов</a:t>
            </a:r>
          </a:p>
        </p:txBody>
      </p:sp>
      <p:sp>
        <p:nvSpPr>
          <p:cNvPr id="3" name="Объект 2"/>
          <p:cNvSpPr txBox="1">
            <a:spLocks/>
          </p:cNvSpPr>
          <p:nvPr/>
        </p:nvSpPr>
        <p:spPr>
          <a:xfrm>
            <a:off x="1212766" y="1354667"/>
            <a:ext cx="9934205" cy="4978399"/>
          </a:xfrm>
          <a:prstGeom prst="rect">
            <a:avLst/>
          </a:prstGeom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800" dirty="0"/>
              <a:t>   5.   Все </a:t>
            </a:r>
            <a:r>
              <a:rPr lang="ru-RU" sz="2800" b="1" dirty="0"/>
              <a:t>DHCP-серверы</a:t>
            </a:r>
            <a:r>
              <a:rPr lang="ru-RU" sz="2800" dirty="0"/>
              <a:t> получают </a:t>
            </a:r>
            <a:r>
              <a:rPr lang="ru-RU" sz="2800" b="1" dirty="0"/>
              <a:t>DHCP-запрос</a:t>
            </a:r>
            <a:r>
              <a:rPr lang="ru-RU" sz="2800" dirty="0"/>
              <a:t>, и только один выбранный   </a:t>
            </a:r>
            <a:r>
              <a:rPr lang="ru-RU" sz="2800" b="1" dirty="0"/>
              <a:t>DHCP-сервер</a:t>
            </a:r>
            <a:r>
              <a:rPr lang="ru-RU" sz="2800" dirty="0"/>
              <a:t>   посылает   положительную       </a:t>
            </a:r>
            <a:r>
              <a:rPr lang="ru-RU" sz="2800" b="1" dirty="0"/>
              <a:t>DHCP-квитанцию</a:t>
            </a:r>
            <a:r>
              <a:rPr lang="ru-RU" sz="2800" dirty="0"/>
              <a:t>, подтверждающую </a:t>
            </a:r>
            <a:r>
              <a:rPr lang="ru-RU" sz="2800" b="1" dirty="0"/>
              <a:t>IP-адреса</a:t>
            </a:r>
            <a:r>
              <a:rPr lang="ru-RU" sz="2800" dirty="0"/>
              <a:t> и параметры аренды.</a:t>
            </a:r>
          </a:p>
          <a:p>
            <a:pPr marL="0" indent="0">
              <a:buNone/>
            </a:pPr>
            <a:r>
              <a:rPr lang="ru-RU" sz="2800" dirty="0"/>
              <a:t>А остальные серверы аннулируют свои предложения, в частности возвращают в свои пулы предложенные адреса.</a:t>
            </a:r>
          </a:p>
          <a:p>
            <a:pPr marL="0" indent="0">
              <a:buNone/>
            </a:pPr>
            <a:endParaRPr lang="ru-RU" sz="2800" dirty="0"/>
          </a:p>
          <a:p>
            <a:pPr marL="0" indent="0">
              <a:buNone/>
            </a:pPr>
            <a:r>
              <a:rPr lang="ru-RU" sz="2800" dirty="0"/>
              <a:t>   6.   </a:t>
            </a:r>
            <a:r>
              <a:rPr lang="ru-RU" sz="2800" b="1" dirty="0"/>
              <a:t>DHCP-клиент</a:t>
            </a:r>
            <a:r>
              <a:rPr lang="ru-RU" sz="2800" dirty="0"/>
              <a:t> получает положительную </a:t>
            </a:r>
            <a:r>
              <a:rPr lang="ru-RU" sz="2800" b="1" dirty="0"/>
              <a:t>DHCP-квитанцию</a:t>
            </a:r>
            <a:r>
              <a:rPr lang="ru-RU" sz="2800" dirty="0"/>
              <a:t> и переходит в рабочее со­стояние.</a:t>
            </a:r>
          </a:p>
        </p:txBody>
      </p:sp>
    </p:spTree>
    <p:extLst>
      <p:ext uri="{BB962C8B-B14F-4D97-AF65-F5344CB8AC3E}">
        <p14:creationId xmlns:p14="http://schemas.microsoft.com/office/powerpoint/2010/main" val="323962396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511629" y="108343"/>
            <a:ext cx="11070771" cy="10745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 b="1" dirty="0"/>
              <a:t>Алгоритм динамического назначения адресов</a:t>
            </a:r>
          </a:p>
        </p:txBody>
      </p:sp>
      <p:sp>
        <p:nvSpPr>
          <p:cNvPr id="3" name="Объект 2"/>
          <p:cNvSpPr txBox="1">
            <a:spLocks/>
          </p:cNvSpPr>
          <p:nvPr/>
        </p:nvSpPr>
        <p:spPr>
          <a:xfrm>
            <a:off x="1212766" y="1354667"/>
            <a:ext cx="9934205" cy="4978399"/>
          </a:xfrm>
          <a:prstGeom prst="rect">
            <a:avLst/>
          </a:prstGeom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800" dirty="0"/>
              <a:t>Время от времени компьютер пытается обновить параметры аренды у </a:t>
            </a:r>
            <a:r>
              <a:rPr lang="ru-RU" sz="2800" b="1" dirty="0"/>
              <a:t>DHCP-сервера</a:t>
            </a:r>
            <a:r>
              <a:rPr lang="ru-RU" sz="2800" dirty="0"/>
              <a:t>. </a:t>
            </a:r>
          </a:p>
          <a:p>
            <a:pPr marL="0" indent="0">
              <a:buNone/>
            </a:pPr>
            <a:r>
              <a:rPr lang="ru-RU" sz="2800" dirty="0"/>
              <a:t>Первую попытку он делает задолго </a:t>
            </a:r>
            <a:r>
              <a:rPr lang="ru-RU" sz="2800" b="1" dirty="0"/>
              <a:t>до истечения срока аренды</a:t>
            </a:r>
            <a:r>
              <a:rPr lang="ru-RU" sz="2800" dirty="0"/>
              <a:t>, обращаясь к тому серверу, от которого он получил текущие параметры. </a:t>
            </a:r>
          </a:p>
          <a:p>
            <a:pPr marL="0" indent="0">
              <a:buNone/>
            </a:pPr>
            <a:r>
              <a:rPr lang="ru-RU" sz="2800" dirty="0"/>
              <a:t>Если ответа нет или ответ отрицательный, он через некоторое время </a:t>
            </a:r>
            <a:r>
              <a:rPr lang="ru-RU" sz="2800" b="1" dirty="0"/>
              <a:t>снова посылает запрос</a:t>
            </a:r>
            <a:r>
              <a:rPr lang="ru-RU" sz="2800" dirty="0"/>
              <a:t>. </a:t>
            </a:r>
          </a:p>
          <a:p>
            <a:pPr marL="0" indent="0">
              <a:buNone/>
            </a:pPr>
            <a:r>
              <a:rPr lang="ru-RU" sz="2800" dirty="0"/>
              <a:t>Так повторяется </a:t>
            </a:r>
            <a:r>
              <a:rPr lang="ru-RU" sz="2800" b="1" dirty="0"/>
              <a:t>несколько раз</a:t>
            </a:r>
            <a:r>
              <a:rPr lang="ru-RU" sz="2800" dirty="0"/>
              <a:t>, и если все попытки получить параметры у того же сервера оказываются безуспешными, клиент </a:t>
            </a:r>
            <a:r>
              <a:rPr lang="ru-RU" sz="2800" b="1" dirty="0"/>
              <a:t>обращается к другому серверу</a:t>
            </a:r>
            <a:r>
              <a:rPr lang="ru-RU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0488383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511629" y="108343"/>
            <a:ext cx="11070771" cy="10745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 b="1" dirty="0"/>
              <a:t>Алгоритм динамического назначения адресов</a:t>
            </a:r>
          </a:p>
        </p:txBody>
      </p:sp>
      <p:sp>
        <p:nvSpPr>
          <p:cNvPr id="3" name="Объект 2"/>
          <p:cNvSpPr txBox="1">
            <a:spLocks/>
          </p:cNvSpPr>
          <p:nvPr/>
        </p:nvSpPr>
        <p:spPr>
          <a:xfrm>
            <a:off x="1212766" y="1354667"/>
            <a:ext cx="9934205" cy="4978399"/>
          </a:xfrm>
          <a:prstGeom prst="rect">
            <a:avLst/>
          </a:prstGeom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800" dirty="0"/>
              <a:t>Если и другой сервер </a:t>
            </a:r>
            <a:r>
              <a:rPr lang="ru-RU" sz="2800" b="1" dirty="0"/>
              <a:t>отвечает отказом</a:t>
            </a:r>
            <a:r>
              <a:rPr lang="ru-RU" sz="2800" dirty="0"/>
              <a:t>, то клиент </a:t>
            </a:r>
            <a:r>
              <a:rPr lang="ru-RU" sz="2800" b="1" dirty="0"/>
              <a:t>теряет</a:t>
            </a:r>
            <a:r>
              <a:rPr lang="ru-RU" sz="2800" dirty="0"/>
              <a:t> свои конфигурационные параметры и переходит в режим автономной работы.</a:t>
            </a:r>
          </a:p>
          <a:p>
            <a:pPr marL="0" indent="0">
              <a:buNone/>
            </a:pPr>
            <a:r>
              <a:rPr lang="ru-RU" sz="2800" dirty="0"/>
              <a:t>Также </a:t>
            </a:r>
            <a:r>
              <a:rPr lang="ru-RU" sz="2800" b="1" dirty="0"/>
              <a:t>DHCP-клиент</a:t>
            </a:r>
            <a:r>
              <a:rPr lang="ru-RU" sz="2800" dirty="0"/>
              <a:t> может по своей инициативе </a:t>
            </a:r>
            <a:r>
              <a:rPr lang="ru-RU" sz="2800" b="1" dirty="0"/>
              <a:t>досрочно отказаться</a:t>
            </a:r>
            <a:r>
              <a:rPr lang="ru-RU" sz="2800" dirty="0"/>
              <a:t> от выделенных ему параметров.</a:t>
            </a:r>
          </a:p>
          <a:p>
            <a:pPr marL="0" indent="0">
              <a:buNone/>
            </a:pPr>
            <a:r>
              <a:rPr lang="ru-RU" sz="2800" dirty="0"/>
              <a:t>В сети, где адреса назначаются динамически, нельзя быть уверенным в адресе, который в данный момент имеет тот или иной узел. </a:t>
            </a:r>
          </a:p>
          <a:p>
            <a:pPr marL="0" indent="0">
              <a:buNone/>
            </a:pPr>
            <a:r>
              <a:rPr lang="ru-RU" sz="2800" dirty="0"/>
              <a:t>И такое непостоянство </a:t>
            </a:r>
            <a:r>
              <a:rPr lang="ru-RU" sz="2800" b="1" dirty="0"/>
              <a:t>IP-адресов</a:t>
            </a:r>
            <a:r>
              <a:rPr lang="ru-RU" sz="2800" dirty="0"/>
              <a:t> влечет за собой некоторые проблемы.</a:t>
            </a:r>
          </a:p>
        </p:txBody>
      </p:sp>
    </p:spTree>
    <p:extLst>
      <p:ext uri="{BB962C8B-B14F-4D97-AF65-F5344CB8AC3E}">
        <p14:creationId xmlns:p14="http://schemas.microsoft.com/office/powerpoint/2010/main" val="62007105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511629" y="108343"/>
            <a:ext cx="11070771" cy="10745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 b="1" dirty="0"/>
              <a:t>Алгоритм динамического назначения адресов</a:t>
            </a:r>
          </a:p>
        </p:txBody>
      </p:sp>
      <p:sp>
        <p:nvSpPr>
          <p:cNvPr id="3" name="Объект 2"/>
          <p:cNvSpPr txBox="1">
            <a:spLocks/>
          </p:cNvSpPr>
          <p:nvPr/>
        </p:nvSpPr>
        <p:spPr>
          <a:xfrm>
            <a:off x="1212766" y="1354667"/>
            <a:ext cx="9934205" cy="4978399"/>
          </a:xfrm>
          <a:prstGeom prst="rect">
            <a:avLst/>
          </a:prstGeom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800" b="1" i="1" dirty="0"/>
              <a:t>Во-первых</a:t>
            </a:r>
            <a:r>
              <a:rPr lang="ru-RU" sz="2800" dirty="0"/>
              <a:t>, возникают сложности при преобразовании символьного доменного имени в </a:t>
            </a:r>
            <a:r>
              <a:rPr lang="ru-RU" sz="2800" b="1" dirty="0"/>
              <a:t>IP-адрес</a:t>
            </a:r>
            <a:r>
              <a:rPr lang="ru-RU" sz="2800" dirty="0"/>
              <a:t>. </a:t>
            </a:r>
          </a:p>
          <a:p>
            <a:pPr marL="0" indent="0">
              <a:buNone/>
            </a:pPr>
            <a:r>
              <a:rPr lang="ru-RU" sz="2800" dirty="0"/>
              <a:t>Действительно, представьте себе функционирование системы </a:t>
            </a:r>
            <a:r>
              <a:rPr lang="ru-RU" sz="2800" b="1" dirty="0"/>
              <a:t>DNS</a:t>
            </a:r>
            <a:r>
              <a:rPr lang="ru-RU" sz="2800" dirty="0"/>
              <a:t>, которая должна поддерживать таблицы соответствия символьных имен </a:t>
            </a:r>
            <a:r>
              <a:rPr lang="ru-RU" sz="2800" b="1" dirty="0"/>
              <a:t>IP-адресам</a:t>
            </a:r>
            <a:r>
              <a:rPr lang="ru-RU" sz="2800" dirty="0"/>
              <a:t> в условиях, когда по­следние меняются каждые два часа! </a:t>
            </a:r>
          </a:p>
          <a:p>
            <a:pPr marL="0" indent="0">
              <a:buNone/>
            </a:pPr>
            <a:r>
              <a:rPr lang="ru-RU" sz="2800" dirty="0"/>
              <a:t>Учитывая это обстоятельство, для серверов, к которым пользователи часто обращаются по символьному имени, назначают статические </a:t>
            </a:r>
            <a:r>
              <a:rPr lang="en-US" sz="2800" b="1" dirty="0"/>
              <a:t>I</a:t>
            </a:r>
            <a:r>
              <a:rPr lang="ru-RU" sz="2800" b="1" dirty="0"/>
              <a:t>Р-адреса</a:t>
            </a:r>
            <a:r>
              <a:rPr lang="ru-RU" sz="2800" dirty="0"/>
              <a:t>, оставляя динамические только для клиентских компьютеров.</a:t>
            </a:r>
          </a:p>
        </p:txBody>
      </p:sp>
    </p:spTree>
    <p:extLst>
      <p:ext uri="{BB962C8B-B14F-4D97-AF65-F5344CB8AC3E}">
        <p14:creationId xmlns:p14="http://schemas.microsoft.com/office/powerpoint/2010/main" val="58129969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511629" y="108343"/>
            <a:ext cx="11070771" cy="10745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 b="1" dirty="0"/>
              <a:t>Алгоритм динамического назначения адресов</a:t>
            </a:r>
          </a:p>
        </p:txBody>
      </p:sp>
      <p:sp>
        <p:nvSpPr>
          <p:cNvPr id="3" name="Объект 2"/>
          <p:cNvSpPr txBox="1">
            <a:spLocks/>
          </p:cNvSpPr>
          <p:nvPr/>
        </p:nvSpPr>
        <p:spPr>
          <a:xfrm>
            <a:off x="1212766" y="1354667"/>
            <a:ext cx="9934205" cy="4978399"/>
          </a:xfrm>
          <a:prstGeom prst="rect">
            <a:avLst/>
          </a:prstGeom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800" dirty="0"/>
              <a:t>Однако в некоторых сетях количество серверов настолько </a:t>
            </a:r>
            <a:r>
              <a:rPr lang="ru-RU" sz="2800" b="1" dirty="0"/>
              <a:t>велико</a:t>
            </a:r>
            <a:r>
              <a:rPr lang="ru-RU" sz="2800" dirty="0"/>
              <a:t>, что их ручное конфигурирование становится слишком </a:t>
            </a:r>
            <a:r>
              <a:rPr lang="ru-RU" sz="2800" b="1" dirty="0"/>
              <a:t>обременительным</a:t>
            </a:r>
            <a:r>
              <a:rPr lang="ru-RU" sz="2800" dirty="0"/>
              <a:t>. </a:t>
            </a:r>
            <a:endParaRPr lang="en-US" sz="2800" dirty="0"/>
          </a:p>
          <a:p>
            <a:pPr marL="0" indent="0">
              <a:buNone/>
            </a:pPr>
            <a:r>
              <a:rPr lang="ru-RU" sz="2800" dirty="0"/>
              <a:t>Это привело к разработке усовершенствованной версии </a:t>
            </a:r>
            <a:r>
              <a:rPr lang="ru-RU" sz="2800" b="1" dirty="0"/>
              <a:t>DNS</a:t>
            </a:r>
            <a:r>
              <a:rPr lang="en-US" sz="2800" dirty="0"/>
              <a:t>,</a:t>
            </a:r>
            <a:r>
              <a:rPr lang="ru-RU" sz="2800" dirty="0"/>
              <a:t> так называемой динамической системы </a:t>
            </a:r>
            <a:r>
              <a:rPr lang="ru-RU" sz="2800" b="1" dirty="0"/>
              <a:t>DNS</a:t>
            </a:r>
            <a:r>
              <a:rPr lang="en-US" sz="2800" dirty="0"/>
              <a:t>.</a:t>
            </a:r>
          </a:p>
          <a:p>
            <a:pPr marL="0" indent="0">
              <a:buNone/>
            </a:pPr>
            <a:r>
              <a:rPr lang="ru-RU" sz="2800" dirty="0"/>
              <a:t>В основе этой версии лежит согласование ин­формационной адресной базы в службах </a:t>
            </a:r>
            <a:r>
              <a:rPr lang="ru-RU" sz="2800" b="1" dirty="0"/>
              <a:t>DHCP</a:t>
            </a:r>
            <a:r>
              <a:rPr lang="ru-RU" sz="2800" dirty="0"/>
              <a:t> и </a:t>
            </a:r>
            <a:r>
              <a:rPr lang="ru-RU" sz="2800" b="1" dirty="0"/>
              <a:t>DNS</a:t>
            </a:r>
            <a:r>
              <a:rPr lang="ru-RU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2607443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511629" y="108343"/>
            <a:ext cx="11070771" cy="10745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 b="1" dirty="0"/>
              <a:t>Алгоритм динамического назначения адресов</a:t>
            </a:r>
          </a:p>
        </p:txBody>
      </p:sp>
      <p:sp>
        <p:nvSpPr>
          <p:cNvPr id="3" name="Объект 2"/>
          <p:cNvSpPr txBox="1">
            <a:spLocks/>
          </p:cNvSpPr>
          <p:nvPr/>
        </p:nvSpPr>
        <p:spPr>
          <a:xfrm>
            <a:off x="1212766" y="1354667"/>
            <a:ext cx="9934205" cy="4978399"/>
          </a:xfrm>
          <a:prstGeom prst="rect">
            <a:avLst/>
          </a:prstGeom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800" b="1" i="1" dirty="0"/>
              <a:t>Во-вторых</a:t>
            </a:r>
            <a:r>
              <a:rPr lang="ru-RU" sz="2800" dirty="0"/>
              <a:t>, трудно осуществлять </a:t>
            </a:r>
            <a:r>
              <a:rPr lang="ru-RU" sz="2800" b="1" dirty="0"/>
              <a:t>удаленное управление </a:t>
            </a:r>
            <a:r>
              <a:rPr lang="ru-RU" sz="2800" dirty="0"/>
              <a:t>и </a:t>
            </a:r>
            <a:r>
              <a:rPr lang="ru-RU" sz="2800" b="1" dirty="0"/>
              <a:t>автоматический мониторинг интерфейса</a:t>
            </a:r>
            <a:r>
              <a:rPr lang="ru-RU" sz="2800" dirty="0"/>
              <a:t>, например, сбор статистики, если в качестве его идентификатора выступает динамически изменяемый </a:t>
            </a:r>
            <a:r>
              <a:rPr lang="en-US" sz="2800" b="1" dirty="0"/>
              <a:t>I</a:t>
            </a:r>
            <a:r>
              <a:rPr lang="ru-RU" sz="2800" b="1" dirty="0"/>
              <a:t>Р-адрес</a:t>
            </a:r>
            <a:r>
              <a:rPr lang="ru-RU" sz="2800" dirty="0"/>
              <a:t>.</a:t>
            </a:r>
            <a:endParaRPr lang="en-US" sz="2800" dirty="0"/>
          </a:p>
          <a:p>
            <a:pPr marL="0" indent="0">
              <a:buNone/>
            </a:pPr>
            <a:r>
              <a:rPr lang="ru-RU" sz="2800" dirty="0"/>
              <a:t>Статические адреса позволяют администраторам удаленно управлять устройствами – до них проще получить доступ к устройству, когда они могут легко определить его </a:t>
            </a:r>
            <a:r>
              <a:rPr lang="ru-RU" sz="2800" b="1" dirty="0"/>
              <a:t>IP-адрес</a:t>
            </a:r>
            <a:r>
              <a:rPr lang="ru-RU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8503953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511629" y="108343"/>
            <a:ext cx="11070771" cy="10745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 b="1" dirty="0"/>
              <a:t>Алгоритм динамического назначения адресов</a:t>
            </a:r>
          </a:p>
        </p:txBody>
      </p:sp>
      <p:sp>
        <p:nvSpPr>
          <p:cNvPr id="3" name="Объект 2"/>
          <p:cNvSpPr txBox="1">
            <a:spLocks/>
          </p:cNvSpPr>
          <p:nvPr/>
        </p:nvSpPr>
        <p:spPr>
          <a:xfrm>
            <a:off x="1212766" y="1182915"/>
            <a:ext cx="9934205" cy="5150152"/>
          </a:xfrm>
          <a:prstGeom prst="rect">
            <a:avLst/>
          </a:prstGeom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800" dirty="0"/>
              <a:t>Обычно статические адреса назначают устройствам, которые предоставляют услуги пользователям в сети. </a:t>
            </a:r>
          </a:p>
          <a:p>
            <a:pPr marL="0" indent="0">
              <a:buNone/>
            </a:pPr>
            <a:r>
              <a:rPr lang="ru-RU" sz="2800" dirty="0"/>
              <a:t>Ими могут быть:</a:t>
            </a:r>
          </a:p>
          <a:p>
            <a:pPr marL="0" indent="0">
              <a:buNone/>
            </a:pPr>
            <a:r>
              <a:rPr lang="ru-RU" sz="2800" dirty="0"/>
              <a:t>   -    маршрутизаторы, </a:t>
            </a:r>
          </a:p>
          <a:p>
            <a:pPr marL="0" indent="0">
              <a:buNone/>
            </a:pPr>
            <a:r>
              <a:rPr lang="ru-RU" sz="2800" dirty="0"/>
              <a:t>   -    серверы, </a:t>
            </a:r>
          </a:p>
          <a:p>
            <a:pPr marL="0" indent="0">
              <a:buNone/>
            </a:pPr>
            <a:r>
              <a:rPr lang="ru-RU" sz="2800" dirty="0"/>
              <a:t>   -    принтеры,</a:t>
            </a:r>
          </a:p>
          <a:p>
            <a:pPr marL="0" indent="0">
              <a:buNone/>
            </a:pPr>
            <a:r>
              <a:rPr lang="ru-RU" sz="2800" dirty="0"/>
              <a:t>   -    другим сетевым устройствам, местоположение которых (физическое и логическое) вряд ли изменится.  </a:t>
            </a:r>
          </a:p>
          <a:p>
            <a:pPr marL="0" indent="0">
              <a:buNone/>
            </a:pPr>
            <a:r>
              <a:rPr lang="ru-RU" sz="2800" dirty="0"/>
              <a:t>Поэтому назначенные им адреса должны оставаться постоянными.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29871489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511629" y="108343"/>
            <a:ext cx="11070771" cy="10745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 b="1" dirty="0"/>
              <a:t>Алгоритм динамического назначения адресов</a:t>
            </a:r>
          </a:p>
        </p:txBody>
      </p:sp>
      <p:sp>
        <p:nvSpPr>
          <p:cNvPr id="3" name="Объект 2"/>
          <p:cNvSpPr txBox="1">
            <a:spLocks/>
          </p:cNvSpPr>
          <p:nvPr/>
        </p:nvSpPr>
        <p:spPr>
          <a:xfrm>
            <a:off x="1212766" y="1354667"/>
            <a:ext cx="9934205" cy="4978399"/>
          </a:xfrm>
          <a:prstGeom prst="rect">
            <a:avLst/>
          </a:prstGeom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800" dirty="0"/>
              <a:t>Наконец, для обеспечения безопасности сети многие сетевые устройства могут блокировать (фильтровать) пакеты, определенные поля которых имеют некоторые заранее заданные значения. </a:t>
            </a:r>
          </a:p>
          <a:p>
            <a:pPr marL="0" indent="0">
              <a:buNone/>
            </a:pPr>
            <a:r>
              <a:rPr lang="ru-RU" sz="2800" dirty="0"/>
              <a:t>Другими словами, при динамическом назначении адресов усложняется филь­трация пакетов по </a:t>
            </a:r>
            <a:r>
              <a:rPr lang="en-US" sz="2800" b="1" dirty="0"/>
              <a:t>I</a:t>
            </a:r>
            <a:r>
              <a:rPr lang="ru-RU" sz="2800" b="1" dirty="0"/>
              <a:t>Р-адресам</a:t>
            </a:r>
            <a:r>
              <a:rPr lang="ru-RU" sz="2800" dirty="0"/>
              <a:t>.</a:t>
            </a:r>
            <a:endParaRPr lang="en-US" sz="2800" dirty="0"/>
          </a:p>
          <a:p>
            <a:pPr marL="0" indent="0">
              <a:buNone/>
            </a:pPr>
            <a:r>
              <a:rPr lang="ru-RU" sz="2800" dirty="0"/>
              <a:t>Последние две проблемы проще всего решаются </a:t>
            </a:r>
            <a:r>
              <a:rPr lang="ru-RU" sz="2800" b="1" dirty="0"/>
              <a:t>отказом</a:t>
            </a:r>
            <a:r>
              <a:rPr lang="ru-RU" sz="2800" dirty="0"/>
              <a:t> от динамического назначения адресов для интерфейсов, фигурирующих в системах мониторинга и безопасности.</a:t>
            </a:r>
          </a:p>
        </p:txBody>
      </p:sp>
    </p:spTree>
    <p:extLst>
      <p:ext uri="{BB962C8B-B14F-4D97-AF65-F5344CB8AC3E}">
        <p14:creationId xmlns:p14="http://schemas.microsoft.com/office/powerpoint/2010/main" val="2149831073"/>
      </p:ext>
    </p:extLst>
  </p:cSld>
  <p:clrMapOvr>
    <a:masterClrMapping/>
  </p:clrMapOvr>
</p:sld>
</file>

<file path=ppt/theme/theme1.xml><?xml version="1.0" encoding="utf-8"?>
<a:theme xmlns:a="http://schemas.openxmlformats.org/drawingml/2006/main" name="Ретро">
  <a:themeElements>
    <a:clrScheme name="Ретро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Ретр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9018</TotalTime>
  <Words>2133</Words>
  <Application>Microsoft Office PowerPoint</Application>
  <PresentationFormat>Широкоэкранный</PresentationFormat>
  <Paragraphs>166</Paragraphs>
  <Slides>40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40</vt:i4>
      </vt:variant>
    </vt:vector>
  </HeadingPairs>
  <TitlesOfParts>
    <vt:vector size="43" baseType="lpstr">
      <vt:lpstr>Calibri</vt:lpstr>
      <vt:lpstr>Calibri Light</vt:lpstr>
      <vt:lpstr>Ретро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diakov.net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МДК.01.01  Организация, принципы построения и функционирования компьютерных сетей 3-курс</dc:title>
  <dc:creator>RePack by Diakov</dc:creator>
  <cp:lastModifiedBy>teacher</cp:lastModifiedBy>
  <cp:revision>386</cp:revision>
  <dcterms:created xsi:type="dcterms:W3CDTF">2019-09-01T16:25:33Z</dcterms:created>
  <dcterms:modified xsi:type="dcterms:W3CDTF">2026-09-30T14:38:00Z</dcterms:modified>
</cp:coreProperties>
</file>