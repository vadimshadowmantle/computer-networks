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668" r:id="rId2"/>
    <p:sldId id="669" r:id="rId3"/>
    <p:sldId id="722" r:id="rId4"/>
    <p:sldId id="672" r:id="rId5"/>
    <p:sldId id="670" r:id="rId6"/>
    <p:sldId id="673" r:id="rId7"/>
    <p:sldId id="674" r:id="rId8"/>
    <p:sldId id="675" r:id="rId9"/>
    <p:sldId id="676" r:id="rId10"/>
    <p:sldId id="677" r:id="rId11"/>
    <p:sldId id="679" r:id="rId12"/>
    <p:sldId id="680" r:id="rId13"/>
    <p:sldId id="681" r:id="rId14"/>
    <p:sldId id="682" r:id="rId15"/>
    <p:sldId id="683" r:id="rId16"/>
    <p:sldId id="684" r:id="rId17"/>
    <p:sldId id="685" r:id="rId18"/>
    <p:sldId id="686" r:id="rId19"/>
    <p:sldId id="687" r:id="rId20"/>
    <p:sldId id="688" r:id="rId21"/>
    <p:sldId id="690" r:id="rId22"/>
    <p:sldId id="691" r:id="rId23"/>
    <p:sldId id="692" r:id="rId24"/>
    <p:sldId id="693" r:id="rId25"/>
    <p:sldId id="695" r:id="rId26"/>
    <p:sldId id="698" r:id="rId27"/>
    <p:sldId id="699" r:id="rId28"/>
    <p:sldId id="700" r:id="rId29"/>
    <p:sldId id="701" r:id="rId30"/>
    <p:sldId id="702" r:id="rId31"/>
    <p:sldId id="703" r:id="rId32"/>
    <p:sldId id="704" r:id="rId33"/>
    <p:sldId id="705" r:id="rId34"/>
    <p:sldId id="706" r:id="rId35"/>
    <p:sldId id="707" r:id="rId36"/>
    <p:sldId id="708" r:id="rId37"/>
    <p:sldId id="709" r:id="rId38"/>
    <p:sldId id="710" r:id="rId39"/>
    <p:sldId id="711" r:id="rId40"/>
    <p:sldId id="713" r:id="rId41"/>
    <p:sldId id="714" r:id="rId42"/>
    <p:sldId id="715" r:id="rId43"/>
    <p:sldId id="716" r:id="rId44"/>
    <p:sldId id="717" r:id="rId45"/>
    <p:sldId id="718" r:id="rId46"/>
    <p:sldId id="719" r:id="rId47"/>
    <p:sldId id="720" r:id="rId48"/>
    <p:sldId id="721" r:id="rId49"/>
    <p:sldId id="723" r:id="rId50"/>
    <p:sldId id="438" r:id="rId51"/>
    <p:sldId id="266" r:id="rId52"/>
    <p:sldId id="437" r:id="rId5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66" autoAdjust="0"/>
    <p:restoredTop sz="95501" autoAdjust="0"/>
  </p:normalViewPr>
  <p:slideViewPr>
    <p:cSldViewPr snapToGrid="0">
      <p:cViewPr varScale="1">
        <p:scale>
          <a:sx n="86" d="100"/>
          <a:sy n="86" d="100"/>
        </p:scale>
        <p:origin x="422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B67AE6-D6D6-4899-AFF3-4C9EB5BE87A1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B998BB-ED5A-4970-8E1B-6A8216F261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7376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32C1-689E-4130-B7D4-A8F24E84E736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2629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32C1-689E-4130-B7D4-A8F24E84E736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126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32C1-689E-4130-B7D4-A8F24E84E736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1324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32C1-689E-4130-B7D4-A8F24E84E736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0175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32C1-689E-4130-B7D4-A8F24E84E736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42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32C1-689E-4130-B7D4-A8F24E84E736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0109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32C1-689E-4130-B7D4-A8F24E84E736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590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32C1-689E-4130-B7D4-A8F24E84E736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7898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32C1-689E-4130-B7D4-A8F24E84E736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8606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32C1-689E-4130-B7D4-A8F24E84E736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1506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32C1-689E-4130-B7D4-A8F24E84E736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5416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2632C1-689E-4130-B7D4-A8F24E84E736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4786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tmp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bigslide.ru/images/51/50961/960/img12.jpg" TargetMode="External"/><Relationship Id="rId7" Type="http://schemas.openxmlformats.org/officeDocument/2006/relationships/hyperlink" Target="http://900igr.net/up/datas/221400/029.jpg" TargetMode="External"/><Relationship Id="rId2" Type="http://schemas.openxmlformats.org/officeDocument/2006/relationships/hyperlink" Target="https://studfiles.net/html/2706/610/html_1t7827cn0P.AOQ6/htmlconvd-5FjQl116x1.jp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klikglodok.com/toko/19948-thickbox_default/jual-harga-allied-telesis-switch-16-port-gigabit-10-100-1000-unmanaged-at-gs900-16.jpg" TargetMode="External"/><Relationship Id="rId5" Type="http://schemas.openxmlformats.org/officeDocument/2006/relationships/hyperlink" Target="https://1.bp.blogspot.com/-qptz15WfEJE/XDoN736gSvI/AAAAAAAAAU8/ESDrBE1iP-0vt5keIdxrnh_Y6ZpF2_2tQCLcBGAs/s1600/Hybrid-Network.jpg" TargetMode="External"/><Relationship Id="rId4" Type="http://schemas.openxmlformats.org/officeDocument/2006/relationships/hyperlink" Target="https://bigslide.ru/images/51/50961/960/img11.jpg" TargetMode="Externa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0" y="800099"/>
            <a:ext cx="11518901" cy="46343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dirty="0"/>
              <a:t>Тема: </a:t>
            </a:r>
            <a:r>
              <a:rPr lang="ru-RU" b="1" dirty="0"/>
              <a:t>Технология </a:t>
            </a:r>
            <a:r>
              <a:rPr lang="en-US" b="1" dirty="0"/>
              <a:t>NAT-Network Address Translation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sz="2400" dirty="0"/>
              <a:t>Основные понятия:</a:t>
            </a:r>
          </a:p>
          <a:p>
            <a:pPr marL="0" indent="0">
              <a:buNone/>
            </a:pPr>
            <a:r>
              <a:rPr lang="ru-RU" sz="2400" dirty="0"/>
              <a:t> - </a:t>
            </a:r>
            <a:r>
              <a:rPr lang="ru-RU" sz="2400" b="1" dirty="0"/>
              <a:t>Публичный </a:t>
            </a:r>
            <a:r>
              <a:rPr lang="en-US" sz="2400" b="1" dirty="0" err="1"/>
              <a:t>ip</a:t>
            </a:r>
            <a:r>
              <a:rPr lang="ru-RU" sz="2400" b="1" dirty="0"/>
              <a:t>-адрес </a:t>
            </a:r>
            <a:r>
              <a:rPr lang="ru-RU" sz="2400" dirty="0"/>
              <a:t>(белый </a:t>
            </a:r>
            <a:r>
              <a:rPr lang="en-US" sz="2400" dirty="0" err="1"/>
              <a:t>ip</a:t>
            </a:r>
            <a:r>
              <a:rPr lang="ru-RU" sz="2400" dirty="0"/>
              <a:t>-адрес) </a:t>
            </a:r>
            <a:r>
              <a:rPr lang="ru-RU" sz="2400" dirty="0" err="1"/>
              <a:t>маршрутизруются</a:t>
            </a:r>
            <a:r>
              <a:rPr lang="ru-RU" sz="2400" dirty="0"/>
              <a:t> в сети Интернет, доступны в любой точке мира. Получают такие адреса у интернет провайдеров. На данный момент самая популярная версия протокола – </a:t>
            </a:r>
            <a:r>
              <a:rPr lang="en-US" sz="2400" dirty="0"/>
              <a:t>IPv4</a:t>
            </a:r>
            <a:r>
              <a:rPr lang="ru-RU" sz="2400" dirty="0"/>
              <a:t>. Количество адресов ограничено.</a:t>
            </a:r>
          </a:p>
          <a:p>
            <a:pPr marL="0" indent="0">
              <a:buNone/>
            </a:pPr>
            <a:r>
              <a:rPr lang="ru-RU" sz="2400" dirty="0"/>
              <a:t> - </a:t>
            </a:r>
            <a:r>
              <a:rPr lang="ru-RU" sz="2400" b="1" dirty="0"/>
              <a:t>Частный </a:t>
            </a:r>
            <a:r>
              <a:rPr lang="en-US" sz="2400" b="1" dirty="0" err="1"/>
              <a:t>ip</a:t>
            </a:r>
            <a:r>
              <a:rPr lang="ru-RU" sz="2400" b="1" dirty="0"/>
              <a:t>-адрес </a:t>
            </a:r>
            <a:r>
              <a:rPr lang="ru-RU" sz="2400" dirty="0"/>
              <a:t>(серый </a:t>
            </a:r>
            <a:r>
              <a:rPr lang="en-US" sz="2400" dirty="0" err="1"/>
              <a:t>ip</a:t>
            </a:r>
            <a:r>
              <a:rPr lang="ru-RU" sz="2400" dirty="0"/>
              <a:t>-адрес) используются исключительно в локальных сетях. В Интернет с серыми </a:t>
            </a:r>
            <a:r>
              <a:rPr lang="en-US" sz="2400" dirty="0" err="1"/>
              <a:t>ip</a:t>
            </a:r>
            <a:r>
              <a:rPr lang="ru-RU" sz="2400" dirty="0"/>
              <a:t>-адресами выйти нельзя, т.к. они могут повторяться. </a:t>
            </a:r>
          </a:p>
          <a:p>
            <a:pPr marL="0" indent="0">
              <a:buNone/>
            </a:pPr>
            <a:r>
              <a:rPr lang="ru-RU" sz="2400" dirty="0"/>
              <a:t>	Возникает вопрос, как с серыми </a:t>
            </a:r>
            <a:r>
              <a:rPr lang="en-US" sz="2400" dirty="0" err="1"/>
              <a:t>ip</a:t>
            </a:r>
            <a:r>
              <a:rPr lang="ru-RU" sz="2400" dirty="0"/>
              <a:t>-адресами выйти в Интернет?</a:t>
            </a:r>
          </a:p>
          <a:p>
            <a:pPr marL="0" indent="0">
              <a:buNone/>
            </a:pPr>
            <a:r>
              <a:rPr lang="ru-RU" sz="2400" dirty="0"/>
              <a:t>На помощь приходит технология </a:t>
            </a:r>
            <a:r>
              <a:rPr lang="en-US" sz="2400" dirty="0"/>
              <a:t>NAT</a:t>
            </a:r>
            <a:r>
              <a:rPr lang="ru-RU" sz="2400" dirty="0"/>
              <a:t>, которая позволяет осуществить доступ в  Интернет пользователей с серыми </a:t>
            </a:r>
            <a:r>
              <a:rPr lang="en-US" sz="2400" dirty="0" err="1"/>
              <a:t>ip</a:t>
            </a:r>
            <a:r>
              <a:rPr lang="ru-RU" sz="2400" dirty="0"/>
              <a:t>-адресами.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6672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0" y="1122218"/>
            <a:ext cx="11518901" cy="431222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/>
              <a:t>Существует три типа </a:t>
            </a:r>
            <a:r>
              <a:rPr lang="en-US" sz="2400" dirty="0"/>
              <a:t>NAT</a:t>
            </a:r>
            <a:r>
              <a:rPr lang="ru-RU" sz="2400" dirty="0"/>
              <a:t>: 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-   </a:t>
            </a:r>
            <a:r>
              <a:rPr lang="ru-RU" sz="2400" dirty="0"/>
              <a:t>статический, 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-   </a:t>
            </a:r>
            <a:r>
              <a:rPr lang="ru-RU" sz="2400" dirty="0"/>
              <a:t>динамический, 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-   </a:t>
            </a:r>
            <a:r>
              <a:rPr lang="ru-RU" sz="2400" dirty="0"/>
              <a:t>перегруженный </a:t>
            </a:r>
            <a:r>
              <a:rPr lang="en-US" sz="2400" dirty="0"/>
              <a:t>(PAT, </a:t>
            </a:r>
            <a:r>
              <a:rPr lang="en-US" sz="2400" i="1" dirty="0"/>
              <a:t>Port address translation</a:t>
            </a:r>
            <a:r>
              <a:rPr lang="en-US" sz="2400" dirty="0"/>
              <a:t>)</a:t>
            </a:r>
            <a:r>
              <a:rPr lang="ru-RU" sz="2400" dirty="0"/>
              <a:t>. Позволяет преобразовывать несколько серых </a:t>
            </a:r>
            <a:r>
              <a:rPr lang="en-US" sz="2400" dirty="0" err="1"/>
              <a:t>ip</a:t>
            </a:r>
            <a:r>
              <a:rPr lang="ru-RU" sz="2400" dirty="0"/>
              <a:t>-адресов в один белый </a:t>
            </a:r>
            <a:r>
              <a:rPr lang="en-US" sz="2400" dirty="0" err="1"/>
              <a:t>ip</a:t>
            </a:r>
            <a:r>
              <a:rPr lang="ru-RU" sz="2400" dirty="0"/>
              <a:t>-адрес. С помощью этой технологии можно обеспечить Интернетом целый офис, используя всего один белый </a:t>
            </a:r>
            <a:r>
              <a:rPr lang="en-US" sz="2400" dirty="0" err="1"/>
              <a:t>ip</a:t>
            </a:r>
            <a:r>
              <a:rPr lang="ru-RU" sz="2400" dirty="0"/>
              <a:t>-адрес.</a:t>
            </a:r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ru-RU" sz="2400" dirty="0"/>
              <a:t>Ещё одним преимуществом </a:t>
            </a:r>
            <a:r>
              <a:rPr lang="en-US" sz="2400" dirty="0"/>
              <a:t>NAT</a:t>
            </a:r>
            <a:r>
              <a:rPr lang="ru-RU" sz="2400" dirty="0"/>
              <a:t> является безопасность, т.к. к локальным компьютерам отсутствует доступ из внешней сети.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0697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Подзаголовок 2"/>
          <p:cNvSpPr txBox="1">
            <a:spLocks/>
          </p:cNvSpPr>
          <p:nvPr/>
        </p:nvSpPr>
        <p:spPr>
          <a:xfrm>
            <a:off x="3200400" y="800099"/>
            <a:ext cx="8318500" cy="46343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Опробуем на практике статический </a:t>
            </a:r>
            <a:r>
              <a:rPr lang="en-US" dirty="0"/>
              <a:t>NAT</a:t>
            </a:r>
            <a:r>
              <a:rPr lang="ru-RU" dirty="0"/>
              <a:t> и </a:t>
            </a:r>
            <a:r>
              <a:rPr lang="en-US" dirty="0"/>
              <a:t>PAT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Рассмотрим типовой пример для небольшого офиса, состоящего из трёх компьютеров, сервера, коммутатора 2960 и маршрутизатора 1841.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Ещё нужно добавить сервер и маршрутизатор 1841 для имитации услуг провайдера и выхода в Интернет.</a:t>
            </a:r>
          </a:p>
          <a:p>
            <a:pPr marL="0" indent="0">
              <a:buNone/>
            </a:pPr>
            <a:r>
              <a:rPr lang="ru-RU" dirty="0"/>
              <a:t> 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0189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2989943" y="1066801"/>
            <a:ext cx="8528957" cy="436764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Создадим два сегмента сети.</a:t>
            </a:r>
            <a:endParaRPr lang="en-US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Компьютеры определим во </a:t>
            </a:r>
            <a:r>
              <a:rPr lang="en-US" dirty="0"/>
              <a:t>VLAN2</a:t>
            </a:r>
            <a:r>
              <a:rPr lang="ru-RU" dirty="0"/>
              <a:t>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Сервер определим во </a:t>
            </a:r>
            <a:r>
              <a:rPr lang="en-US" dirty="0"/>
              <a:t>VLAN3</a:t>
            </a:r>
            <a:r>
              <a:rPr lang="ru-RU" dirty="0"/>
              <a:t> (правилом хорошего тона считается выделение сервера в отдельный </a:t>
            </a:r>
            <a:r>
              <a:rPr lang="en-US" dirty="0"/>
              <a:t>VLAN</a:t>
            </a:r>
            <a:r>
              <a:rPr lang="ru-RU" dirty="0"/>
              <a:t>)</a:t>
            </a:r>
            <a:r>
              <a:rPr lang="en-US" dirty="0"/>
              <a:t>.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Часть сети, имитирующую работу провайдера пока не задействуем!!!</a:t>
            </a:r>
          </a:p>
          <a:p>
            <a:pPr marL="0" indent="0">
              <a:buNone/>
            </a:pPr>
            <a:r>
              <a:rPr lang="ru-RU" dirty="0"/>
              <a:t> 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9779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Стрелка вправо 2"/>
          <p:cNvSpPr/>
          <p:nvPr/>
        </p:nvSpPr>
        <p:spPr>
          <a:xfrm flipH="1">
            <a:off x="1601559" y="2858862"/>
            <a:ext cx="255816" cy="1605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2119087" y="846488"/>
            <a:ext cx="9750652" cy="46399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/>
              <a:t>           </a:t>
            </a:r>
            <a:r>
              <a:rPr lang="ru-RU" sz="2400" b="1" i="1" dirty="0"/>
              <a:t>Настроим коммутатор</a:t>
            </a:r>
            <a:r>
              <a:rPr lang="en-US" sz="2400" b="1" i="1" dirty="0"/>
              <a:t>.</a:t>
            </a:r>
            <a:endParaRPr lang="ru-RU" sz="2400" b="1" i="1" dirty="0"/>
          </a:p>
          <a:p>
            <a:pPr marL="0" indent="0">
              <a:buNone/>
            </a:pPr>
            <a:endParaRPr lang="ru-RU" sz="2400" b="1" i="1" dirty="0"/>
          </a:p>
          <a:p>
            <a:pPr marL="0" indent="0">
              <a:buNone/>
            </a:pPr>
            <a:r>
              <a:rPr lang="ru-RU" sz="2400" b="1" i="1" dirty="0"/>
              <a:t>         Создадим </a:t>
            </a:r>
            <a:r>
              <a:rPr lang="en-US" sz="2400" b="1" i="1" dirty="0"/>
              <a:t>VLAN2 </a:t>
            </a:r>
            <a:r>
              <a:rPr lang="ru-RU" sz="2400" b="1" i="1" dirty="0"/>
              <a:t>и </a:t>
            </a:r>
            <a:r>
              <a:rPr lang="en-US" sz="2400" b="1" i="1" dirty="0"/>
              <a:t>VLAN3</a:t>
            </a:r>
            <a:r>
              <a:rPr lang="ru-RU" sz="2400" b="1" i="1" dirty="0"/>
              <a:t>.</a:t>
            </a:r>
          </a:p>
          <a:p>
            <a:pPr marL="0" indent="0">
              <a:buNone/>
            </a:pPr>
            <a:endParaRPr lang="ru-RU" sz="2400" b="1" i="1" dirty="0"/>
          </a:p>
          <a:p>
            <a:pPr marL="0" indent="0">
              <a:buNone/>
            </a:pPr>
            <a:r>
              <a:rPr lang="ru-RU" sz="2400" b="1" i="1" dirty="0"/>
              <a:t>В режиме глобального </a:t>
            </a:r>
            <a:r>
              <a:rPr lang="en-US" sz="2400" b="1" i="1" dirty="0"/>
              <a:t>                                </a:t>
            </a:r>
            <a:r>
              <a:rPr lang="ru-RU" sz="2400" b="1" i="1" dirty="0"/>
              <a:t>                       </a:t>
            </a:r>
            <a:r>
              <a:rPr lang="en-US" sz="2400" b="1" i="1" dirty="0"/>
              <a:t>   </a:t>
            </a:r>
            <a:r>
              <a:rPr lang="ru-RU" sz="2400" b="1" i="1" dirty="0"/>
              <a:t>конфигурирования </a:t>
            </a:r>
            <a:r>
              <a:rPr lang="ru-RU" sz="2400" dirty="0"/>
              <a:t>(«</a:t>
            </a:r>
            <a:r>
              <a:rPr lang="en-US" sz="2400" dirty="0" err="1"/>
              <a:t>en</a:t>
            </a:r>
            <a:r>
              <a:rPr lang="ru-RU" sz="2400" dirty="0"/>
              <a:t>»,</a:t>
            </a:r>
            <a:r>
              <a:rPr lang="en-US" sz="2400" dirty="0"/>
              <a:t> </a:t>
            </a:r>
            <a:r>
              <a:rPr lang="ru-RU" sz="2400" dirty="0"/>
              <a:t> «</a:t>
            </a:r>
            <a:r>
              <a:rPr lang="en-US" sz="2400" dirty="0" err="1"/>
              <a:t>conf</a:t>
            </a:r>
            <a:r>
              <a:rPr lang="en-US" sz="2400" dirty="0"/>
              <a:t> t</a:t>
            </a:r>
            <a:r>
              <a:rPr lang="ru-RU" sz="2400" dirty="0"/>
              <a:t>»</a:t>
            </a:r>
            <a:r>
              <a:rPr lang="en-US" sz="2400" dirty="0"/>
              <a:t>)</a:t>
            </a:r>
            <a:r>
              <a:rPr lang="ru-RU" sz="2400" dirty="0"/>
              <a:t>                                                         </a:t>
            </a:r>
            <a:r>
              <a:rPr lang="en-US" sz="2400" dirty="0"/>
              <a:t> </a:t>
            </a:r>
            <a:r>
              <a:rPr lang="ru-RU" sz="2400" b="1" i="1" dirty="0"/>
              <a:t>сначала создадим </a:t>
            </a:r>
            <a:r>
              <a:rPr lang="en-US" sz="2400" b="1" i="1" dirty="0"/>
              <a:t>VLAN2</a:t>
            </a:r>
            <a:r>
              <a:rPr lang="ru-RU" sz="2400" b="1" i="1" dirty="0"/>
              <a:t>, набираем:                                                              </a:t>
            </a:r>
            <a:r>
              <a:rPr lang="ru-RU" sz="2400" dirty="0"/>
              <a:t>«</a:t>
            </a:r>
            <a:r>
              <a:rPr lang="en-US" sz="2400" dirty="0" err="1"/>
              <a:t>vlan</a:t>
            </a:r>
            <a:r>
              <a:rPr lang="en-US" sz="2400" dirty="0"/>
              <a:t> 2</a:t>
            </a:r>
            <a:r>
              <a:rPr lang="ru-RU" sz="2400" dirty="0"/>
              <a:t>»,  </a:t>
            </a:r>
            <a:r>
              <a:rPr lang="ru-RU" sz="2400" b="1" i="1" dirty="0"/>
              <a:t>зададим имя, например,</a:t>
            </a:r>
          </a:p>
          <a:p>
            <a:pPr marL="0" indent="0">
              <a:buNone/>
            </a:pPr>
            <a:r>
              <a:rPr lang="en-US" sz="2400" b="1" i="1" dirty="0"/>
              <a:t>users</a:t>
            </a:r>
            <a:r>
              <a:rPr lang="ru-RU" sz="2400" dirty="0"/>
              <a:t>  «</a:t>
            </a:r>
            <a:r>
              <a:rPr lang="en-US" sz="2400" dirty="0"/>
              <a:t>name users</a:t>
            </a:r>
            <a:r>
              <a:rPr lang="ru-RU" sz="2400" dirty="0"/>
              <a:t>», </a:t>
            </a:r>
            <a:r>
              <a:rPr lang="ru-RU" sz="2400" b="1" i="1" dirty="0"/>
              <a:t>далее</a:t>
            </a:r>
            <a:r>
              <a:rPr lang="ru-RU" sz="2400" dirty="0"/>
              <a:t> «</a:t>
            </a:r>
            <a:r>
              <a:rPr lang="en-US" sz="2400" dirty="0"/>
              <a:t>exit</a:t>
            </a:r>
            <a:r>
              <a:rPr lang="ru-RU" sz="2400" dirty="0"/>
              <a:t>». </a:t>
            </a:r>
          </a:p>
          <a:p>
            <a:pPr marL="0" indent="0">
              <a:buNone/>
            </a:pPr>
            <a:r>
              <a:rPr lang="ru-RU" sz="2400" b="1" i="1" dirty="0"/>
              <a:t>Затем  для сервера создадим  </a:t>
            </a:r>
            <a:r>
              <a:rPr lang="en-US" sz="2400" b="1" i="1" dirty="0"/>
              <a:t>VLAN</a:t>
            </a:r>
            <a:r>
              <a:rPr lang="ru-RU" sz="2400" b="1" i="1" dirty="0"/>
              <a:t>3, набираем: </a:t>
            </a:r>
            <a:r>
              <a:rPr lang="ru-RU" sz="2400" dirty="0"/>
              <a:t>«</a:t>
            </a:r>
            <a:r>
              <a:rPr lang="en-US" sz="2400" dirty="0" err="1"/>
              <a:t>vlan</a:t>
            </a:r>
            <a:r>
              <a:rPr lang="en-US" sz="2400" dirty="0"/>
              <a:t> </a:t>
            </a:r>
            <a:r>
              <a:rPr lang="ru-RU" sz="2400" dirty="0"/>
              <a:t>3», </a:t>
            </a:r>
            <a:r>
              <a:rPr lang="ru-RU" sz="2400" b="1" i="1" dirty="0"/>
              <a:t>зададим имя, например, </a:t>
            </a:r>
            <a:r>
              <a:rPr lang="en-US" sz="2400" b="1" i="1" dirty="0"/>
              <a:t>server</a:t>
            </a:r>
            <a:r>
              <a:rPr lang="ru-RU" sz="2400" dirty="0"/>
              <a:t>  «</a:t>
            </a:r>
            <a:r>
              <a:rPr lang="en-US" sz="2400" dirty="0"/>
              <a:t>name server</a:t>
            </a:r>
            <a:r>
              <a:rPr lang="ru-RU" sz="2400" dirty="0"/>
              <a:t>», </a:t>
            </a:r>
            <a:r>
              <a:rPr lang="ru-RU" sz="2400" b="1" i="1" dirty="0"/>
              <a:t>далее</a:t>
            </a:r>
            <a:r>
              <a:rPr lang="ru-RU" sz="2400" dirty="0"/>
              <a:t> «</a:t>
            </a:r>
            <a:r>
              <a:rPr lang="en-US" sz="2400" dirty="0"/>
              <a:t>exit</a:t>
            </a:r>
            <a:r>
              <a:rPr lang="ru-RU" sz="2400" dirty="0"/>
              <a:t>».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5067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Стрелка вправо 2"/>
          <p:cNvSpPr/>
          <p:nvPr/>
        </p:nvSpPr>
        <p:spPr>
          <a:xfrm flipH="1">
            <a:off x="1601559" y="2858862"/>
            <a:ext cx="255816" cy="1605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2715986" y="965200"/>
            <a:ext cx="6877957" cy="4445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Смотрим, к каким портам </a:t>
            </a:r>
            <a:endParaRPr lang="en-US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коммутатора подключены </a:t>
            </a:r>
            <a:endParaRPr lang="en-US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компьютеры. </a:t>
            </a:r>
            <a:endParaRPr lang="en-US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В данном случае – это </a:t>
            </a:r>
            <a:r>
              <a:rPr lang="en-US" sz="2400" b="1" i="1" dirty="0"/>
              <a:t>Fa0/1</a:t>
            </a:r>
            <a:r>
              <a:rPr lang="ru-RU" sz="2400" b="1" i="1" dirty="0"/>
              <a:t>, </a:t>
            </a:r>
            <a:r>
              <a:rPr lang="en-US" sz="2400" b="1" i="1" dirty="0"/>
              <a:t>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i="1" dirty="0"/>
              <a:t>Fa0/</a:t>
            </a:r>
            <a:r>
              <a:rPr lang="ru-RU" sz="2400" b="1" i="1" dirty="0"/>
              <a:t>2, </a:t>
            </a:r>
            <a:r>
              <a:rPr lang="en-US" sz="2400" b="1" i="1" dirty="0"/>
              <a:t>Fa0/</a:t>
            </a:r>
            <a:r>
              <a:rPr lang="ru-RU" sz="2400" b="1" i="1" dirty="0"/>
              <a:t>3 (могут быть </a:t>
            </a:r>
            <a:endParaRPr lang="en-US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другими).</a:t>
            </a:r>
            <a:r>
              <a:rPr lang="en-US" sz="2400" b="1" i="1" dirty="0"/>
              <a:t> </a:t>
            </a:r>
            <a:endParaRPr lang="ru-RU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Настроим сразу эти три </a:t>
            </a:r>
            <a:endParaRPr lang="en-US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порта во </a:t>
            </a:r>
            <a:r>
              <a:rPr lang="en-US" sz="2400" b="1" i="1" dirty="0"/>
              <a:t>VLAN2</a:t>
            </a:r>
            <a:r>
              <a:rPr lang="ru-RU" sz="2400" b="1" i="1" dirty="0"/>
              <a:t>: </a:t>
            </a:r>
            <a:r>
              <a:rPr lang="ru-RU" sz="2400" dirty="0"/>
              <a:t>«</a:t>
            </a:r>
            <a:r>
              <a:rPr lang="en-US" sz="2400" dirty="0" err="1"/>
              <a:t>int</a:t>
            </a:r>
            <a:r>
              <a:rPr lang="en-US" sz="2400" dirty="0"/>
              <a:t> range Fa0/1-3</a:t>
            </a:r>
            <a:r>
              <a:rPr lang="ru-RU" sz="2400" dirty="0"/>
              <a:t>», </a:t>
            </a:r>
            <a:r>
              <a:rPr lang="en-US" sz="2400" dirty="0"/>
              <a:t>        </a:t>
            </a:r>
            <a:r>
              <a:rPr lang="ru-RU" sz="2400" dirty="0"/>
              <a:t>«</a:t>
            </a:r>
            <a:r>
              <a:rPr lang="en-US" sz="2400" dirty="0" err="1"/>
              <a:t>switchport</a:t>
            </a:r>
            <a:r>
              <a:rPr lang="en-US" sz="2400" dirty="0"/>
              <a:t> mode access</a:t>
            </a:r>
            <a:r>
              <a:rPr lang="ru-RU" sz="2400" dirty="0"/>
              <a:t>»,</a:t>
            </a:r>
            <a:r>
              <a:rPr lang="en-US" sz="2400" dirty="0"/>
              <a:t>                 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 err="1"/>
              <a:t>switchport</a:t>
            </a:r>
            <a:r>
              <a:rPr lang="en-US" sz="2400" dirty="0"/>
              <a:t> access </a:t>
            </a:r>
            <a:r>
              <a:rPr lang="en-US" sz="2400" dirty="0" err="1"/>
              <a:t>vlan</a:t>
            </a:r>
            <a:r>
              <a:rPr lang="en-US" sz="2400" dirty="0"/>
              <a:t> 2</a:t>
            </a:r>
            <a:r>
              <a:rPr lang="ru-RU" sz="2400" dirty="0"/>
              <a:t>»,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/>
              <a:t>exit</a:t>
            </a:r>
            <a:r>
              <a:rPr lang="ru-RU" sz="2400" dirty="0"/>
              <a:t>»</a:t>
            </a:r>
            <a:r>
              <a:rPr lang="en-US" sz="2400" dirty="0"/>
              <a:t>.</a:t>
            </a:r>
            <a:endParaRPr lang="ru-RU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951229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2715986" y="965200"/>
            <a:ext cx="4570185" cy="4445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Смотрим, к какому порту коммутатора подключен сервер. </a:t>
            </a:r>
            <a:endParaRPr lang="en-US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В данном случае – это </a:t>
            </a:r>
            <a:r>
              <a:rPr lang="en-US" sz="2400" b="1" i="1" dirty="0"/>
              <a:t>Fa0/</a:t>
            </a:r>
            <a:r>
              <a:rPr lang="ru-RU" sz="2400" b="1" i="1" dirty="0"/>
              <a:t>4, </a:t>
            </a:r>
            <a:r>
              <a:rPr lang="en-US" sz="2400" b="1" i="1" dirty="0"/>
              <a:t>      </a:t>
            </a:r>
            <a:r>
              <a:rPr lang="ru-RU" sz="2400" b="1" i="1" dirty="0"/>
              <a:t>(может быть другим).</a:t>
            </a:r>
            <a:r>
              <a:rPr lang="en-US" sz="2400" b="1" i="1" dirty="0"/>
              <a:t> </a:t>
            </a:r>
            <a:endParaRPr lang="ru-RU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Определим порт </a:t>
            </a:r>
            <a:r>
              <a:rPr lang="en-US" sz="2400" b="1" i="1" dirty="0"/>
              <a:t>Fa0/</a:t>
            </a:r>
            <a:r>
              <a:rPr lang="ru-RU" sz="2400" b="1" i="1" dirty="0"/>
              <a:t>4 во </a:t>
            </a:r>
            <a:r>
              <a:rPr lang="en-US" sz="2400" b="1" i="1" dirty="0"/>
              <a:t>VLAN</a:t>
            </a:r>
            <a:r>
              <a:rPr lang="ru-RU" sz="2400" b="1" i="1" dirty="0"/>
              <a:t>3: </a:t>
            </a:r>
            <a:r>
              <a:rPr lang="ru-RU" sz="2400" dirty="0"/>
              <a:t>«</a:t>
            </a:r>
            <a:r>
              <a:rPr lang="en-US" sz="2400" dirty="0" err="1"/>
              <a:t>int</a:t>
            </a:r>
            <a:r>
              <a:rPr lang="en-US" sz="2400" dirty="0"/>
              <a:t> Fa0/</a:t>
            </a:r>
            <a:r>
              <a:rPr lang="ru-RU" sz="2400" dirty="0"/>
              <a:t>4», </a:t>
            </a:r>
            <a:r>
              <a:rPr lang="en-US" sz="2400" dirty="0"/>
              <a:t>      </a:t>
            </a:r>
            <a:r>
              <a:rPr lang="ru-RU" sz="2400" dirty="0"/>
              <a:t>            </a:t>
            </a:r>
            <a:r>
              <a:rPr lang="en-US" sz="2400" dirty="0"/>
              <a:t>  </a:t>
            </a:r>
            <a:r>
              <a:rPr lang="ru-RU" sz="2400" dirty="0"/>
              <a:t>«</a:t>
            </a:r>
            <a:r>
              <a:rPr lang="en-US" sz="2400" dirty="0" err="1"/>
              <a:t>switchport</a:t>
            </a:r>
            <a:r>
              <a:rPr lang="en-US" sz="2400" dirty="0"/>
              <a:t> mode access</a:t>
            </a:r>
            <a:r>
              <a:rPr lang="ru-RU" sz="2400" dirty="0"/>
              <a:t>»,</a:t>
            </a:r>
            <a:r>
              <a:rPr lang="en-US" sz="2400" dirty="0"/>
              <a:t>                       </a:t>
            </a:r>
            <a:r>
              <a:rPr lang="ru-RU" sz="2400" dirty="0"/>
              <a:t>«</a:t>
            </a:r>
            <a:r>
              <a:rPr lang="en-US" sz="2400" dirty="0" err="1"/>
              <a:t>switchport</a:t>
            </a:r>
            <a:r>
              <a:rPr lang="en-US" sz="2400" dirty="0"/>
              <a:t> access </a:t>
            </a:r>
            <a:r>
              <a:rPr lang="en-US" sz="2400" dirty="0" err="1"/>
              <a:t>vlan</a:t>
            </a:r>
            <a:r>
              <a:rPr lang="en-US" sz="2400" dirty="0"/>
              <a:t> </a:t>
            </a:r>
            <a:r>
              <a:rPr lang="ru-RU" sz="2400" dirty="0"/>
              <a:t>3»,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/>
              <a:t>exit</a:t>
            </a:r>
            <a:r>
              <a:rPr lang="ru-RU" sz="2400" dirty="0"/>
              <a:t>»</a:t>
            </a:r>
            <a:r>
              <a:rPr lang="en-US" sz="2400" dirty="0"/>
              <a:t>.</a:t>
            </a:r>
            <a:endParaRPr lang="ru-RU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/>
          </a:p>
        </p:txBody>
      </p:sp>
      <p:sp>
        <p:nvSpPr>
          <p:cNvPr id="4" name="Стрелка вправо 3"/>
          <p:cNvSpPr/>
          <p:nvPr/>
        </p:nvSpPr>
        <p:spPr>
          <a:xfrm flipH="1">
            <a:off x="1601559" y="2858862"/>
            <a:ext cx="255816" cy="1605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8803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Стрелка вправо 2"/>
          <p:cNvSpPr/>
          <p:nvPr/>
        </p:nvSpPr>
        <p:spPr>
          <a:xfrm flipH="1">
            <a:off x="1601559" y="2858862"/>
            <a:ext cx="255816" cy="1605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2715986" y="965200"/>
            <a:ext cx="5049157" cy="4445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Смотрим, к какому порту коммутатора подключен маршрутизатор. </a:t>
            </a:r>
            <a:endParaRPr lang="en-US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В данном случае – это </a:t>
            </a:r>
            <a:r>
              <a:rPr lang="en-US" sz="2400" b="1" i="1" dirty="0"/>
              <a:t>Fa0/</a:t>
            </a:r>
            <a:r>
              <a:rPr lang="ru-RU" sz="2400" b="1" i="1" dirty="0"/>
              <a:t>5, </a:t>
            </a:r>
            <a:r>
              <a:rPr lang="en-US" sz="2400" b="1" i="1" dirty="0"/>
              <a:t>      </a:t>
            </a:r>
            <a:r>
              <a:rPr lang="ru-RU" sz="2400" b="1" i="1" dirty="0"/>
              <a:t>(может быть другими).</a:t>
            </a:r>
            <a:r>
              <a:rPr lang="en-US" sz="2400" b="1" i="1" dirty="0"/>
              <a:t> </a:t>
            </a:r>
            <a:endParaRPr lang="ru-RU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Настроим порт </a:t>
            </a:r>
            <a:r>
              <a:rPr lang="en-US" sz="2400" b="1" i="1" dirty="0"/>
              <a:t>Fa0/</a:t>
            </a:r>
            <a:r>
              <a:rPr lang="ru-RU" sz="2400" b="1" i="1" dirty="0"/>
              <a:t>5 как       </a:t>
            </a:r>
            <a:r>
              <a:rPr lang="en-US" sz="2400" b="1" i="1" dirty="0"/>
              <a:t>       trunk</a:t>
            </a:r>
            <a:r>
              <a:rPr lang="ru-RU" sz="2400" b="1" i="1" dirty="0"/>
              <a:t>-порт: </a:t>
            </a:r>
            <a:r>
              <a:rPr lang="ru-RU" sz="2400" dirty="0"/>
              <a:t>«</a:t>
            </a:r>
            <a:r>
              <a:rPr lang="en-US" sz="2400" dirty="0" err="1"/>
              <a:t>int</a:t>
            </a:r>
            <a:r>
              <a:rPr lang="en-US" sz="2400" dirty="0"/>
              <a:t> Fa0/</a:t>
            </a:r>
            <a:r>
              <a:rPr lang="ru-RU" sz="2400" dirty="0"/>
              <a:t>5», </a:t>
            </a:r>
            <a:r>
              <a:rPr lang="en-US" sz="2400" dirty="0"/>
              <a:t>      </a:t>
            </a:r>
            <a:r>
              <a:rPr lang="ru-RU" sz="2400" dirty="0"/>
              <a:t>            </a:t>
            </a:r>
            <a:r>
              <a:rPr lang="en-US" sz="2400" dirty="0"/>
              <a:t>  </a:t>
            </a:r>
            <a:r>
              <a:rPr lang="ru-RU" sz="2400" dirty="0"/>
              <a:t>«</a:t>
            </a:r>
            <a:r>
              <a:rPr lang="en-US" sz="2400" dirty="0" err="1"/>
              <a:t>switchport</a:t>
            </a:r>
            <a:r>
              <a:rPr lang="en-US" sz="2400" dirty="0"/>
              <a:t> mode trunk</a:t>
            </a:r>
            <a:r>
              <a:rPr lang="ru-RU" sz="2400" dirty="0"/>
              <a:t>»,</a:t>
            </a:r>
            <a:r>
              <a:rPr lang="en-US" sz="2400" dirty="0"/>
              <a:t>                       </a:t>
            </a:r>
            <a:r>
              <a:rPr lang="ru-RU" sz="2400" dirty="0"/>
              <a:t>«</a:t>
            </a:r>
            <a:r>
              <a:rPr lang="en-US" sz="2400" dirty="0" err="1"/>
              <a:t>switchport</a:t>
            </a:r>
            <a:r>
              <a:rPr lang="en-US" sz="2400" dirty="0"/>
              <a:t> trunk allowed </a:t>
            </a:r>
            <a:r>
              <a:rPr lang="en-US" sz="2400" dirty="0" err="1"/>
              <a:t>vlan</a:t>
            </a:r>
            <a:r>
              <a:rPr lang="en-US" sz="2400" dirty="0"/>
              <a:t> 2,3</a:t>
            </a:r>
            <a:r>
              <a:rPr lang="ru-RU" sz="2400" dirty="0"/>
              <a:t>», «</a:t>
            </a:r>
            <a:r>
              <a:rPr lang="en-US" sz="2400" dirty="0"/>
              <a:t>end</a:t>
            </a:r>
            <a:r>
              <a:rPr lang="ru-RU" sz="2400" dirty="0"/>
              <a:t>»,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 err="1"/>
              <a:t>wr</a:t>
            </a:r>
            <a:r>
              <a:rPr lang="en-US" sz="2400" dirty="0"/>
              <a:t> mem</a:t>
            </a:r>
            <a:r>
              <a:rPr lang="ru-RU" sz="2400" dirty="0"/>
              <a:t>»</a:t>
            </a:r>
            <a:r>
              <a:rPr lang="en-US" sz="2400" dirty="0"/>
              <a:t>.</a:t>
            </a:r>
            <a:endParaRPr lang="ru-RU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58571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2481943" y="4470400"/>
            <a:ext cx="9100457" cy="9397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Проверим конфигурацию командой </a:t>
            </a:r>
            <a:r>
              <a:rPr lang="ru-RU" sz="2400" dirty="0"/>
              <a:t>«</a:t>
            </a:r>
            <a:r>
              <a:rPr lang="en-US" sz="2400" dirty="0"/>
              <a:t>show run</a:t>
            </a:r>
            <a:r>
              <a:rPr lang="ru-RU" sz="2400" dirty="0"/>
              <a:t>», </a:t>
            </a:r>
            <a:r>
              <a:rPr lang="ru-RU" sz="2400" b="1" i="1" dirty="0"/>
              <a:t>жмём</a:t>
            </a:r>
            <a:r>
              <a:rPr lang="ru-RU" sz="2400" dirty="0"/>
              <a:t> </a:t>
            </a:r>
            <a:r>
              <a:rPr lang="en-US" sz="2400" dirty="0"/>
              <a:t>&lt;</a:t>
            </a:r>
            <a:r>
              <a:rPr lang="ru-RU" sz="2400" dirty="0"/>
              <a:t>Пробел</a:t>
            </a:r>
            <a:r>
              <a:rPr lang="en-US" sz="2400" dirty="0"/>
              <a:t>&gt;</a:t>
            </a:r>
            <a:r>
              <a:rPr lang="ru-RU" sz="2400" dirty="0"/>
              <a:t>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Видим созданные интерфейсы</a:t>
            </a:r>
            <a:r>
              <a:rPr lang="en-US" sz="2400" b="1" i="1" dirty="0"/>
              <a:t>.</a:t>
            </a:r>
            <a:endParaRPr lang="ru-RU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/>
          </a:p>
        </p:txBody>
      </p:sp>
      <p:sp>
        <p:nvSpPr>
          <p:cNvPr id="4" name="Стрелка вправо 3"/>
          <p:cNvSpPr/>
          <p:nvPr/>
        </p:nvSpPr>
        <p:spPr>
          <a:xfrm flipH="1">
            <a:off x="1601559" y="2858862"/>
            <a:ext cx="255816" cy="1605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6703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2264229" y="914400"/>
            <a:ext cx="9605509" cy="464457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b="1" i="1" dirty="0"/>
              <a:t>           Настроим маршрутизатор</a:t>
            </a:r>
            <a:r>
              <a:rPr lang="en-US" sz="2400" b="1" i="1" dirty="0"/>
              <a:t>.</a:t>
            </a:r>
            <a:endParaRPr lang="ru-RU" sz="2400" b="1" i="1" dirty="0"/>
          </a:p>
          <a:p>
            <a:pPr marL="0" indent="0">
              <a:buNone/>
            </a:pPr>
            <a:endParaRPr lang="ru-RU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       Проверим, к какому порту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       маршрутизатора подсоединён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       коммутатор.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В данном случае – это </a:t>
            </a:r>
            <a:r>
              <a:rPr lang="en-US" sz="2400" b="1" i="1" dirty="0"/>
              <a:t>Fa0/</a:t>
            </a:r>
            <a:r>
              <a:rPr lang="ru-RU" sz="2400" b="1" i="1" dirty="0"/>
              <a:t>0, </a:t>
            </a:r>
            <a:r>
              <a:rPr lang="en-US" sz="2400" b="1" i="1" dirty="0"/>
              <a:t>      </a:t>
            </a:r>
            <a:endParaRPr lang="ru-RU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(может быть другими).</a:t>
            </a:r>
            <a:r>
              <a:rPr lang="en-US" sz="2400" b="1" i="1" dirty="0"/>
              <a:t> </a:t>
            </a:r>
            <a:endParaRPr lang="ru-RU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В режиме глобального </a:t>
            </a:r>
            <a:r>
              <a:rPr lang="en-US" sz="2400" b="1" i="1" dirty="0"/>
              <a:t>                                </a:t>
            </a:r>
            <a:r>
              <a:rPr lang="ru-RU" sz="2400" b="1" i="1" dirty="0"/>
              <a:t>                       </a:t>
            </a:r>
            <a:r>
              <a:rPr lang="en-US" sz="2400" b="1" i="1" dirty="0"/>
              <a:t>   </a:t>
            </a:r>
            <a:r>
              <a:rPr lang="ru-RU" sz="2400" b="1" i="1" dirty="0"/>
              <a:t>конфигурирования </a:t>
            </a:r>
            <a:r>
              <a:rPr lang="ru-RU" sz="2400" dirty="0"/>
              <a:t>(«</a:t>
            </a:r>
            <a:r>
              <a:rPr lang="en-US" sz="2400" dirty="0"/>
              <a:t>n</a:t>
            </a:r>
            <a:r>
              <a:rPr lang="ru-RU" sz="2400" dirty="0"/>
              <a:t>», «</a:t>
            </a:r>
            <a:r>
              <a:rPr lang="en-US" sz="2400" dirty="0" err="1"/>
              <a:t>en</a:t>
            </a:r>
            <a:r>
              <a:rPr lang="ru-RU" sz="2400" dirty="0"/>
              <a:t>»,</a:t>
            </a:r>
            <a:r>
              <a:rPr lang="en-US" sz="2400" dirty="0"/>
              <a:t> </a:t>
            </a:r>
            <a:r>
              <a:rPr lang="ru-RU" sz="2400" dirty="0"/>
              <a:t> «</a:t>
            </a:r>
            <a:r>
              <a:rPr lang="en-US" sz="2400" dirty="0" err="1"/>
              <a:t>conf</a:t>
            </a:r>
            <a:r>
              <a:rPr lang="en-US" sz="2400" dirty="0"/>
              <a:t> t</a:t>
            </a:r>
            <a:r>
              <a:rPr lang="ru-RU" sz="2400" dirty="0"/>
              <a:t>»</a:t>
            </a:r>
            <a:r>
              <a:rPr lang="en-US" sz="2400" dirty="0"/>
              <a:t>)</a:t>
            </a:r>
            <a:r>
              <a:rPr lang="ru-RU" sz="2400" b="1" i="1" dirty="0"/>
              <a:t>  набираем:                                                              </a:t>
            </a:r>
            <a:r>
              <a:rPr lang="ru-RU" sz="2400" dirty="0"/>
              <a:t>«</a:t>
            </a:r>
            <a:r>
              <a:rPr lang="en-US" sz="2400" dirty="0" err="1"/>
              <a:t>int</a:t>
            </a:r>
            <a:r>
              <a:rPr lang="en-US" sz="2400" dirty="0"/>
              <a:t> fa0/0</a:t>
            </a:r>
            <a:r>
              <a:rPr lang="ru-RU" sz="2400" dirty="0"/>
              <a:t>»,  </a:t>
            </a:r>
            <a:endParaRPr lang="en-US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/>
              <a:t>no shutdown</a:t>
            </a:r>
            <a:r>
              <a:rPr lang="ru-RU" sz="2400" dirty="0"/>
              <a:t>»</a:t>
            </a:r>
            <a:r>
              <a:rPr lang="en-US" sz="2400" dirty="0"/>
              <a:t> </a:t>
            </a:r>
            <a:r>
              <a:rPr lang="en-US" sz="2400" b="1" i="1" dirty="0"/>
              <a:t>- </a:t>
            </a:r>
            <a:r>
              <a:rPr lang="ru-RU" sz="2400" b="1" i="1" dirty="0"/>
              <a:t>поднимаем интерфейс, далее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/>
              <a:t>exit</a:t>
            </a:r>
            <a:r>
              <a:rPr lang="ru-RU" sz="2400" dirty="0"/>
              <a:t>». 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Стрелка вправо 3"/>
          <p:cNvSpPr/>
          <p:nvPr/>
        </p:nvSpPr>
        <p:spPr>
          <a:xfrm>
            <a:off x="769257" y="1959429"/>
            <a:ext cx="246743" cy="1741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8225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2743201" y="1364343"/>
            <a:ext cx="9605509" cy="40930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Создадим </a:t>
            </a:r>
            <a:r>
              <a:rPr lang="en-US" sz="2400" b="1" i="1" dirty="0"/>
              <a:t>sub</a:t>
            </a:r>
            <a:r>
              <a:rPr lang="ru-RU" sz="2400" b="1" i="1" dirty="0"/>
              <a:t>-интерфейсы для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i="1" dirty="0"/>
              <a:t>VLAN2 </a:t>
            </a:r>
            <a:r>
              <a:rPr lang="ru-RU" sz="2400" b="1" i="1" dirty="0"/>
              <a:t>и </a:t>
            </a:r>
            <a:r>
              <a:rPr lang="en-US" sz="2400" b="1" i="1" dirty="0"/>
              <a:t>VLAN3</a:t>
            </a:r>
            <a:r>
              <a:rPr lang="ru-RU" sz="2400" b="1" i="1" dirty="0"/>
              <a:t>. </a:t>
            </a:r>
            <a:endParaRPr lang="en-US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Сначала для </a:t>
            </a:r>
            <a:r>
              <a:rPr lang="en-US" sz="2400" b="1" i="1" dirty="0"/>
              <a:t>VLAN2</a:t>
            </a:r>
            <a:r>
              <a:rPr lang="ru-RU" sz="2400" b="1" i="1" dirty="0"/>
              <a:t> набираем: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 err="1"/>
              <a:t>int</a:t>
            </a:r>
            <a:r>
              <a:rPr lang="en-US" sz="2400" dirty="0"/>
              <a:t> fa0/0.2</a:t>
            </a:r>
            <a:r>
              <a:rPr lang="ru-RU" sz="2400" dirty="0"/>
              <a:t>»,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/>
              <a:t>encapsulation dot1Q </a:t>
            </a:r>
            <a:r>
              <a:rPr lang="en-US" sz="2400" b="1" dirty="0"/>
              <a:t>2</a:t>
            </a:r>
            <a:r>
              <a:rPr lang="ru-RU" sz="2400" dirty="0"/>
              <a:t>».  </a:t>
            </a:r>
            <a:endParaRPr lang="en-US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Задаём </a:t>
            </a:r>
            <a:r>
              <a:rPr lang="en-US" sz="2400" b="1" i="1" dirty="0" err="1"/>
              <a:t>ip</a:t>
            </a:r>
            <a:r>
              <a:rPr lang="en-US" sz="2400" b="1" i="1" dirty="0"/>
              <a:t>-</a:t>
            </a:r>
            <a:r>
              <a:rPr lang="ru-RU" sz="2400" b="1" i="1" dirty="0"/>
              <a:t>адрес для этого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сегмента сети: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 err="1"/>
              <a:t>ip</a:t>
            </a:r>
            <a:r>
              <a:rPr lang="en-US" sz="2400" dirty="0"/>
              <a:t> address 192.168.</a:t>
            </a:r>
            <a:r>
              <a:rPr lang="en-US" sz="2400" b="1" dirty="0"/>
              <a:t>2</a:t>
            </a:r>
            <a:r>
              <a:rPr lang="en-US" sz="2400" dirty="0"/>
              <a:t>.1 255.255.255.0</a:t>
            </a:r>
            <a:r>
              <a:rPr lang="ru-RU" sz="2400" dirty="0"/>
              <a:t>», </a:t>
            </a:r>
            <a:r>
              <a:rPr lang="ru-RU" sz="2400" b="1" i="1" dirty="0"/>
              <a:t>далее</a:t>
            </a:r>
            <a:r>
              <a:rPr lang="ru-RU" sz="2400" dirty="0"/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/>
              <a:t>no shutdown</a:t>
            </a:r>
            <a:r>
              <a:rPr lang="ru-RU" sz="2400" dirty="0"/>
              <a:t>», </a:t>
            </a:r>
            <a:endParaRPr lang="en-US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/>
              <a:t>exit</a:t>
            </a:r>
            <a:r>
              <a:rPr lang="ru-RU" sz="2400" dirty="0"/>
              <a:t>».</a:t>
            </a:r>
          </a:p>
        </p:txBody>
      </p:sp>
      <p:sp>
        <p:nvSpPr>
          <p:cNvPr id="4" name="Стрелка вправо 3"/>
          <p:cNvSpPr/>
          <p:nvPr/>
        </p:nvSpPr>
        <p:spPr>
          <a:xfrm>
            <a:off x="769257" y="1959429"/>
            <a:ext cx="246743" cy="1741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5619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2743201" y="1364343"/>
            <a:ext cx="9605509" cy="40930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Повторим те же действия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 для </a:t>
            </a:r>
            <a:r>
              <a:rPr lang="en-US" sz="2400" b="1" i="1" dirty="0"/>
              <a:t>VLAN</a:t>
            </a:r>
            <a:r>
              <a:rPr lang="ru-RU" sz="2400" b="1" i="1" dirty="0"/>
              <a:t>3, набираем: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 err="1"/>
              <a:t>int</a:t>
            </a:r>
            <a:r>
              <a:rPr lang="en-US" sz="2400" dirty="0"/>
              <a:t> fa0/0.</a:t>
            </a:r>
            <a:r>
              <a:rPr lang="ru-RU" sz="2400" b="1" dirty="0"/>
              <a:t>3</a:t>
            </a:r>
            <a:r>
              <a:rPr lang="ru-RU" sz="2400" dirty="0"/>
              <a:t>»,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/>
              <a:t>encapsulation dot1Q </a:t>
            </a:r>
            <a:r>
              <a:rPr lang="ru-RU" sz="2400" b="1" dirty="0"/>
              <a:t>3</a:t>
            </a:r>
            <a:r>
              <a:rPr lang="ru-RU" sz="2400" dirty="0"/>
              <a:t>».  </a:t>
            </a:r>
            <a:endParaRPr lang="en-US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Задаём </a:t>
            </a:r>
            <a:r>
              <a:rPr lang="en-US" sz="2400" b="1" i="1" dirty="0" err="1"/>
              <a:t>ip</a:t>
            </a:r>
            <a:r>
              <a:rPr lang="en-US" sz="2400" b="1" i="1" dirty="0"/>
              <a:t>-</a:t>
            </a:r>
            <a:r>
              <a:rPr lang="ru-RU" sz="2400" b="1" i="1" dirty="0"/>
              <a:t>адрес для этого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сегмента сети: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 err="1"/>
              <a:t>ip</a:t>
            </a:r>
            <a:r>
              <a:rPr lang="en-US" sz="2400" dirty="0"/>
              <a:t> address 192.168.</a:t>
            </a:r>
            <a:r>
              <a:rPr lang="en-US" sz="2400" b="1" dirty="0"/>
              <a:t>3</a:t>
            </a:r>
            <a:r>
              <a:rPr lang="en-US" sz="2400" dirty="0"/>
              <a:t>.1 255.255.255.0</a:t>
            </a:r>
            <a:r>
              <a:rPr lang="ru-RU" sz="2400" dirty="0"/>
              <a:t>», </a:t>
            </a:r>
            <a:r>
              <a:rPr lang="ru-RU" sz="2400" b="1" i="1" dirty="0"/>
              <a:t>далее</a:t>
            </a:r>
            <a:r>
              <a:rPr lang="ru-RU" sz="2400" dirty="0"/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/>
              <a:t>no shutdown</a:t>
            </a:r>
            <a:r>
              <a:rPr lang="ru-RU" sz="2400" dirty="0"/>
              <a:t>», </a:t>
            </a:r>
            <a:endParaRPr lang="en-US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/>
              <a:t>end</a:t>
            </a:r>
            <a:r>
              <a:rPr lang="ru-RU" sz="2400" dirty="0"/>
              <a:t>»</a:t>
            </a:r>
            <a:r>
              <a:rPr lang="en-US" sz="2400" dirty="0"/>
              <a:t>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 err="1"/>
              <a:t>wr</a:t>
            </a:r>
            <a:r>
              <a:rPr lang="en-US" sz="2400" dirty="0"/>
              <a:t> mem</a:t>
            </a:r>
            <a:r>
              <a:rPr lang="ru-RU" sz="2400" dirty="0"/>
              <a:t>».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.</a:t>
            </a:r>
          </a:p>
        </p:txBody>
      </p:sp>
      <p:sp>
        <p:nvSpPr>
          <p:cNvPr id="4" name="Стрелка вправо 3"/>
          <p:cNvSpPr/>
          <p:nvPr/>
        </p:nvSpPr>
        <p:spPr>
          <a:xfrm>
            <a:off x="769257" y="1959429"/>
            <a:ext cx="246743" cy="1741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3426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2481943" y="4470400"/>
            <a:ext cx="9100457" cy="9397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Проверим конфигурацию командой </a:t>
            </a:r>
            <a:r>
              <a:rPr lang="ru-RU" sz="2400" dirty="0"/>
              <a:t>«</a:t>
            </a:r>
            <a:r>
              <a:rPr lang="en-US" sz="2400" dirty="0"/>
              <a:t>show run</a:t>
            </a:r>
            <a:r>
              <a:rPr lang="ru-RU" sz="2400" dirty="0"/>
              <a:t>», </a:t>
            </a:r>
            <a:r>
              <a:rPr lang="ru-RU" sz="2400" b="1" i="1" dirty="0"/>
              <a:t>жмём</a:t>
            </a:r>
            <a:r>
              <a:rPr lang="ru-RU" sz="2400" dirty="0"/>
              <a:t> </a:t>
            </a:r>
            <a:r>
              <a:rPr lang="en-US" sz="2400" dirty="0"/>
              <a:t>&lt;</a:t>
            </a:r>
            <a:r>
              <a:rPr lang="ru-RU" sz="2400" dirty="0"/>
              <a:t>Пробел</a:t>
            </a:r>
            <a:r>
              <a:rPr lang="en-US" sz="2400" dirty="0"/>
              <a:t>&gt;</a:t>
            </a:r>
            <a:r>
              <a:rPr lang="ru-RU" sz="2400" dirty="0"/>
              <a:t>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Видим созданные интерфейсы</a:t>
            </a:r>
            <a:r>
              <a:rPr lang="en-US" sz="2400" b="1" i="1" dirty="0"/>
              <a:t>.</a:t>
            </a:r>
            <a:endParaRPr lang="ru-RU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/>
          </a:p>
        </p:txBody>
      </p:sp>
      <p:sp>
        <p:nvSpPr>
          <p:cNvPr id="4" name="Стрелка вправо 3"/>
          <p:cNvSpPr/>
          <p:nvPr/>
        </p:nvSpPr>
        <p:spPr>
          <a:xfrm>
            <a:off x="769257" y="1959429"/>
            <a:ext cx="246743" cy="1741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5782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2481943" y="4804229"/>
            <a:ext cx="9100457" cy="60597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Настроим </a:t>
            </a:r>
            <a:r>
              <a:rPr lang="en-US" sz="2400" i="1" dirty="0" err="1"/>
              <a:t>ip</a:t>
            </a:r>
            <a:r>
              <a:rPr lang="en-US" sz="2400" i="1" dirty="0"/>
              <a:t>-</a:t>
            </a:r>
            <a:r>
              <a:rPr lang="ru-RU" sz="2400" i="1" dirty="0"/>
              <a:t>адрес</a:t>
            </a:r>
            <a:r>
              <a:rPr lang="ru-RU" sz="2400" b="1" i="1" dirty="0"/>
              <a:t>, </a:t>
            </a:r>
            <a:r>
              <a:rPr lang="ru-RU" sz="2400" i="1" dirty="0"/>
              <a:t>маску</a:t>
            </a:r>
            <a:r>
              <a:rPr lang="ru-RU" sz="2400" b="1" i="1" dirty="0"/>
              <a:t> и </a:t>
            </a:r>
            <a:r>
              <a:rPr lang="ru-RU" sz="2400" i="1" dirty="0"/>
              <a:t>шлюз</a:t>
            </a:r>
            <a:r>
              <a:rPr lang="ru-RU" sz="2400" b="1" i="1" dirty="0"/>
              <a:t> компьютера</a:t>
            </a:r>
            <a:r>
              <a:rPr lang="ru-RU" sz="2400" i="1" dirty="0"/>
              <a:t> </a:t>
            </a:r>
            <a:r>
              <a:rPr lang="en-US" sz="2400" i="1" dirty="0"/>
              <a:t>PC0</a:t>
            </a:r>
            <a:r>
              <a:rPr lang="en-US" sz="2400" b="1" i="1" dirty="0"/>
              <a:t>.</a:t>
            </a:r>
            <a:endParaRPr lang="ru-RU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1121935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2481943" y="4804229"/>
            <a:ext cx="9100457" cy="60597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Настроим </a:t>
            </a:r>
            <a:r>
              <a:rPr lang="en-US" sz="2400" i="1" dirty="0" err="1"/>
              <a:t>ip</a:t>
            </a:r>
            <a:r>
              <a:rPr lang="en-US" sz="2400" i="1" dirty="0"/>
              <a:t>-</a:t>
            </a:r>
            <a:r>
              <a:rPr lang="ru-RU" sz="2400" i="1" dirty="0"/>
              <a:t>адрес</a:t>
            </a:r>
            <a:r>
              <a:rPr lang="ru-RU" sz="2400" b="1" i="1" dirty="0"/>
              <a:t>, </a:t>
            </a:r>
            <a:r>
              <a:rPr lang="ru-RU" sz="2400" i="1" dirty="0"/>
              <a:t>маску</a:t>
            </a:r>
            <a:r>
              <a:rPr lang="ru-RU" sz="2400" b="1" i="1" dirty="0"/>
              <a:t> и </a:t>
            </a:r>
            <a:r>
              <a:rPr lang="ru-RU" sz="2400" i="1" dirty="0"/>
              <a:t>шлюз</a:t>
            </a:r>
            <a:r>
              <a:rPr lang="ru-RU" sz="2400" b="1" i="1" dirty="0"/>
              <a:t> компьютера</a:t>
            </a:r>
            <a:r>
              <a:rPr lang="ru-RU" sz="2400" i="1" dirty="0"/>
              <a:t> </a:t>
            </a:r>
            <a:r>
              <a:rPr lang="en-US" sz="2400" i="1" dirty="0"/>
              <a:t>PC1</a:t>
            </a:r>
            <a:r>
              <a:rPr lang="en-US" sz="2400" b="1" i="1" dirty="0"/>
              <a:t>.</a:t>
            </a:r>
            <a:endParaRPr lang="ru-RU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545843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2481943" y="4804229"/>
            <a:ext cx="9100457" cy="60597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Настроим </a:t>
            </a:r>
            <a:r>
              <a:rPr lang="en-US" sz="2400" i="1" dirty="0" err="1"/>
              <a:t>ip</a:t>
            </a:r>
            <a:r>
              <a:rPr lang="en-US" sz="2400" i="1" dirty="0"/>
              <a:t>-</a:t>
            </a:r>
            <a:r>
              <a:rPr lang="ru-RU" sz="2400" i="1" dirty="0"/>
              <a:t>адрес</a:t>
            </a:r>
            <a:r>
              <a:rPr lang="ru-RU" sz="2400" b="1" i="1" dirty="0"/>
              <a:t>, </a:t>
            </a:r>
            <a:r>
              <a:rPr lang="ru-RU" sz="2400" i="1" dirty="0"/>
              <a:t>маску</a:t>
            </a:r>
            <a:r>
              <a:rPr lang="ru-RU" sz="2400" b="1" i="1" dirty="0"/>
              <a:t> и </a:t>
            </a:r>
            <a:r>
              <a:rPr lang="ru-RU" sz="2400" i="1" dirty="0"/>
              <a:t>шлюз</a:t>
            </a:r>
            <a:r>
              <a:rPr lang="ru-RU" sz="2400" b="1" i="1" dirty="0"/>
              <a:t> компьютера</a:t>
            </a:r>
            <a:r>
              <a:rPr lang="ru-RU" sz="2400" i="1" dirty="0"/>
              <a:t> </a:t>
            </a:r>
            <a:r>
              <a:rPr lang="en-US" sz="2400" i="1" dirty="0"/>
              <a:t>PC2</a:t>
            </a:r>
            <a:r>
              <a:rPr lang="en-US" sz="2400" b="1" i="1" dirty="0"/>
              <a:t>.</a:t>
            </a:r>
            <a:endParaRPr lang="ru-RU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909980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2481943" y="4804229"/>
            <a:ext cx="9100457" cy="60597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Настроим </a:t>
            </a:r>
            <a:r>
              <a:rPr lang="en-US" sz="2400" i="1" dirty="0" err="1"/>
              <a:t>ip</a:t>
            </a:r>
            <a:r>
              <a:rPr lang="en-US" sz="2400" i="1" dirty="0"/>
              <a:t>-</a:t>
            </a:r>
            <a:r>
              <a:rPr lang="ru-RU" sz="2400" i="1" dirty="0"/>
              <a:t>адрес</a:t>
            </a:r>
            <a:r>
              <a:rPr lang="ru-RU" sz="2400" b="1" i="1" dirty="0"/>
              <a:t>, </a:t>
            </a:r>
            <a:r>
              <a:rPr lang="ru-RU" sz="2400" i="1" dirty="0"/>
              <a:t>маску</a:t>
            </a:r>
            <a:r>
              <a:rPr lang="ru-RU" sz="2400" b="1" i="1" dirty="0"/>
              <a:t> и </a:t>
            </a:r>
            <a:r>
              <a:rPr lang="ru-RU" sz="2400" i="1" dirty="0"/>
              <a:t>шлюз</a:t>
            </a:r>
            <a:r>
              <a:rPr lang="ru-RU" sz="2400" b="1" i="1" dirty="0"/>
              <a:t> для</a:t>
            </a:r>
            <a:r>
              <a:rPr lang="ru-RU" sz="2400" i="1" dirty="0"/>
              <a:t> сервера</a:t>
            </a:r>
            <a:r>
              <a:rPr lang="en-US" sz="2400" b="1" i="1" dirty="0"/>
              <a:t>.</a:t>
            </a:r>
            <a:endParaRPr lang="ru-RU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1298249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1" y="4542971"/>
            <a:ext cx="7112000" cy="89988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Проверим связь компьютера</a:t>
            </a:r>
            <a:r>
              <a:rPr lang="ru-RU" sz="2400" i="1" dirty="0"/>
              <a:t> </a:t>
            </a:r>
            <a:r>
              <a:rPr lang="en-US" sz="2400" i="1" dirty="0"/>
              <a:t>PC</a:t>
            </a:r>
            <a:r>
              <a:rPr lang="ru-RU" sz="2400" i="1" dirty="0"/>
              <a:t>0 </a:t>
            </a:r>
            <a:r>
              <a:rPr lang="ru-RU" sz="2400" b="1" i="1" dirty="0"/>
              <a:t>со </a:t>
            </a:r>
            <a:r>
              <a:rPr lang="ru-RU" sz="2400" i="1" dirty="0"/>
              <a:t>шлюзом</a:t>
            </a:r>
            <a:r>
              <a:rPr lang="ru-RU" sz="2400" b="1" i="1" dirty="0"/>
              <a:t>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другими </a:t>
            </a:r>
            <a:r>
              <a:rPr lang="ru-RU" sz="2400" i="1" dirty="0"/>
              <a:t>компьютерами </a:t>
            </a:r>
            <a:r>
              <a:rPr lang="ru-RU" sz="2400" b="1" i="1" dirty="0"/>
              <a:t>и </a:t>
            </a:r>
            <a:r>
              <a:rPr lang="ru-RU" sz="2400" i="1" dirty="0"/>
              <a:t>сервером</a:t>
            </a:r>
            <a:r>
              <a:rPr lang="en-US" sz="2400" b="1" i="1" dirty="0"/>
              <a:t>.</a:t>
            </a:r>
            <a:r>
              <a:rPr lang="ru-RU" sz="2400" b="1" i="1" dirty="0"/>
              <a:t> Связь есть.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8129509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1" y="4542971"/>
            <a:ext cx="7112000" cy="89988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Проверим связь</a:t>
            </a:r>
            <a:r>
              <a:rPr lang="ru-RU" sz="2400" i="1" dirty="0"/>
              <a:t> сервера </a:t>
            </a:r>
            <a:r>
              <a:rPr lang="ru-RU" sz="2400" b="1" i="1" dirty="0"/>
              <a:t>со </a:t>
            </a:r>
            <a:r>
              <a:rPr lang="ru-RU" sz="2400" i="1" dirty="0"/>
              <a:t>шлюзом</a:t>
            </a:r>
            <a:r>
              <a:rPr lang="ru-RU" sz="2400" b="1" i="1" dirty="0"/>
              <a:t> и другими </a:t>
            </a:r>
            <a:r>
              <a:rPr lang="ru-RU" sz="2400" i="1" dirty="0"/>
              <a:t>компьютерами</a:t>
            </a:r>
            <a:r>
              <a:rPr lang="en-US" sz="2400" b="1" i="1" dirty="0"/>
              <a:t>.</a:t>
            </a:r>
            <a:r>
              <a:rPr lang="ru-RU" sz="2400" b="1" i="1" dirty="0"/>
              <a:t> Связь есть.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4146411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2989943" y="1146629"/>
            <a:ext cx="8528957" cy="42878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Локальную сеть мы настроили</a:t>
            </a:r>
            <a:r>
              <a:rPr lang="en-US" dirty="0"/>
              <a:t>.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Предположим, что нам понадобилось подключить нашу локальную сеть к сети Интернет.</a:t>
            </a:r>
          </a:p>
          <a:p>
            <a:pPr marL="0" indent="0">
              <a:buNone/>
            </a:pPr>
            <a:r>
              <a:rPr lang="ru-RU" dirty="0"/>
              <a:t>Для этого пришлось обратиться к провайдеру, который нам прокинул кабель и выделил какой-то </a:t>
            </a:r>
            <a:r>
              <a:rPr lang="ru-RU" b="1" i="1" dirty="0"/>
              <a:t>белый  статический  </a:t>
            </a:r>
            <a:r>
              <a:rPr lang="en-US" b="1" i="1" dirty="0" err="1"/>
              <a:t>ip</a:t>
            </a:r>
            <a:r>
              <a:rPr lang="ru-RU" b="1" i="1" dirty="0"/>
              <a:t>-адрес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Симулируем сеть Интернет с помощью сервера и роутера, у которых будут </a:t>
            </a:r>
            <a:r>
              <a:rPr lang="ru-RU" b="1" i="1" dirty="0"/>
              <a:t>белые  </a:t>
            </a:r>
            <a:r>
              <a:rPr lang="en-US" b="1" i="1" dirty="0" err="1"/>
              <a:t>ip</a:t>
            </a:r>
            <a:r>
              <a:rPr lang="ru-RU" b="1" i="1" dirty="0"/>
              <a:t>-адреса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 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02497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2801257" y="696686"/>
            <a:ext cx="8606971" cy="4775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Предположим, что на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маршрутизаторе провайдера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интерфейсу </a:t>
            </a:r>
            <a:r>
              <a:rPr lang="en-US" sz="2400" i="1" dirty="0"/>
              <a:t>Fa0/0</a:t>
            </a:r>
            <a:r>
              <a:rPr lang="en-US" sz="2400" b="1" i="1" dirty="0"/>
              <a:t> (</a:t>
            </a:r>
            <a:r>
              <a:rPr lang="ru-RU" sz="2400" b="1" i="1" dirty="0"/>
              <a:t>может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быть другим) соответствует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i="1" dirty="0"/>
              <a:t>белый</a:t>
            </a:r>
            <a:r>
              <a:rPr lang="ru-RU" sz="2400" b="1" i="1" dirty="0"/>
              <a:t>  </a:t>
            </a:r>
            <a:r>
              <a:rPr lang="en-US" sz="2400" i="1" dirty="0" err="1"/>
              <a:t>ip</a:t>
            </a:r>
            <a:r>
              <a:rPr lang="ru-RU" sz="2400" i="1" dirty="0"/>
              <a:t>-адрес</a:t>
            </a:r>
            <a:r>
              <a:rPr lang="ru-RU" sz="2400" b="1" i="1" dirty="0"/>
              <a:t>, например: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213.234.10.1   255.255.255.252.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Настроим маршрутизатор</a:t>
            </a:r>
            <a:r>
              <a:rPr lang="en-US" sz="2400" b="1" i="1" dirty="0"/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провайдера набираем:</a:t>
            </a:r>
            <a:r>
              <a:rPr lang="ru-RU" sz="2400" b="1" dirty="0"/>
              <a:t> </a:t>
            </a:r>
            <a:r>
              <a:rPr lang="ru-RU" sz="2400" dirty="0"/>
              <a:t>«</a:t>
            </a:r>
            <a:r>
              <a:rPr lang="en-US" sz="2400" dirty="0" err="1"/>
              <a:t>en</a:t>
            </a:r>
            <a:r>
              <a:rPr lang="ru-RU" sz="2400" dirty="0"/>
              <a:t>»</a:t>
            </a:r>
            <a:r>
              <a:rPr lang="ru-RU" sz="2400" b="1" dirty="0"/>
              <a:t>,</a:t>
            </a:r>
            <a:r>
              <a:rPr lang="ru-RU" sz="2400" dirty="0"/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 err="1"/>
              <a:t>conf</a:t>
            </a:r>
            <a:r>
              <a:rPr lang="en-US" sz="2400" dirty="0"/>
              <a:t> t</a:t>
            </a:r>
            <a:r>
              <a:rPr lang="ru-RU" sz="2400" dirty="0"/>
              <a:t>»</a:t>
            </a:r>
            <a:r>
              <a:rPr lang="ru-RU" sz="2400" b="1" dirty="0"/>
              <a:t>, </a:t>
            </a:r>
            <a:r>
              <a:rPr lang="ru-RU" sz="2400" dirty="0"/>
              <a:t>«</a:t>
            </a:r>
            <a:r>
              <a:rPr lang="en-US" sz="2400" dirty="0" err="1"/>
              <a:t>int</a:t>
            </a:r>
            <a:r>
              <a:rPr lang="en-US" sz="2400" dirty="0"/>
              <a:t> fa0/0</a:t>
            </a:r>
            <a:r>
              <a:rPr lang="ru-RU" sz="2400" dirty="0"/>
              <a:t>»</a:t>
            </a:r>
            <a:r>
              <a:rPr lang="ru-RU" sz="2400" b="1" dirty="0"/>
              <a:t>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 err="1"/>
              <a:t>ip</a:t>
            </a:r>
            <a:r>
              <a:rPr lang="en-US" sz="2400" dirty="0"/>
              <a:t> address 213.234.10.1 255.255.255.252</a:t>
            </a:r>
            <a:r>
              <a:rPr lang="ru-RU" sz="2400" dirty="0"/>
              <a:t>»</a:t>
            </a:r>
            <a:r>
              <a:rPr lang="ru-RU" sz="2400" b="1" dirty="0"/>
              <a:t>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/>
              <a:t>no shutdown</a:t>
            </a:r>
            <a:r>
              <a:rPr lang="ru-RU" sz="2400" dirty="0"/>
              <a:t>»</a:t>
            </a:r>
            <a:r>
              <a:rPr lang="ru-RU" sz="2400" b="1" dirty="0"/>
              <a:t>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/>
              <a:t>exit</a:t>
            </a:r>
            <a:r>
              <a:rPr lang="ru-RU" sz="2400" dirty="0"/>
              <a:t>»</a:t>
            </a:r>
            <a:r>
              <a:rPr lang="ru-RU" sz="2400" b="1" dirty="0"/>
              <a:t>.</a:t>
            </a:r>
            <a:r>
              <a:rPr lang="ru-RU" sz="2400" dirty="0"/>
              <a:t> </a:t>
            </a:r>
            <a:r>
              <a:rPr lang="ru-RU" sz="2400" b="1" dirty="0"/>
              <a:t>  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1924363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2670629" y="696686"/>
            <a:ext cx="8737599" cy="4775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За маршрутизатором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провайдера на интерфейсе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 </a:t>
            </a:r>
            <a:r>
              <a:rPr lang="en-US" sz="2400" i="1" dirty="0"/>
              <a:t>Fa0/</a:t>
            </a:r>
            <a:r>
              <a:rPr lang="ru-RU" sz="2400" i="1" dirty="0"/>
              <a:t>1</a:t>
            </a:r>
            <a:r>
              <a:rPr lang="en-US" sz="2400" b="1" i="1" dirty="0"/>
              <a:t> (</a:t>
            </a:r>
            <a:r>
              <a:rPr lang="ru-RU" sz="2400" b="1" i="1" dirty="0"/>
              <a:t>может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быть другим) находится сервер,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который также имеет свой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i="1" dirty="0"/>
              <a:t>белый</a:t>
            </a:r>
            <a:r>
              <a:rPr lang="ru-RU" sz="2400" b="1" i="1" dirty="0"/>
              <a:t>  </a:t>
            </a:r>
            <a:r>
              <a:rPr lang="en-US" sz="2400" i="1" dirty="0" err="1"/>
              <a:t>ip</a:t>
            </a:r>
            <a:r>
              <a:rPr lang="ru-RU" sz="2400" i="1" dirty="0"/>
              <a:t>-адрес</a:t>
            </a:r>
            <a:r>
              <a:rPr lang="ru-RU" sz="2400" b="1" i="1" dirty="0"/>
              <a:t>, например: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213.234.20.1   255.255.255.252.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Продолжим настройку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маршрутизатора</a:t>
            </a:r>
            <a:r>
              <a:rPr lang="en-US" sz="2400" b="1" i="1" dirty="0"/>
              <a:t> </a:t>
            </a:r>
            <a:r>
              <a:rPr lang="ru-RU" sz="2400" b="1" i="1" dirty="0"/>
              <a:t>провайдера набираем:</a:t>
            </a:r>
            <a:r>
              <a:rPr lang="ru-RU" sz="2400" b="1" dirty="0"/>
              <a:t> </a:t>
            </a:r>
            <a:r>
              <a:rPr lang="ru-RU" sz="2400" dirty="0"/>
              <a:t>«</a:t>
            </a:r>
            <a:r>
              <a:rPr lang="en-US" sz="2400" dirty="0" err="1"/>
              <a:t>int</a:t>
            </a:r>
            <a:r>
              <a:rPr lang="en-US" sz="2400" dirty="0"/>
              <a:t> fa0/</a:t>
            </a:r>
            <a:r>
              <a:rPr lang="ru-RU" sz="2400" dirty="0"/>
              <a:t>1»</a:t>
            </a:r>
            <a:r>
              <a:rPr lang="ru-RU" sz="2400" b="1" dirty="0"/>
              <a:t>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 err="1"/>
              <a:t>ip</a:t>
            </a:r>
            <a:r>
              <a:rPr lang="en-US" sz="2400" dirty="0"/>
              <a:t> address 213.234.</a:t>
            </a:r>
            <a:r>
              <a:rPr lang="ru-RU" sz="2400" b="1" dirty="0"/>
              <a:t>2</a:t>
            </a:r>
            <a:r>
              <a:rPr lang="en-US" sz="2400" dirty="0"/>
              <a:t>0.1 255.255.255.252</a:t>
            </a:r>
            <a:r>
              <a:rPr lang="ru-RU" sz="2400" dirty="0"/>
              <a:t>»</a:t>
            </a:r>
            <a:r>
              <a:rPr lang="ru-RU" sz="2400" b="1" dirty="0"/>
              <a:t>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/>
              <a:t>no shutdown</a:t>
            </a:r>
            <a:r>
              <a:rPr lang="ru-RU" sz="2400" dirty="0"/>
              <a:t>»</a:t>
            </a:r>
            <a:r>
              <a:rPr lang="ru-RU" sz="2400" b="1" dirty="0"/>
              <a:t>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/>
              <a:t>end</a:t>
            </a:r>
            <a:r>
              <a:rPr lang="ru-RU" sz="2400" dirty="0"/>
              <a:t>»</a:t>
            </a:r>
            <a:r>
              <a:rPr lang="ru-RU" sz="2400" b="1" dirty="0"/>
              <a:t> , </a:t>
            </a:r>
            <a:r>
              <a:rPr lang="ru-RU" sz="2400" dirty="0"/>
              <a:t>«</a:t>
            </a:r>
            <a:r>
              <a:rPr lang="en-US" sz="2400" dirty="0" err="1"/>
              <a:t>wr</a:t>
            </a:r>
            <a:r>
              <a:rPr lang="en-US" sz="2400" dirty="0"/>
              <a:t> mem</a:t>
            </a:r>
            <a:r>
              <a:rPr lang="ru-RU" sz="2400" dirty="0"/>
              <a:t>»</a:t>
            </a:r>
            <a:r>
              <a:rPr lang="ru-RU" sz="2400" b="1" dirty="0"/>
              <a:t>.</a:t>
            </a:r>
            <a:r>
              <a:rPr lang="ru-RU" sz="2400" dirty="0"/>
              <a:t> </a:t>
            </a:r>
            <a:r>
              <a:rPr lang="ru-RU" sz="2400" b="1" dirty="0"/>
              <a:t>  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1212433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2481943" y="4804229"/>
            <a:ext cx="9100457" cy="60597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Настроим </a:t>
            </a:r>
            <a:r>
              <a:rPr lang="en-US" sz="2400" i="1" dirty="0" err="1"/>
              <a:t>ip</a:t>
            </a:r>
            <a:r>
              <a:rPr lang="en-US" sz="2400" i="1" dirty="0"/>
              <a:t>-</a:t>
            </a:r>
            <a:r>
              <a:rPr lang="ru-RU" sz="2400" i="1" dirty="0"/>
              <a:t>адрес</a:t>
            </a:r>
            <a:r>
              <a:rPr lang="ru-RU" sz="2400" b="1" i="1" dirty="0"/>
              <a:t>, </a:t>
            </a:r>
            <a:r>
              <a:rPr lang="ru-RU" sz="2400" i="1" dirty="0"/>
              <a:t>маску</a:t>
            </a:r>
            <a:r>
              <a:rPr lang="ru-RU" sz="2400" b="1" i="1" dirty="0"/>
              <a:t> и </a:t>
            </a:r>
            <a:r>
              <a:rPr lang="ru-RU" sz="2400" i="1" dirty="0"/>
              <a:t>шлюз</a:t>
            </a:r>
            <a:r>
              <a:rPr lang="ru-RU" sz="2400" b="1" i="1" dirty="0"/>
              <a:t> для</a:t>
            </a:r>
            <a:r>
              <a:rPr lang="ru-RU" sz="2400" i="1" dirty="0"/>
              <a:t> сервера провайдера</a:t>
            </a:r>
            <a:r>
              <a:rPr lang="en-US" sz="2400" b="1" i="1" dirty="0"/>
              <a:t>.</a:t>
            </a:r>
            <a:endParaRPr lang="ru-RU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1898738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2278743" y="3149599"/>
            <a:ext cx="9506857" cy="226060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Проверим конфигурацию</a:t>
            </a:r>
            <a:r>
              <a:rPr lang="en-US" sz="2400" b="1" i="1" dirty="0"/>
              <a:t> </a:t>
            </a:r>
            <a:endParaRPr lang="ru-RU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маршрутизатора провайдера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командой </a:t>
            </a:r>
            <a:r>
              <a:rPr lang="ru-RU" sz="2400" dirty="0"/>
              <a:t>«</a:t>
            </a:r>
            <a:r>
              <a:rPr lang="en-US" sz="2400" dirty="0"/>
              <a:t>show run</a:t>
            </a:r>
            <a:r>
              <a:rPr lang="ru-RU" sz="2400" dirty="0"/>
              <a:t>», </a:t>
            </a:r>
            <a:r>
              <a:rPr lang="ru-RU" sz="2400" b="1" i="1" dirty="0"/>
              <a:t>жмём</a:t>
            </a:r>
            <a:r>
              <a:rPr lang="ru-RU" sz="2400" dirty="0"/>
              <a:t> </a:t>
            </a:r>
            <a:r>
              <a:rPr lang="en-US" sz="2400" dirty="0"/>
              <a:t>&lt;</a:t>
            </a:r>
            <a:r>
              <a:rPr lang="ru-RU" sz="2400" dirty="0"/>
              <a:t>Пробел</a:t>
            </a:r>
            <a:r>
              <a:rPr lang="en-US" sz="2400" dirty="0"/>
              <a:t>&gt;</a:t>
            </a:r>
            <a:r>
              <a:rPr lang="ru-RU" sz="2400" dirty="0"/>
              <a:t>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Видим один интерфейс с </a:t>
            </a:r>
            <a:r>
              <a:rPr lang="ru-RU" sz="2400" i="1" dirty="0"/>
              <a:t>белым </a:t>
            </a:r>
            <a:r>
              <a:rPr lang="en-US" sz="2400" i="1" dirty="0" err="1"/>
              <a:t>ip</a:t>
            </a:r>
            <a:r>
              <a:rPr lang="en-US" sz="2400" i="1" dirty="0"/>
              <a:t>-</a:t>
            </a:r>
            <a:r>
              <a:rPr lang="ru-RU" sz="2400" i="1" dirty="0"/>
              <a:t>адресом</a:t>
            </a:r>
            <a:r>
              <a:rPr lang="ru-RU" sz="2400" b="1" i="1" dirty="0"/>
              <a:t>, в сторону нашей сети, второй интерфейс с </a:t>
            </a:r>
            <a:r>
              <a:rPr lang="ru-RU" sz="2400" i="1" dirty="0"/>
              <a:t>белым </a:t>
            </a:r>
            <a:r>
              <a:rPr lang="en-US" sz="2400" i="1" dirty="0" err="1"/>
              <a:t>ip</a:t>
            </a:r>
            <a:r>
              <a:rPr lang="en-US" sz="2400" i="1" dirty="0"/>
              <a:t>-</a:t>
            </a:r>
            <a:r>
              <a:rPr lang="ru-RU" sz="2400" i="1" dirty="0"/>
              <a:t>адресом</a:t>
            </a:r>
            <a:r>
              <a:rPr lang="ru-RU" sz="2400" b="1" i="1" dirty="0"/>
              <a:t>, в сторону какого-то публичного сервера</a:t>
            </a:r>
            <a:r>
              <a:rPr lang="en-US" sz="2400" b="1" i="1" dirty="0"/>
              <a:t>.</a:t>
            </a:r>
            <a:endParaRPr lang="ru-RU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/>
          </a:p>
        </p:txBody>
      </p:sp>
      <p:sp>
        <p:nvSpPr>
          <p:cNvPr id="4" name="Стрелка вправо 3"/>
          <p:cNvSpPr/>
          <p:nvPr/>
        </p:nvSpPr>
        <p:spPr>
          <a:xfrm flipH="1">
            <a:off x="2714170" y="1959430"/>
            <a:ext cx="275771" cy="1886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98881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Стрелка вправо 2"/>
          <p:cNvSpPr/>
          <p:nvPr/>
        </p:nvSpPr>
        <p:spPr>
          <a:xfrm>
            <a:off x="693057" y="1972129"/>
            <a:ext cx="246743" cy="1741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2670629" y="696686"/>
            <a:ext cx="9381671" cy="4775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Вернёмся к настройке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маршрутизатора нашей сети.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На интерфейсе </a:t>
            </a:r>
            <a:r>
              <a:rPr lang="en-US" sz="2400" i="1" dirty="0"/>
              <a:t>Fa0/</a:t>
            </a:r>
            <a:r>
              <a:rPr lang="ru-RU" sz="2400" i="1" dirty="0"/>
              <a:t>1</a:t>
            </a:r>
            <a:r>
              <a:rPr lang="en-US" sz="2400" b="1" i="1" dirty="0"/>
              <a:t> (</a:t>
            </a:r>
            <a:r>
              <a:rPr lang="ru-RU" sz="2400" b="1" i="1" dirty="0"/>
              <a:t>может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быть другим) пропишем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i="1" dirty="0"/>
              <a:t>белый</a:t>
            </a:r>
            <a:r>
              <a:rPr lang="ru-RU" sz="2400" b="1" i="1" dirty="0"/>
              <a:t>  </a:t>
            </a:r>
            <a:r>
              <a:rPr lang="en-US" sz="2400" i="1" dirty="0" err="1"/>
              <a:t>ip</a:t>
            </a:r>
            <a:r>
              <a:rPr lang="ru-RU" sz="2400" i="1" dirty="0"/>
              <a:t>-адрес</a:t>
            </a:r>
            <a:r>
              <a:rPr lang="ru-RU" sz="2400" b="1" i="1" dirty="0"/>
              <a:t>, который нам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выделил провайдер, а именно</a:t>
            </a:r>
            <a:r>
              <a:rPr lang="ru-RU" sz="2400" i="1" dirty="0"/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213.234.10.2   255.255.255.252.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Набираем:</a:t>
            </a:r>
            <a:r>
              <a:rPr lang="ru-RU" sz="2400" b="1" dirty="0"/>
              <a:t> </a:t>
            </a:r>
            <a:r>
              <a:rPr lang="ru-RU" sz="2400" dirty="0"/>
              <a:t>«</a:t>
            </a:r>
            <a:r>
              <a:rPr lang="en-US" sz="2400" dirty="0" err="1"/>
              <a:t>en</a:t>
            </a:r>
            <a:r>
              <a:rPr lang="ru-RU" sz="2400" dirty="0"/>
              <a:t>», «</a:t>
            </a:r>
            <a:r>
              <a:rPr lang="en-US" sz="2400" dirty="0" err="1"/>
              <a:t>conf</a:t>
            </a:r>
            <a:r>
              <a:rPr lang="en-US" sz="2400" dirty="0"/>
              <a:t> t</a:t>
            </a:r>
            <a:r>
              <a:rPr lang="ru-RU" sz="2400" dirty="0"/>
              <a:t>», </a:t>
            </a:r>
            <a:endParaRPr lang="en-US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 err="1"/>
              <a:t>int</a:t>
            </a:r>
            <a:r>
              <a:rPr lang="en-US" sz="2400" dirty="0"/>
              <a:t> fa0/</a:t>
            </a:r>
            <a:r>
              <a:rPr lang="ru-RU" sz="2400" dirty="0"/>
              <a:t>1»</a:t>
            </a:r>
            <a:r>
              <a:rPr lang="ru-RU" sz="2400" b="1" dirty="0"/>
              <a:t>, </a:t>
            </a:r>
            <a:r>
              <a:rPr lang="ru-RU" sz="2400" dirty="0"/>
              <a:t>«</a:t>
            </a:r>
            <a:r>
              <a:rPr lang="en-US" sz="2400" dirty="0" err="1"/>
              <a:t>ip</a:t>
            </a:r>
            <a:r>
              <a:rPr lang="en-US" sz="2400" dirty="0"/>
              <a:t> address 213.234.</a:t>
            </a:r>
            <a:r>
              <a:rPr lang="en-US" sz="2400" b="1" dirty="0"/>
              <a:t>1</a:t>
            </a:r>
            <a:r>
              <a:rPr lang="en-US" sz="2400" dirty="0"/>
              <a:t>0.</a:t>
            </a:r>
            <a:r>
              <a:rPr lang="ru-RU" sz="2400" b="1" dirty="0"/>
              <a:t>2</a:t>
            </a:r>
            <a:r>
              <a:rPr lang="en-US" sz="2400" dirty="0"/>
              <a:t> 255.255.255.252</a:t>
            </a:r>
            <a:r>
              <a:rPr lang="ru-RU" sz="2400" dirty="0"/>
              <a:t>»</a:t>
            </a:r>
            <a:r>
              <a:rPr lang="ru-RU" sz="2400" b="1" dirty="0"/>
              <a:t>,</a:t>
            </a:r>
            <a:r>
              <a:rPr lang="en-US" sz="2400" b="1" dirty="0"/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/>
              <a:t>no shutdown</a:t>
            </a:r>
            <a:r>
              <a:rPr lang="ru-RU" sz="2400" dirty="0"/>
              <a:t>», «</a:t>
            </a:r>
            <a:r>
              <a:rPr lang="en-US" sz="2400" dirty="0"/>
              <a:t>exit</a:t>
            </a:r>
            <a:r>
              <a:rPr lang="ru-RU" sz="2400" dirty="0"/>
              <a:t>»</a:t>
            </a:r>
            <a:r>
              <a:rPr lang="ru-RU" sz="2400" b="1" dirty="0"/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Добавим шлюз по умолчанию через </a:t>
            </a:r>
            <a:r>
              <a:rPr lang="en-US" sz="2400" i="1" dirty="0" err="1"/>
              <a:t>ip</a:t>
            </a:r>
            <a:r>
              <a:rPr lang="ru-RU" sz="2400" i="1" dirty="0"/>
              <a:t>-адрес</a:t>
            </a:r>
            <a:r>
              <a:rPr lang="ru-RU" sz="2400" b="1" i="1" dirty="0"/>
              <a:t> провайдера: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 err="1"/>
              <a:t>ip</a:t>
            </a:r>
            <a:r>
              <a:rPr lang="en-US" sz="2400" dirty="0"/>
              <a:t> route 0.0.0.0 0.0.0.0 213.234.10.1</a:t>
            </a:r>
            <a:r>
              <a:rPr lang="ru-RU" sz="2400" dirty="0"/>
              <a:t>», «</a:t>
            </a:r>
            <a:r>
              <a:rPr lang="en-US" sz="2400" dirty="0"/>
              <a:t>end</a:t>
            </a:r>
            <a:r>
              <a:rPr lang="ru-RU" sz="2400" dirty="0"/>
              <a:t>»</a:t>
            </a:r>
            <a:r>
              <a:rPr lang="ru-RU" sz="2400" b="1" dirty="0"/>
              <a:t> , </a:t>
            </a:r>
            <a:r>
              <a:rPr lang="ru-RU" sz="2400" dirty="0"/>
              <a:t>«</a:t>
            </a:r>
            <a:r>
              <a:rPr lang="en-US" sz="2400" dirty="0" err="1"/>
              <a:t>wr</a:t>
            </a:r>
            <a:r>
              <a:rPr lang="en-US" sz="2400" dirty="0"/>
              <a:t> mem</a:t>
            </a:r>
            <a:r>
              <a:rPr lang="ru-RU" sz="2400" dirty="0"/>
              <a:t>»</a:t>
            </a:r>
            <a:r>
              <a:rPr lang="ru-RU" sz="2400" b="1" dirty="0"/>
              <a:t>.</a:t>
            </a:r>
            <a:r>
              <a:rPr lang="ru-RU" sz="2400" dirty="0"/>
              <a:t> </a:t>
            </a:r>
            <a:r>
              <a:rPr lang="ru-RU" sz="2400" b="1" dirty="0"/>
              <a:t>  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9316323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Стрелка вправо 2"/>
          <p:cNvSpPr/>
          <p:nvPr/>
        </p:nvSpPr>
        <p:spPr>
          <a:xfrm>
            <a:off x="693057" y="1972129"/>
            <a:ext cx="246743" cy="1741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2654301" y="696686"/>
            <a:ext cx="9398000" cy="4775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Проверим связь с провайдером</a:t>
            </a:r>
            <a:r>
              <a:rPr lang="ru-RU" sz="2400" i="1" dirty="0"/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Набираем:</a:t>
            </a:r>
            <a:r>
              <a:rPr lang="ru-RU" sz="2400" b="1" dirty="0"/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/>
              <a:t>ping 213.234.10.1</a:t>
            </a:r>
            <a:r>
              <a:rPr lang="ru-RU" sz="2400" dirty="0"/>
              <a:t>»</a:t>
            </a:r>
            <a:r>
              <a:rPr lang="ru-RU" sz="2400" b="1" dirty="0"/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b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Связь есть!!!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b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Проверим доступность сервера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с белым </a:t>
            </a:r>
            <a:r>
              <a:rPr lang="en-US" sz="2400" i="1" dirty="0" err="1"/>
              <a:t>ip</a:t>
            </a:r>
            <a:r>
              <a:rPr lang="ru-RU" sz="2400" i="1" dirty="0"/>
              <a:t>-адрес</a:t>
            </a:r>
            <a:r>
              <a:rPr lang="ru-RU" sz="2400" b="1" i="1" dirty="0"/>
              <a:t> адресом: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/>
              <a:t>ping 213.234.20.2</a:t>
            </a:r>
            <a:r>
              <a:rPr lang="ru-RU" sz="2400" dirty="0"/>
              <a:t>»</a:t>
            </a:r>
            <a:r>
              <a:rPr lang="ru-RU" sz="2400" b="1" dirty="0"/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b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Связь есть!!!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5523331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0" y="2438400"/>
            <a:ext cx="11811000" cy="30044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                                 Проверим связь</a:t>
            </a:r>
            <a:r>
              <a:rPr lang="en-US" sz="2400" b="1" i="1" dirty="0"/>
              <a:t> </a:t>
            </a:r>
            <a:r>
              <a:rPr lang="ru-RU" sz="2400" b="1" i="1" dirty="0"/>
              <a:t>компьютера</a:t>
            </a:r>
            <a:r>
              <a:rPr lang="ru-RU" sz="2400" i="1" dirty="0"/>
              <a:t> </a:t>
            </a:r>
            <a:r>
              <a:rPr lang="en-US" sz="2400" i="1" dirty="0"/>
              <a:t>PC0</a:t>
            </a:r>
            <a:r>
              <a:rPr lang="ru-RU" sz="2400" i="1" dirty="0"/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                                 с </a:t>
            </a:r>
            <a:r>
              <a:rPr lang="ru-RU" sz="2400" i="1" dirty="0"/>
              <a:t>сервером провайдера</a:t>
            </a:r>
            <a:r>
              <a:rPr lang="en-US" sz="2400" b="1" i="1" dirty="0"/>
              <a:t>.</a:t>
            </a:r>
            <a:r>
              <a:rPr lang="ru-RU" sz="2400" b="1" i="1" dirty="0"/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                                 Связи нет, </a:t>
            </a:r>
            <a:r>
              <a:rPr lang="ru-RU" sz="2400" b="1" i="1" dirty="0" err="1"/>
              <a:t>т.к</a:t>
            </a:r>
            <a:r>
              <a:rPr lang="ru-RU" sz="2400" b="1" i="1" dirty="0"/>
              <a:t> в сети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                                 используем </a:t>
            </a:r>
            <a:r>
              <a:rPr lang="ru-RU" sz="2400" i="1" dirty="0"/>
              <a:t>серые </a:t>
            </a:r>
            <a:r>
              <a:rPr lang="en-US" sz="2400" i="1" dirty="0" err="1"/>
              <a:t>ip</a:t>
            </a:r>
            <a:r>
              <a:rPr lang="en-US" sz="2400" i="1" dirty="0"/>
              <a:t>-</a:t>
            </a:r>
            <a:r>
              <a:rPr lang="ru-RU" sz="2400" i="1" dirty="0"/>
              <a:t>адреса</a:t>
            </a:r>
            <a:r>
              <a:rPr lang="ru-RU" sz="2400" b="1" i="1" dirty="0"/>
              <a:t>, и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                                 маршрутизатор провайдера ничего не знает об этой сети.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С помощью технологии </a:t>
            </a:r>
            <a:r>
              <a:rPr lang="en-US" sz="2400" i="1" dirty="0"/>
              <a:t>NAT </a:t>
            </a:r>
            <a:r>
              <a:rPr lang="ru-RU" sz="2400" b="1" i="1" dirty="0"/>
              <a:t>обеспечим нашим компьютерам доступ в Интернет!!!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506563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Стрелка вправо 2"/>
          <p:cNvSpPr/>
          <p:nvPr/>
        </p:nvSpPr>
        <p:spPr>
          <a:xfrm>
            <a:off x="693057" y="1972129"/>
            <a:ext cx="246743" cy="1741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2527301" y="696686"/>
            <a:ext cx="9525000" cy="4775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Вернёмся к настройке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маршрутизатора нашей сети.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Интерфейс </a:t>
            </a:r>
            <a:r>
              <a:rPr lang="en-US" sz="2400" i="1" dirty="0"/>
              <a:t>Fa0/</a:t>
            </a:r>
            <a:r>
              <a:rPr lang="ru-RU" sz="2400" i="1" dirty="0"/>
              <a:t>1</a:t>
            </a:r>
            <a:r>
              <a:rPr lang="en-US" sz="2400" b="1" i="1" dirty="0"/>
              <a:t> </a:t>
            </a:r>
            <a:r>
              <a:rPr lang="ru-RU" sz="2400" b="1" i="1" dirty="0"/>
              <a:t>для </a:t>
            </a:r>
            <a:r>
              <a:rPr lang="en-US" sz="2400" i="1" dirty="0"/>
              <a:t>NAT</a:t>
            </a:r>
            <a:r>
              <a:rPr lang="en-US" sz="2400" b="1" i="1" dirty="0"/>
              <a:t> </a:t>
            </a:r>
            <a:r>
              <a:rPr lang="ru-RU" sz="2400" b="1" i="1" dirty="0"/>
              <a:t>будет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являться внешним, а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интерфейсы </a:t>
            </a:r>
            <a:r>
              <a:rPr lang="en-US" sz="2400" i="1" dirty="0"/>
              <a:t>Fa0/</a:t>
            </a:r>
            <a:r>
              <a:rPr lang="ru-RU" sz="2400" i="1" dirty="0"/>
              <a:t>0.2</a:t>
            </a:r>
            <a:r>
              <a:rPr lang="ru-RU" sz="2400" b="1" i="1" dirty="0"/>
              <a:t>,</a:t>
            </a:r>
            <a:r>
              <a:rPr lang="en-US" sz="2400" b="1" i="1" dirty="0"/>
              <a:t> </a:t>
            </a:r>
            <a:r>
              <a:rPr lang="en-US" sz="2400" i="1" dirty="0"/>
              <a:t>Fa0/</a:t>
            </a:r>
            <a:r>
              <a:rPr lang="ru-RU" sz="2400" i="1" dirty="0"/>
              <a:t>0.3</a:t>
            </a:r>
            <a:r>
              <a:rPr lang="en-US" sz="2400" b="1" i="1" dirty="0"/>
              <a:t> </a:t>
            </a:r>
            <a:endParaRPr lang="ru-RU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Будут для </a:t>
            </a:r>
            <a:r>
              <a:rPr lang="en-US" sz="2400" i="1" dirty="0"/>
              <a:t>NAT</a:t>
            </a:r>
            <a:r>
              <a:rPr lang="en-US" sz="2400" b="1" i="1" dirty="0"/>
              <a:t> </a:t>
            </a:r>
            <a:r>
              <a:rPr lang="ru-RU" sz="2400" b="1" i="1" dirty="0"/>
              <a:t>внутренними.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Набираем:</a:t>
            </a:r>
            <a:r>
              <a:rPr lang="ru-RU" sz="2400" b="1" dirty="0"/>
              <a:t> </a:t>
            </a:r>
            <a:r>
              <a:rPr lang="ru-RU" sz="2400" dirty="0"/>
              <a:t>«</a:t>
            </a:r>
            <a:r>
              <a:rPr lang="en-US" sz="2400" dirty="0" err="1"/>
              <a:t>en</a:t>
            </a:r>
            <a:r>
              <a:rPr lang="ru-RU" sz="2400" dirty="0"/>
              <a:t>», «</a:t>
            </a:r>
            <a:r>
              <a:rPr lang="en-US" sz="2400" dirty="0" err="1"/>
              <a:t>conf</a:t>
            </a:r>
            <a:r>
              <a:rPr lang="en-US" sz="2400" dirty="0"/>
              <a:t> t</a:t>
            </a:r>
            <a:r>
              <a:rPr lang="ru-RU" sz="2400" dirty="0"/>
              <a:t>», </a:t>
            </a:r>
            <a:endParaRPr lang="en-US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 err="1"/>
              <a:t>int</a:t>
            </a:r>
            <a:r>
              <a:rPr lang="en-US" sz="2400" dirty="0"/>
              <a:t> fa0/</a:t>
            </a:r>
            <a:r>
              <a:rPr lang="ru-RU" sz="2400" dirty="0"/>
              <a:t>1»</a:t>
            </a:r>
            <a:r>
              <a:rPr lang="ru-RU" sz="2400" b="1" dirty="0"/>
              <a:t>, </a:t>
            </a:r>
            <a:r>
              <a:rPr lang="ru-RU" sz="2400" dirty="0"/>
              <a:t>«</a:t>
            </a:r>
            <a:r>
              <a:rPr lang="en-US" sz="2400" dirty="0" err="1"/>
              <a:t>ip</a:t>
            </a:r>
            <a:r>
              <a:rPr lang="en-US" sz="2400" dirty="0"/>
              <a:t> address 213.234.</a:t>
            </a:r>
            <a:r>
              <a:rPr lang="en-US" sz="2400" b="1" dirty="0"/>
              <a:t>1</a:t>
            </a:r>
            <a:r>
              <a:rPr lang="en-US" sz="2400" dirty="0"/>
              <a:t>0.</a:t>
            </a:r>
            <a:r>
              <a:rPr lang="ru-RU" sz="2400" b="1" dirty="0"/>
              <a:t>2</a:t>
            </a:r>
            <a:r>
              <a:rPr lang="en-US" sz="2400" dirty="0"/>
              <a:t> 255.255.255.252</a:t>
            </a:r>
            <a:r>
              <a:rPr lang="ru-RU" sz="2400" dirty="0"/>
              <a:t>»</a:t>
            </a:r>
            <a:r>
              <a:rPr lang="ru-RU" sz="2400" b="1" dirty="0"/>
              <a:t>,</a:t>
            </a:r>
            <a:r>
              <a:rPr lang="en-US" sz="2400" b="1" dirty="0"/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/>
              <a:t>no shutdown</a:t>
            </a:r>
            <a:r>
              <a:rPr lang="ru-RU" sz="2400" dirty="0"/>
              <a:t>», «</a:t>
            </a:r>
            <a:r>
              <a:rPr lang="en-US" sz="2400" dirty="0"/>
              <a:t>exit</a:t>
            </a:r>
            <a:r>
              <a:rPr lang="ru-RU" sz="2400" dirty="0"/>
              <a:t>»</a:t>
            </a:r>
            <a:r>
              <a:rPr lang="ru-RU" sz="2400" b="1" dirty="0"/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Добавим шлюз по умолчанию через </a:t>
            </a:r>
            <a:r>
              <a:rPr lang="en-US" sz="2400" i="1" dirty="0" err="1"/>
              <a:t>ip</a:t>
            </a:r>
            <a:r>
              <a:rPr lang="ru-RU" sz="2400" i="1" dirty="0"/>
              <a:t>-адрес</a:t>
            </a:r>
            <a:r>
              <a:rPr lang="ru-RU" sz="2400" b="1" i="1" dirty="0"/>
              <a:t> провайдера: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 err="1"/>
              <a:t>ip</a:t>
            </a:r>
            <a:r>
              <a:rPr lang="en-US" sz="2400" dirty="0"/>
              <a:t> route 0.0.0.0 0.0.0.0 213.234.10.1</a:t>
            </a:r>
            <a:r>
              <a:rPr lang="ru-RU" sz="2400" dirty="0"/>
              <a:t>», «</a:t>
            </a:r>
            <a:r>
              <a:rPr lang="en-US" sz="2400" dirty="0"/>
              <a:t>end</a:t>
            </a:r>
            <a:r>
              <a:rPr lang="ru-RU" sz="2400" dirty="0"/>
              <a:t>»</a:t>
            </a:r>
            <a:r>
              <a:rPr lang="ru-RU" sz="2400" b="1" dirty="0"/>
              <a:t> , </a:t>
            </a:r>
            <a:r>
              <a:rPr lang="ru-RU" sz="2400" dirty="0"/>
              <a:t>«</a:t>
            </a:r>
            <a:r>
              <a:rPr lang="en-US" sz="2400" dirty="0" err="1"/>
              <a:t>wr</a:t>
            </a:r>
            <a:r>
              <a:rPr lang="en-US" sz="2400" dirty="0"/>
              <a:t> mem</a:t>
            </a:r>
            <a:r>
              <a:rPr lang="ru-RU" sz="2400" dirty="0"/>
              <a:t>»</a:t>
            </a:r>
            <a:r>
              <a:rPr lang="ru-RU" sz="2400" b="1" dirty="0"/>
              <a:t>.</a:t>
            </a:r>
            <a:r>
              <a:rPr lang="ru-RU" sz="2400" dirty="0"/>
              <a:t> </a:t>
            </a:r>
            <a:r>
              <a:rPr lang="ru-RU" sz="2400" b="1" dirty="0"/>
              <a:t>  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6764539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Стрелка вправо 2"/>
          <p:cNvSpPr/>
          <p:nvPr/>
        </p:nvSpPr>
        <p:spPr>
          <a:xfrm>
            <a:off x="693057" y="1972129"/>
            <a:ext cx="246743" cy="1741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2628899" y="696686"/>
            <a:ext cx="9423401" cy="4775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Вернёмся к настройке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маршрутизатора нашей сети.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Интерфейс </a:t>
            </a:r>
            <a:r>
              <a:rPr lang="en-US" sz="2400" i="1" dirty="0"/>
              <a:t>Fa0/</a:t>
            </a:r>
            <a:r>
              <a:rPr lang="ru-RU" sz="2400" i="1" dirty="0"/>
              <a:t>1</a:t>
            </a:r>
            <a:r>
              <a:rPr lang="en-US" sz="2400" b="1" i="1" dirty="0"/>
              <a:t> </a:t>
            </a:r>
            <a:r>
              <a:rPr lang="ru-RU" sz="2400" b="1" i="1" dirty="0"/>
              <a:t>для </a:t>
            </a:r>
            <a:r>
              <a:rPr lang="en-US" sz="2400" i="1" dirty="0"/>
              <a:t>NAT</a:t>
            </a:r>
            <a:r>
              <a:rPr lang="en-US" sz="2400" b="1" i="1" dirty="0"/>
              <a:t> </a:t>
            </a:r>
            <a:r>
              <a:rPr lang="ru-RU" sz="2400" b="1" i="1" dirty="0"/>
              <a:t>будет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являться внешним, а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интерфейсы </a:t>
            </a:r>
            <a:r>
              <a:rPr lang="en-US" sz="2400" i="1" dirty="0"/>
              <a:t>Fa0/</a:t>
            </a:r>
            <a:r>
              <a:rPr lang="ru-RU" sz="2400" i="1" dirty="0"/>
              <a:t>0.2</a:t>
            </a:r>
            <a:r>
              <a:rPr lang="ru-RU" sz="2400" b="1" i="1" dirty="0"/>
              <a:t>,</a:t>
            </a:r>
            <a:r>
              <a:rPr lang="en-US" sz="2400" b="1" i="1" dirty="0"/>
              <a:t> </a:t>
            </a:r>
            <a:r>
              <a:rPr lang="en-US" sz="2400" i="1" dirty="0"/>
              <a:t>Fa0/</a:t>
            </a:r>
            <a:r>
              <a:rPr lang="ru-RU" sz="2400" i="1" dirty="0"/>
              <a:t>0.3</a:t>
            </a:r>
            <a:r>
              <a:rPr lang="en-US" sz="2400" b="1" i="1" dirty="0"/>
              <a:t> </a:t>
            </a:r>
            <a:endParaRPr lang="ru-RU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будут для </a:t>
            </a:r>
            <a:r>
              <a:rPr lang="en-US" sz="2400" i="1" dirty="0"/>
              <a:t>NAT</a:t>
            </a:r>
            <a:r>
              <a:rPr lang="en-US" sz="2400" b="1" i="1" dirty="0"/>
              <a:t> </a:t>
            </a:r>
            <a:r>
              <a:rPr lang="ru-RU" sz="2400" b="1" i="1" dirty="0"/>
              <a:t>внутренними.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Набираем:</a:t>
            </a:r>
            <a:r>
              <a:rPr lang="ru-RU" sz="2400" b="1" dirty="0"/>
              <a:t> </a:t>
            </a:r>
            <a:r>
              <a:rPr lang="ru-RU" sz="2400" dirty="0"/>
              <a:t>«</a:t>
            </a:r>
            <a:r>
              <a:rPr lang="en-US" sz="2400" dirty="0" err="1"/>
              <a:t>en</a:t>
            </a:r>
            <a:r>
              <a:rPr lang="ru-RU" sz="2400" dirty="0"/>
              <a:t>», «</a:t>
            </a:r>
            <a:r>
              <a:rPr lang="en-US" sz="2400" dirty="0" err="1"/>
              <a:t>conf</a:t>
            </a:r>
            <a:r>
              <a:rPr lang="en-US" sz="2400" dirty="0"/>
              <a:t> t</a:t>
            </a:r>
            <a:r>
              <a:rPr lang="ru-RU" sz="2400" dirty="0"/>
              <a:t>»</a:t>
            </a:r>
            <a:r>
              <a:rPr lang="ru-RU" sz="2400" b="1" dirty="0"/>
              <a:t>, </a:t>
            </a:r>
            <a:endParaRPr lang="en-US" sz="2400" b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 err="1"/>
              <a:t>int</a:t>
            </a:r>
            <a:r>
              <a:rPr lang="en-US" sz="2400" dirty="0"/>
              <a:t> fa0/</a:t>
            </a:r>
            <a:r>
              <a:rPr lang="ru-RU" sz="2400" dirty="0"/>
              <a:t>1»</a:t>
            </a:r>
            <a:r>
              <a:rPr lang="ru-RU" sz="2400" b="1" dirty="0"/>
              <a:t>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 err="1"/>
              <a:t>ip</a:t>
            </a:r>
            <a:r>
              <a:rPr lang="en-US" sz="2400" dirty="0"/>
              <a:t> </a:t>
            </a:r>
            <a:r>
              <a:rPr lang="en-US" sz="2400" dirty="0" err="1"/>
              <a:t>nat</a:t>
            </a:r>
            <a:r>
              <a:rPr lang="en-US" sz="2400" dirty="0"/>
              <a:t> outside</a:t>
            </a:r>
            <a:r>
              <a:rPr lang="ru-RU" sz="2400" dirty="0"/>
              <a:t>»</a:t>
            </a:r>
            <a:r>
              <a:rPr lang="ru-RU" sz="2400" b="1" dirty="0"/>
              <a:t>,</a:t>
            </a:r>
            <a:r>
              <a:rPr lang="en-US" sz="2400" b="1" dirty="0"/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/>
              <a:t>exit</a:t>
            </a:r>
            <a:r>
              <a:rPr lang="ru-RU" sz="2400" dirty="0"/>
              <a:t>»,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 err="1"/>
              <a:t>int</a:t>
            </a:r>
            <a:r>
              <a:rPr lang="en-US" sz="2400" dirty="0"/>
              <a:t> fa0/0.2</a:t>
            </a:r>
            <a:r>
              <a:rPr lang="ru-RU" sz="2400" dirty="0"/>
              <a:t>»</a:t>
            </a:r>
            <a:r>
              <a:rPr lang="ru-RU" sz="2400" b="1" dirty="0"/>
              <a:t>, </a:t>
            </a:r>
            <a:endParaRPr lang="ru-RU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 err="1"/>
              <a:t>ip</a:t>
            </a:r>
            <a:r>
              <a:rPr lang="en-US" sz="2400" dirty="0"/>
              <a:t> </a:t>
            </a:r>
            <a:r>
              <a:rPr lang="en-US" sz="2400" dirty="0" err="1"/>
              <a:t>nat</a:t>
            </a:r>
            <a:r>
              <a:rPr lang="en-US" sz="2400" dirty="0"/>
              <a:t> inside</a:t>
            </a:r>
            <a:r>
              <a:rPr lang="ru-RU" sz="2400" dirty="0"/>
              <a:t>»,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/>
              <a:t>exit</a:t>
            </a:r>
            <a:r>
              <a:rPr lang="ru-RU" sz="2400" dirty="0"/>
              <a:t>»</a:t>
            </a:r>
            <a:r>
              <a:rPr lang="ru-RU" sz="24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690289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Стрелка вправо 2"/>
          <p:cNvSpPr/>
          <p:nvPr/>
        </p:nvSpPr>
        <p:spPr>
          <a:xfrm>
            <a:off x="693057" y="1972129"/>
            <a:ext cx="246743" cy="1741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2628899" y="3035300"/>
            <a:ext cx="9423401" cy="24365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Для интерфейса сервера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(</a:t>
            </a:r>
            <a:r>
              <a:rPr lang="en-US" sz="2400" i="1" dirty="0"/>
              <a:t>Fa0/</a:t>
            </a:r>
            <a:r>
              <a:rPr lang="ru-RU" sz="2400" i="1" dirty="0"/>
              <a:t>0.3</a:t>
            </a:r>
            <a:r>
              <a:rPr lang="ru-RU" sz="2400" b="1" i="1" dirty="0"/>
              <a:t>)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набираем:</a:t>
            </a:r>
            <a:r>
              <a:rPr lang="ru-RU" sz="2400" b="1" dirty="0"/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 err="1"/>
              <a:t>int</a:t>
            </a:r>
            <a:r>
              <a:rPr lang="en-US" sz="2400" dirty="0"/>
              <a:t> fa0/0.</a:t>
            </a:r>
            <a:r>
              <a:rPr lang="ru-RU" sz="2400" dirty="0"/>
              <a:t>3»</a:t>
            </a:r>
            <a:r>
              <a:rPr lang="ru-RU" sz="2400" b="1" dirty="0"/>
              <a:t>, </a:t>
            </a:r>
            <a:endParaRPr lang="ru-RU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 err="1"/>
              <a:t>ip</a:t>
            </a:r>
            <a:r>
              <a:rPr lang="en-US" sz="2400" dirty="0"/>
              <a:t> </a:t>
            </a:r>
            <a:r>
              <a:rPr lang="en-US" sz="2400" dirty="0" err="1"/>
              <a:t>nat</a:t>
            </a:r>
            <a:r>
              <a:rPr lang="en-US" sz="2400" dirty="0"/>
              <a:t> inside</a:t>
            </a:r>
            <a:r>
              <a:rPr lang="ru-RU" sz="2400" dirty="0"/>
              <a:t>»,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/>
              <a:t>end</a:t>
            </a:r>
            <a:r>
              <a:rPr lang="ru-RU" sz="2400" dirty="0"/>
              <a:t>»</a:t>
            </a:r>
            <a:r>
              <a:rPr lang="ru-RU" sz="24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16435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Стрелка вправо 2"/>
          <p:cNvSpPr/>
          <p:nvPr/>
        </p:nvSpPr>
        <p:spPr>
          <a:xfrm>
            <a:off x="693057" y="1972129"/>
            <a:ext cx="246743" cy="1741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2628899" y="696686"/>
            <a:ext cx="9423401" cy="4775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Теперь мы должны создать </a:t>
            </a:r>
            <a:endParaRPr lang="en-US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i="1" dirty="0"/>
              <a:t>access-</a:t>
            </a:r>
            <a:r>
              <a:rPr lang="ru-RU" sz="2400" i="1" dirty="0"/>
              <a:t>листы</a:t>
            </a:r>
            <a:r>
              <a:rPr lang="ru-RU" sz="2400" b="1" i="1" dirty="0"/>
              <a:t>,</a:t>
            </a:r>
            <a:r>
              <a:rPr lang="en-US" sz="2400" b="1" i="1" dirty="0"/>
              <a:t> </a:t>
            </a:r>
            <a:r>
              <a:rPr lang="ru-RU" sz="2400" b="1" i="1" dirty="0"/>
              <a:t>которые будут </a:t>
            </a:r>
            <a:endParaRPr lang="en-US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характеризовать, какой именно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трафик мы будем проводить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через </a:t>
            </a:r>
            <a:r>
              <a:rPr lang="en-US" sz="2400" i="1" dirty="0"/>
              <a:t>NAT</a:t>
            </a:r>
            <a:r>
              <a:rPr lang="en-US" sz="2400" b="1" i="1" dirty="0"/>
              <a:t>.</a:t>
            </a:r>
            <a:endParaRPr lang="ru-RU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Создадим </a:t>
            </a:r>
            <a:r>
              <a:rPr lang="en-US" sz="2400" i="1" dirty="0"/>
              <a:t>access-</a:t>
            </a:r>
            <a:r>
              <a:rPr lang="ru-RU" sz="2400" i="1" dirty="0"/>
              <a:t>лист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i="1" dirty="0"/>
              <a:t>c</a:t>
            </a:r>
            <a:r>
              <a:rPr lang="ru-RU" sz="2400" b="1" i="1" dirty="0"/>
              <a:t> именем </a:t>
            </a:r>
            <a:r>
              <a:rPr lang="en-US" sz="2400" i="1" dirty="0"/>
              <a:t>FOR-NAT</a:t>
            </a:r>
            <a:r>
              <a:rPr lang="ru-RU" sz="2400" b="1" i="1" dirty="0"/>
              <a:t> с указанием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сетей. Набираем:</a:t>
            </a:r>
            <a:r>
              <a:rPr lang="ru-RU" sz="2400" b="1" dirty="0"/>
              <a:t> </a:t>
            </a:r>
            <a:r>
              <a:rPr lang="ru-RU" sz="2400" dirty="0"/>
              <a:t>«</a:t>
            </a:r>
            <a:r>
              <a:rPr lang="en-US" sz="2400" dirty="0" err="1"/>
              <a:t>conf</a:t>
            </a:r>
            <a:r>
              <a:rPr lang="en-US" sz="2400" dirty="0"/>
              <a:t> t</a:t>
            </a:r>
            <a:r>
              <a:rPr lang="ru-RU" sz="2400" dirty="0"/>
              <a:t>»</a:t>
            </a:r>
            <a:r>
              <a:rPr lang="ru-RU" sz="2400" b="1" dirty="0"/>
              <a:t>, </a:t>
            </a:r>
            <a:endParaRPr lang="en-US" sz="2400" b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 err="1"/>
              <a:t>ip</a:t>
            </a:r>
            <a:r>
              <a:rPr lang="en-US" sz="2400" dirty="0"/>
              <a:t> access-list standard FOR-NAT</a:t>
            </a:r>
            <a:r>
              <a:rPr lang="ru-RU" sz="2400" dirty="0"/>
              <a:t>»</a:t>
            </a:r>
            <a:r>
              <a:rPr lang="ru-RU" sz="2400" b="1" dirty="0"/>
              <a:t>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/>
              <a:t>permit 192.168.</a:t>
            </a:r>
            <a:r>
              <a:rPr lang="en-US" sz="2400" b="1" dirty="0"/>
              <a:t>2</a:t>
            </a:r>
            <a:r>
              <a:rPr lang="en-US" sz="2400" dirty="0"/>
              <a:t>.0 0.0.0.255</a:t>
            </a:r>
            <a:r>
              <a:rPr lang="ru-RU" sz="2400" dirty="0"/>
              <a:t>»</a:t>
            </a:r>
            <a:r>
              <a:rPr lang="ru-RU" sz="2400" b="1" dirty="0"/>
              <a:t>,</a:t>
            </a:r>
            <a:r>
              <a:rPr lang="en-US" sz="2400" b="1" dirty="0"/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/>
              <a:t>permit 192.168.</a:t>
            </a:r>
            <a:r>
              <a:rPr lang="en-US" sz="2400" b="1" dirty="0"/>
              <a:t>3</a:t>
            </a:r>
            <a:r>
              <a:rPr lang="en-US" sz="2400" dirty="0"/>
              <a:t>.0 0.0.0.255</a:t>
            </a:r>
            <a:r>
              <a:rPr lang="ru-RU" sz="2400" dirty="0"/>
              <a:t>»,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/>
              <a:t>end</a:t>
            </a:r>
            <a:r>
              <a:rPr lang="ru-RU" sz="2400" dirty="0"/>
              <a:t>»</a:t>
            </a:r>
            <a:r>
              <a:rPr lang="ru-RU" sz="2400" b="1" dirty="0"/>
              <a:t>, </a:t>
            </a:r>
            <a:endParaRPr lang="ru-RU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 err="1"/>
              <a:t>wr</a:t>
            </a:r>
            <a:r>
              <a:rPr lang="en-US" sz="2400" dirty="0"/>
              <a:t> mem</a:t>
            </a:r>
            <a:r>
              <a:rPr lang="ru-RU" sz="2400" dirty="0"/>
              <a:t>»</a:t>
            </a:r>
            <a:r>
              <a:rPr lang="ru-RU" sz="2400" b="1" dirty="0"/>
              <a:t>.</a:t>
            </a:r>
            <a:r>
              <a:rPr lang="ru-RU" sz="2400" dirty="0"/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/>
              <a:t>exit</a:t>
            </a:r>
            <a:r>
              <a:rPr lang="ru-RU" sz="2400" dirty="0"/>
              <a:t>»</a:t>
            </a:r>
            <a:r>
              <a:rPr lang="ru-RU" sz="24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49874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2768600" y="711200"/>
            <a:ext cx="8813800" cy="48895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Проверим конфигурацию </a:t>
            </a:r>
            <a:endParaRPr lang="en-US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командой </a:t>
            </a:r>
            <a:r>
              <a:rPr lang="ru-RU" sz="2400" dirty="0"/>
              <a:t>«</a:t>
            </a:r>
            <a:r>
              <a:rPr lang="en-US" sz="2400" dirty="0"/>
              <a:t>show run</a:t>
            </a:r>
            <a:r>
              <a:rPr lang="ru-RU" sz="2400" dirty="0"/>
              <a:t>», </a:t>
            </a:r>
            <a:endParaRPr lang="en-US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жмём</a:t>
            </a:r>
            <a:r>
              <a:rPr lang="ru-RU" sz="2400" dirty="0"/>
              <a:t> </a:t>
            </a:r>
            <a:r>
              <a:rPr lang="en-US" sz="2400" dirty="0"/>
              <a:t>&lt;</a:t>
            </a:r>
            <a:r>
              <a:rPr lang="ru-RU" sz="2400" dirty="0"/>
              <a:t>Пробел</a:t>
            </a:r>
            <a:r>
              <a:rPr lang="en-US" sz="2400" dirty="0"/>
              <a:t>&gt;</a:t>
            </a:r>
            <a:r>
              <a:rPr lang="ru-RU" sz="2400" dirty="0"/>
              <a:t>. </a:t>
            </a:r>
            <a:r>
              <a:rPr lang="ru-RU" sz="2400" b="1" i="1" dirty="0"/>
              <a:t>Видим, что: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interface FastEthernet0/0.2</a:t>
            </a:r>
            <a:endParaRPr lang="ru-RU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 err="1"/>
              <a:t>ip</a:t>
            </a:r>
            <a:r>
              <a:rPr lang="en-US" sz="2400" dirty="0"/>
              <a:t> </a:t>
            </a:r>
            <a:r>
              <a:rPr lang="en-US" sz="2400" dirty="0" err="1"/>
              <a:t>nat</a:t>
            </a:r>
            <a:r>
              <a:rPr lang="en-US" sz="2400" dirty="0"/>
              <a:t> inside</a:t>
            </a:r>
            <a:endParaRPr lang="ru-RU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interface FastEthernet0/0.3</a:t>
            </a:r>
            <a:endParaRPr lang="ru-RU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 err="1"/>
              <a:t>ip</a:t>
            </a:r>
            <a:r>
              <a:rPr lang="en-US" sz="2400" dirty="0"/>
              <a:t> </a:t>
            </a:r>
            <a:r>
              <a:rPr lang="en-US" sz="2400" dirty="0" err="1"/>
              <a:t>nat</a:t>
            </a:r>
            <a:r>
              <a:rPr lang="en-US" sz="2400" dirty="0"/>
              <a:t> inside</a:t>
            </a:r>
            <a:endParaRPr lang="ru-RU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interface FastEthernet0/1</a:t>
            </a:r>
            <a:endParaRPr lang="ru-RU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 err="1"/>
              <a:t>ip</a:t>
            </a:r>
            <a:r>
              <a:rPr lang="en-US" sz="2400" dirty="0"/>
              <a:t> </a:t>
            </a:r>
            <a:r>
              <a:rPr lang="en-US" sz="2400" dirty="0" err="1"/>
              <a:t>nat</a:t>
            </a:r>
            <a:r>
              <a:rPr lang="en-US" sz="2400" dirty="0"/>
              <a:t> outside</a:t>
            </a:r>
            <a:endParaRPr lang="ru-RU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и видим  </a:t>
            </a:r>
            <a:r>
              <a:rPr lang="en-US" sz="2400" dirty="0" err="1"/>
              <a:t>ip</a:t>
            </a:r>
            <a:r>
              <a:rPr lang="en-US" sz="2400" dirty="0"/>
              <a:t> access-list standard FOR-NAT</a:t>
            </a:r>
            <a:endParaRPr lang="ru-RU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/>
          </a:p>
        </p:txBody>
      </p:sp>
      <p:sp>
        <p:nvSpPr>
          <p:cNvPr id="4" name="Стрелка вправо 3"/>
          <p:cNvSpPr/>
          <p:nvPr/>
        </p:nvSpPr>
        <p:spPr>
          <a:xfrm>
            <a:off x="693057" y="1972129"/>
            <a:ext cx="246743" cy="1741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92399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Стрелка вправо 2"/>
          <p:cNvSpPr/>
          <p:nvPr/>
        </p:nvSpPr>
        <p:spPr>
          <a:xfrm>
            <a:off x="693057" y="1972129"/>
            <a:ext cx="246743" cy="1741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2235200" y="2425700"/>
            <a:ext cx="9956800" cy="3175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Осталось вбить одну строку,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i="1" dirty="0"/>
              <a:t>NAT </a:t>
            </a:r>
            <a:r>
              <a:rPr lang="ru-RU" sz="2400" b="1" i="1" dirty="0"/>
              <a:t>нужно проводить с </a:t>
            </a:r>
            <a:r>
              <a:rPr lang="ru-RU" sz="2400" i="1" dirty="0"/>
              <a:t>инсайда</a:t>
            </a:r>
            <a:r>
              <a:rPr lang="ru-RU" sz="2400" b="1" i="1" dirty="0"/>
              <a:t>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с использованием </a:t>
            </a:r>
            <a:r>
              <a:rPr lang="en-US" sz="2400" i="1" dirty="0"/>
              <a:t>access</a:t>
            </a:r>
            <a:r>
              <a:rPr lang="ru-RU" sz="2400" i="1" dirty="0"/>
              <a:t>-листа</a:t>
            </a:r>
            <a:r>
              <a:rPr lang="ru-RU" sz="2400" b="1" i="1" dirty="0"/>
              <a:t>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когда трафик проходит через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интерфейс </a:t>
            </a:r>
            <a:r>
              <a:rPr lang="en-US" sz="2400" dirty="0"/>
              <a:t>fa0/1</a:t>
            </a:r>
            <a:r>
              <a:rPr lang="ru-RU" sz="2400" b="1" i="1" dirty="0"/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 err="1"/>
              <a:t>ip</a:t>
            </a:r>
            <a:r>
              <a:rPr lang="en-US" sz="2400" dirty="0"/>
              <a:t> </a:t>
            </a:r>
            <a:r>
              <a:rPr lang="en-US" sz="2400" dirty="0" err="1"/>
              <a:t>nat</a:t>
            </a:r>
            <a:r>
              <a:rPr lang="en-US" sz="2400" dirty="0"/>
              <a:t> inside source list FOR-NAT </a:t>
            </a:r>
            <a:r>
              <a:rPr lang="en-US" sz="2400" dirty="0" err="1"/>
              <a:t>int</a:t>
            </a:r>
            <a:r>
              <a:rPr lang="en-US" sz="2400" dirty="0"/>
              <a:t> fa0/1 overload</a:t>
            </a:r>
            <a:r>
              <a:rPr lang="ru-RU" sz="2400" dirty="0"/>
              <a:t>»</a:t>
            </a:r>
            <a:r>
              <a:rPr lang="ru-RU" sz="2400" b="1" dirty="0"/>
              <a:t>,</a:t>
            </a:r>
            <a:r>
              <a:rPr lang="ru-RU" sz="2400" dirty="0"/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/>
              <a:t>end</a:t>
            </a:r>
            <a:r>
              <a:rPr lang="ru-RU" sz="2400" dirty="0"/>
              <a:t>»</a:t>
            </a:r>
            <a:r>
              <a:rPr lang="ru-RU" sz="2400" b="1" dirty="0"/>
              <a:t>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 err="1"/>
              <a:t>wr</a:t>
            </a:r>
            <a:r>
              <a:rPr lang="en-US" sz="2400" dirty="0"/>
              <a:t> mem</a:t>
            </a:r>
            <a:r>
              <a:rPr lang="ru-RU" sz="2400" dirty="0"/>
              <a:t>»</a:t>
            </a:r>
            <a:r>
              <a:rPr lang="ru-RU" sz="2400" b="1" dirty="0"/>
              <a:t>. </a:t>
            </a:r>
            <a:r>
              <a:rPr lang="ru-RU" sz="2400" b="1" i="1" dirty="0"/>
              <a:t>Опция</a:t>
            </a:r>
            <a:r>
              <a:rPr lang="ru-RU" sz="2400" b="1" dirty="0"/>
              <a:t> </a:t>
            </a:r>
            <a:r>
              <a:rPr lang="en-US" sz="2400" dirty="0"/>
              <a:t>overload</a:t>
            </a:r>
            <a:r>
              <a:rPr lang="ru-RU" sz="2400" dirty="0"/>
              <a:t> </a:t>
            </a:r>
            <a:r>
              <a:rPr lang="ru-RU" sz="2400" b="1" i="1" dirty="0"/>
              <a:t>означает, что мы настраиваем </a:t>
            </a:r>
            <a:r>
              <a:rPr lang="en-US" sz="2400" i="1" dirty="0"/>
              <a:t>PAT</a:t>
            </a:r>
            <a:r>
              <a:rPr lang="ru-RU" sz="2400" b="1" i="1" dirty="0"/>
              <a:t>. 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37973150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0" y="2438400"/>
            <a:ext cx="11811000" cy="30044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                                 Проверим связь</a:t>
            </a:r>
            <a:r>
              <a:rPr lang="en-US" sz="2400" b="1" i="1" dirty="0"/>
              <a:t> </a:t>
            </a:r>
            <a:r>
              <a:rPr lang="ru-RU" sz="2400" b="1" i="1" dirty="0"/>
              <a:t>компьютера</a:t>
            </a:r>
            <a:r>
              <a:rPr lang="ru-RU" sz="2400" i="1" dirty="0"/>
              <a:t> </a:t>
            </a:r>
            <a:r>
              <a:rPr lang="en-US" sz="2400" i="1" dirty="0"/>
              <a:t>PC0</a:t>
            </a:r>
            <a:r>
              <a:rPr lang="ru-RU" sz="2400" i="1" dirty="0"/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                                 с </a:t>
            </a:r>
            <a:r>
              <a:rPr lang="ru-RU" sz="2400" i="1" dirty="0"/>
              <a:t>сервером провайдера</a:t>
            </a:r>
            <a:r>
              <a:rPr lang="en-US" sz="2400" b="1" i="1" dirty="0"/>
              <a:t>.</a:t>
            </a:r>
            <a:r>
              <a:rPr lang="ru-RU" sz="2400" b="1" i="1" dirty="0"/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                                 Связь есть!!!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8844684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0" y="3327400"/>
            <a:ext cx="11811000" cy="21154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                                 Если зайти в настройки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                                 маршрутизатора и выбрать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                                 команду: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                                 </a:t>
            </a:r>
            <a:r>
              <a:rPr lang="ru-RU" sz="2400" dirty="0"/>
              <a:t>«</a:t>
            </a:r>
            <a:r>
              <a:rPr lang="en-US" sz="2400" dirty="0"/>
              <a:t>show </a:t>
            </a:r>
            <a:r>
              <a:rPr lang="en-US" sz="2400" dirty="0" err="1"/>
              <a:t>ip</a:t>
            </a:r>
            <a:r>
              <a:rPr lang="en-US" sz="2400" dirty="0"/>
              <a:t> </a:t>
            </a:r>
            <a:r>
              <a:rPr lang="en-US" sz="2400" dirty="0" err="1"/>
              <a:t>nat</a:t>
            </a:r>
            <a:r>
              <a:rPr lang="en-US" sz="2400" dirty="0"/>
              <a:t> translations</a:t>
            </a:r>
            <a:r>
              <a:rPr lang="ru-RU" sz="2400" dirty="0"/>
              <a:t>»</a:t>
            </a:r>
            <a:r>
              <a:rPr lang="ru-RU" sz="2400" b="1" i="1" dirty="0"/>
              <a:t>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                                 то увидим все наши обращения.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                           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/>
          </a:p>
        </p:txBody>
      </p:sp>
      <p:sp>
        <p:nvSpPr>
          <p:cNvPr id="4" name="Стрелка вправо 3"/>
          <p:cNvSpPr/>
          <p:nvPr/>
        </p:nvSpPr>
        <p:spPr>
          <a:xfrm>
            <a:off x="693057" y="1972129"/>
            <a:ext cx="246743" cy="1741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80981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0" y="2438400"/>
            <a:ext cx="11811000" cy="30044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                                 Проверим связь</a:t>
            </a:r>
            <a:r>
              <a:rPr lang="en-US" sz="2400" b="1" i="1" dirty="0"/>
              <a:t> </a:t>
            </a:r>
            <a:r>
              <a:rPr lang="ru-RU" sz="2400" i="1" dirty="0"/>
              <a:t>нашего сервера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                                 с </a:t>
            </a:r>
            <a:r>
              <a:rPr lang="ru-RU" sz="2400" i="1" dirty="0"/>
              <a:t>сервером провайдера</a:t>
            </a:r>
            <a:r>
              <a:rPr lang="en-US" sz="2400" b="1" i="1" dirty="0"/>
              <a:t>.</a:t>
            </a:r>
            <a:r>
              <a:rPr lang="ru-RU" sz="2400" b="1" i="1" dirty="0"/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                                 Связь есть!!!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1219379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Подзаголовок 2"/>
          <p:cNvSpPr txBox="1">
            <a:spLocks/>
          </p:cNvSpPr>
          <p:nvPr/>
        </p:nvSpPr>
        <p:spPr>
          <a:xfrm>
            <a:off x="0" y="3327400"/>
            <a:ext cx="11811000" cy="21154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                                 Вернёмся в настройки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                                 маршрутизатора и ещё раз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                                 наберём команду: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                                 </a:t>
            </a:r>
            <a:r>
              <a:rPr lang="ru-RU" sz="2400" dirty="0"/>
              <a:t>«</a:t>
            </a:r>
            <a:r>
              <a:rPr lang="en-US" sz="2400" dirty="0"/>
              <a:t>show </a:t>
            </a:r>
            <a:r>
              <a:rPr lang="en-US" sz="2400" dirty="0" err="1"/>
              <a:t>ip</a:t>
            </a:r>
            <a:r>
              <a:rPr lang="en-US" sz="2400" dirty="0"/>
              <a:t> </a:t>
            </a:r>
            <a:r>
              <a:rPr lang="en-US" sz="2400" dirty="0" err="1"/>
              <a:t>nat</a:t>
            </a:r>
            <a:r>
              <a:rPr lang="en-US" sz="2400" dirty="0"/>
              <a:t> translations</a:t>
            </a:r>
            <a:r>
              <a:rPr lang="ru-RU" sz="2400" dirty="0"/>
              <a:t>»</a:t>
            </a:r>
            <a:r>
              <a:rPr lang="ru-RU" sz="2400" b="1" i="1" dirty="0"/>
              <a:t>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                                 видим обращения с нашего сервера.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                           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/>
          </a:p>
        </p:txBody>
      </p:sp>
      <p:sp>
        <p:nvSpPr>
          <p:cNvPr id="6" name="Стрелка вправо 5"/>
          <p:cNvSpPr/>
          <p:nvPr/>
        </p:nvSpPr>
        <p:spPr>
          <a:xfrm>
            <a:off x="693057" y="1972129"/>
            <a:ext cx="246743" cy="1741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28722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Подзаголовок 2"/>
          <p:cNvSpPr txBox="1">
            <a:spLocks/>
          </p:cNvSpPr>
          <p:nvPr/>
        </p:nvSpPr>
        <p:spPr>
          <a:xfrm>
            <a:off x="88900" y="4597400"/>
            <a:ext cx="11595100" cy="8581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Попробуем отправить сообщение с </a:t>
            </a:r>
            <a:r>
              <a:rPr lang="en-US" sz="2400" i="1" dirty="0"/>
              <a:t>PC0</a:t>
            </a:r>
            <a:r>
              <a:rPr lang="en-US" sz="2400" b="1" i="1" dirty="0"/>
              <a:t> </a:t>
            </a:r>
            <a:r>
              <a:rPr lang="ru-RU" sz="2400" b="1" i="1" dirty="0"/>
              <a:t>на </a:t>
            </a:r>
            <a:r>
              <a:rPr lang="ru-RU" sz="2400" i="1" dirty="0"/>
              <a:t>сервер провайдера</a:t>
            </a:r>
            <a:r>
              <a:rPr lang="ru-RU" sz="2400" b="1" i="1" dirty="0"/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Сообщение отправляется.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                           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4028986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0" y="4648200"/>
            <a:ext cx="11684000" cy="8073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Нажмём на знак пакета, откроется меню, перейдём на 2-ю вкладку.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Пакет поступает с  </a:t>
            </a:r>
            <a:r>
              <a:rPr lang="en-US" sz="2400" dirty="0"/>
              <a:t>IP: 192.168.2.2</a:t>
            </a:r>
            <a:r>
              <a:rPr lang="ru-RU" sz="2400" dirty="0"/>
              <a:t> </a:t>
            </a:r>
            <a:r>
              <a:rPr lang="ru-RU" sz="2400" b="1" i="1" dirty="0"/>
              <a:t>, уходит на </a:t>
            </a:r>
            <a:r>
              <a:rPr lang="en-US" sz="2400" dirty="0"/>
              <a:t>IP: 213.234.20.2</a:t>
            </a:r>
            <a:r>
              <a:rPr lang="ru-RU" sz="2400" b="1" i="1" dirty="0"/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                           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/>
          </a:p>
        </p:txBody>
      </p:sp>
      <p:sp>
        <p:nvSpPr>
          <p:cNvPr id="4" name="Стрелка вправо 3"/>
          <p:cNvSpPr/>
          <p:nvPr/>
        </p:nvSpPr>
        <p:spPr>
          <a:xfrm flipH="1">
            <a:off x="1587500" y="2933701"/>
            <a:ext cx="2413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30294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0" y="4572000"/>
            <a:ext cx="11684000" cy="8835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После прохода через маршрутизатор первоначальный </a:t>
            </a:r>
            <a:r>
              <a:rPr lang="en-US" sz="2400" i="1" dirty="0" err="1"/>
              <a:t>ip</a:t>
            </a:r>
            <a:r>
              <a:rPr lang="en-US" sz="2400" i="1" dirty="0"/>
              <a:t>-</a:t>
            </a:r>
            <a:r>
              <a:rPr lang="ru-RU" sz="2400" i="1" dirty="0"/>
              <a:t>адрес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меняется на  </a:t>
            </a:r>
            <a:r>
              <a:rPr lang="en-US" sz="2400" dirty="0"/>
              <a:t>IP: 213.234.10.2</a:t>
            </a:r>
            <a:r>
              <a:rPr lang="ru-RU" sz="2400" dirty="0"/>
              <a:t> </a:t>
            </a:r>
            <a:r>
              <a:rPr lang="ru-RU" sz="2400" b="1" i="1" dirty="0"/>
              <a:t>, уходит на </a:t>
            </a:r>
            <a:r>
              <a:rPr lang="en-US" sz="2400" dirty="0"/>
              <a:t>IP: 213.234.20.2</a:t>
            </a:r>
            <a:r>
              <a:rPr lang="ru-RU" sz="2400" b="1" i="1" dirty="0"/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                           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8339320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0" y="4572000"/>
            <a:ext cx="11684000" cy="8835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Когда ответный пакет с сервера проходит через маршрутизатор, первоначальный </a:t>
            </a:r>
            <a:r>
              <a:rPr lang="en-US" sz="2400" i="1" dirty="0" err="1"/>
              <a:t>ip</a:t>
            </a:r>
            <a:r>
              <a:rPr lang="en-US" sz="2400" i="1" dirty="0"/>
              <a:t>-</a:t>
            </a:r>
            <a:r>
              <a:rPr lang="ru-RU" sz="2400" i="1" dirty="0"/>
              <a:t>адрес </a:t>
            </a:r>
            <a:r>
              <a:rPr lang="ru-RU" sz="2400" b="1" i="1" dirty="0"/>
              <a:t>возвращается.                          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2856359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2984500" y="2387600"/>
            <a:ext cx="8534400" cy="3073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Таким образом, мы настроили </a:t>
            </a:r>
            <a:r>
              <a:rPr lang="en-US" sz="2400" i="1" dirty="0"/>
              <a:t>PAT (Port address translation)</a:t>
            </a:r>
            <a:r>
              <a:rPr lang="ru-RU" sz="2400" i="1" dirty="0"/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Далее попробуем настроить </a:t>
            </a:r>
            <a:r>
              <a:rPr lang="ru-RU" sz="2400" i="1" dirty="0"/>
              <a:t>статический </a:t>
            </a:r>
            <a:r>
              <a:rPr lang="en-US" sz="2400" i="1" dirty="0"/>
              <a:t>NAT</a:t>
            </a:r>
            <a:r>
              <a:rPr lang="ru-RU" sz="2400" b="1" i="1" dirty="0"/>
              <a:t>, то есть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обеспечить доступ к нашему локальному </a:t>
            </a:r>
            <a:r>
              <a:rPr lang="en-US" sz="2400" i="1" dirty="0"/>
              <a:t>Web-</a:t>
            </a:r>
            <a:r>
              <a:rPr lang="ru-RU" sz="2400" i="1" dirty="0"/>
              <a:t>серверу </a:t>
            </a:r>
            <a:r>
              <a:rPr lang="ru-RU" sz="2400" b="1" i="1" dirty="0"/>
              <a:t>из внешней сети.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Для этого перейдём в настройки самого сервера.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/>
          </a:p>
        </p:txBody>
      </p:sp>
      <p:sp>
        <p:nvSpPr>
          <p:cNvPr id="5" name="Стрелка вниз 4"/>
          <p:cNvSpPr/>
          <p:nvPr/>
        </p:nvSpPr>
        <p:spPr>
          <a:xfrm>
            <a:off x="266700" y="1930400"/>
            <a:ext cx="266700" cy="355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55371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2794000" y="4749800"/>
            <a:ext cx="8534400" cy="6985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Перейдём на закладку </a:t>
            </a:r>
            <a:r>
              <a:rPr lang="en-US" sz="2400" b="1" i="1" dirty="0"/>
              <a:t>  </a:t>
            </a:r>
            <a:r>
              <a:rPr lang="en-US" sz="2400" i="1" dirty="0" err="1"/>
              <a:t>Config</a:t>
            </a:r>
            <a:r>
              <a:rPr lang="en-US" sz="2400" i="1" dirty="0"/>
              <a:t> </a:t>
            </a:r>
            <a:r>
              <a:rPr lang="en-US" sz="2400" b="1" i="1" dirty="0"/>
              <a:t> </a:t>
            </a:r>
            <a:r>
              <a:rPr lang="ru-RU" sz="2400" b="1" i="1" dirty="0"/>
              <a:t>и  выберем вкладку </a:t>
            </a:r>
            <a:r>
              <a:rPr lang="en-US" sz="2400" b="1" i="1" dirty="0"/>
              <a:t> </a:t>
            </a:r>
            <a:r>
              <a:rPr lang="ru-RU" sz="2400" b="1" i="1" dirty="0"/>
              <a:t> </a:t>
            </a:r>
            <a:r>
              <a:rPr lang="en-US" sz="2400" i="1" dirty="0"/>
              <a:t>HTTP</a:t>
            </a:r>
            <a:r>
              <a:rPr lang="ru-RU" sz="2400" b="1" i="1" dirty="0"/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9743417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Подзаголовок 2"/>
          <p:cNvSpPr txBox="1">
            <a:spLocks/>
          </p:cNvSpPr>
          <p:nvPr/>
        </p:nvSpPr>
        <p:spPr>
          <a:xfrm>
            <a:off x="6096000" y="4470400"/>
            <a:ext cx="5499100" cy="6985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Заменим сайт </a:t>
            </a:r>
            <a:r>
              <a:rPr lang="en-US" sz="2400" b="1" i="1" dirty="0"/>
              <a:t>  </a:t>
            </a:r>
            <a:r>
              <a:rPr lang="en-US" sz="2400" i="1" dirty="0"/>
              <a:t>Cisco Packet Tracer </a:t>
            </a:r>
            <a:r>
              <a:rPr lang="en-US" sz="2400" b="1" i="1" dirty="0"/>
              <a:t> </a:t>
            </a:r>
            <a:r>
              <a:rPr lang="ru-RU" sz="2400" b="1" i="1" dirty="0"/>
              <a:t>на …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6404202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Подзаголовок 2"/>
          <p:cNvSpPr txBox="1">
            <a:spLocks/>
          </p:cNvSpPr>
          <p:nvPr/>
        </p:nvSpPr>
        <p:spPr>
          <a:xfrm>
            <a:off x="7556500" y="4533900"/>
            <a:ext cx="3911600" cy="6985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… сайт, например, </a:t>
            </a:r>
            <a:r>
              <a:rPr lang="en-US" sz="2400" i="1" dirty="0" err="1"/>
              <a:t>NetSkill</a:t>
            </a:r>
            <a:r>
              <a:rPr lang="ru-RU" sz="2400" b="1" i="1" dirty="0"/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8103429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2743200" y="762000"/>
            <a:ext cx="8597900" cy="47117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Нужно сделать так, чтобы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обращения из внешней сети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к нашему  маршрутизатор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транслировались на наш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локальный </a:t>
            </a:r>
            <a:r>
              <a:rPr lang="en-US" sz="2400" i="1" dirty="0"/>
              <a:t>Web-</a:t>
            </a:r>
            <a:r>
              <a:rPr lang="ru-RU" sz="2400" i="1" dirty="0"/>
              <a:t>сервер</a:t>
            </a:r>
            <a:r>
              <a:rPr lang="ru-RU" sz="2400" b="1" i="1" dirty="0"/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Если сейчас зайти в установки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внешнего сервера и набрать в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браузере </a:t>
            </a:r>
            <a:r>
              <a:rPr lang="en-US" sz="2400" i="1" dirty="0" err="1"/>
              <a:t>ip</a:t>
            </a:r>
            <a:r>
              <a:rPr lang="ru-RU" sz="2400" i="1" dirty="0"/>
              <a:t>-адрес </a:t>
            </a:r>
            <a:r>
              <a:rPr lang="ru-RU" sz="2400" b="1" i="1" dirty="0"/>
              <a:t>внешнего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интерфейса нашего маршрутизатора: </a:t>
            </a:r>
            <a:r>
              <a:rPr lang="ru-RU" sz="2400" i="1" dirty="0"/>
              <a:t>213.234.10.2</a:t>
            </a:r>
            <a:r>
              <a:rPr lang="ru-RU" sz="2400" b="1" i="1" dirty="0"/>
              <a:t>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то мы ничего не увидим.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/>
          </a:p>
        </p:txBody>
      </p:sp>
      <p:sp>
        <p:nvSpPr>
          <p:cNvPr id="4" name="Стрелка вправо 3"/>
          <p:cNvSpPr/>
          <p:nvPr/>
        </p:nvSpPr>
        <p:spPr>
          <a:xfrm>
            <a:off x="1739900" y="889000"/>
            <a:ext cx="304800" cy="2413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90172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Подзаголовок 2"/>
          <p:cNvSpPr txBox="1">
            <a:spLocks/>
          </p:cNvSpPr>
          <p:nvPr/>
        </p:nvSpPr>
        <p:spPr>
          <a:xfrm>
            <a:off x="2667000" y="673100"/>
            <a:ext cx="8674100" cy="4800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Настроим </a:t>
            </a:r>
            <a:r>
              <a:rPr lang="ru-RU" sz="2400" i="1" dirty="0"/>
              <a:t>статический </a:t>
            </a:r>
            <a:r>
              <a:rPr lang="en-US" sz="2400" i="1" dirty="0"/>
              <a:t>NAT</a:t>
            </a:r>
            <a:r>
              <a:rPr lang="ru-RU" sz="2400" b="1" i="1" dirty="0"/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Для этого вернёмся в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настройки маршрутизатора.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b="1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Набираем</a:t>
            </a:r>
            <a:r>
              <a:rPr lang="ru-RU" sz="2400" dirty="0"/>
              <a:t> </a:t>
            </a:r>
            <a:r>
              <a:rPr lang="en-US" sz="2400" dirty="0" err="1"/>
              <a:t>ip</a:t>
            </a:r>
            <a:r>
              <a:rPr lang="en-US" sz="2400" dirty="0"/>
              <a:t> </a:t>
            </a:r>
            <a:r>
              <a:rPr lang="en-US" sz="2400" dirty="0" err="1"/>
              <a:t>nat</a:t>
            </a:r>
            <a:r>
              <a:rPr lang="ru-RU" sz="2400" dirty="0"/>
              <a:t>…</a:t>
            </a:r>
            <a:r>
              <a:rPr lang="ru-RU" sz="2400" b="1" i="1" dirty="0"/>
              <a:t>, с указанием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 err="1"/>
              <a:t>ip</a:t>
            </a:r>
            <a:r>
              <a:rPr lang="en-US" sz="2400" dirty="0"/>
              <a:t>-</a:t>
            </a:r>
            <a:r>
              <a:rPr lang="ru-RU" sz="2400" dirty="0"/>
              <a:t>адреса </a:t>
            </a:r>
            <a:r>
              <a:rPr lang="ru-RU" sz="2400" b="1" i="1" dirty="0"/>
              <a:t>локального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i="1" dirty="0"/>
              <a:t>Web-</a:t>
            </a:r>
            <a:r>
              <a:rPr lang="ru-RU" sz="2400" b="1" i="1" dirty="0"/>
              <a:t>сервера (</a:t>
            </a:r>
            <a:r>
              <a:rPr lang="en-US" sz="2400" dirty="0"/>
              <a:t>192.168.3.2</a:t>
            </a:r>
            <a:r>
              <a:rPr lang="ru-RU" sz="2400" b="1" i="1" dirty="0"/>
              <a:t>),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порта, на который необходимо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транслировать запрос (</a:t>
            </a:r>
            <a:r>
              <a:rPr lang="ru-RU" sz="2400" dirty="0"/>
              <a:t>80</a:t>
            </a:r>
            <a:r>
              <a:rPr lang="ru-RU" sz="2400" b="1" i="1" dirty="0"/>
              <a:t>),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внешнего </a:t>
            </a:r>
            <a:r>
              <a:rPr lang="en-US" sz="2400" dirty="0" err="1"/>
              <a:t>ip</a:t>
            </a:r>
            <a:r>
              <a:rPr lang="en-US" sz="2400" dirty="0"/>
              <a:t>-</a:t>
            </a:r>
            <a:r>
              <a:rPr lang="ru-RU" sz="2400" dirty="0"/>
              <a:t>адреса </a:t>
            </a:r>
            <a:r>
              <a:rPr lang="ru-RU" sz="2400" b="1" i="1" dirty="0"/>
              <a:t>маршрутизатора и порта, на который будут обращаться пользователи сети Интернет (</a:t>
            </a:r>
            <a:r>
              <a:rPr lang="ru-RU" sz="2400" dirty="0"/>
              <a:t>80</a:t>
            </a:r>
            <a:r>
              <a:rPr lang="ru-RU" sz="2400" b="1" i="1" dirty="0"/>
              <a:t>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 err="1"/>
              <a:t>ip</a:t>
            </a:r>
            <a:r>
              <a:rPr lang="en-US" sz="2400" dirty="0"/>
              <a:t> </a:t>
            </a:r>
            <a:r>
              <a:rPr lang="en-US" sz="2400" dirty="0" err="1"/>
              <a:t>nat</a:t>
            </a:r>
            <a:r>
              <a:rPr lang="en-US" sz="2400" dirty="0"/>
              <a:t> inside source static </a:t>
            </a:r>
            <a:r>
              <a:rPr lang="en-US" sz="2400" dirty="0" err="1"/>
              <a:t>tcp</a:t>
            </a:r>
            <a:r>
              <a:rPr lang="en-US" sz="2400" dirty="0"/>
              <a:t> 192.168.3.2 80 213.234.10.2 80</a:t>
            </a:r>
            <a:r>
              <a:rPr lang="ru-RU" sz="2400" dirty="0"/>
              <a:t>»,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«</a:t>
            </a:r>
            <a:r>
              <a:rPr lang="en-US" sz="2400" dirty="0"/>
              <a:t>end</a:t>
            </a:r>
            <a:r>
              <a:rPr lang="ru-RU" sz="2400" dirty="0"/>
              <a:t>», «</a:t>
            </a:r>
            <a:r>
              <a:rPr lang="en-US" sz="2400" dirty="0" err="1"/>
              <a:t>wr</a:t>
            </a:r>
            <a:r>
              <a:rPr lang="en-US" sz="2400" dirty="0"/>
              <a:t> mem</a:t>
            </a:r>
            <a:r>
              <a:rPr lang="ru-RU" sz="2400" dirty="0"/>
              <a:t>».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9596954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0" y="3263900"/>
            <a:ext cx="11341100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                                Ещё раз попробуем зайти в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                                установки внешнего сервера и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                                набрать в браузере </a:t>
            </a:r>
            <a:r>
              <a:rPr lang="en-US" sz="2400" i="1" dirty="0" err="1"/>
              <a:t>ip</a:t>
            </a:r>
            <a:r>
              <a:rPr lang="ru-RU" sz="2400" i="1" dirty="0"/>
              <a:t>-адрес </a:t>
            </a:r>
            <a:r>
              <a:rPr lang="ru-RU" sz="2400" b="1" i="1" dirty="0"/>
              <a:t>внешнего интерфейса нашего маршрутизатора: </a:t>
            </a:r>
            <a:r>
              <a:rPr lang="ru-RU" sz="2400" i="1" dirty="0"/>
              <a:t>213.234.10.2</a:t>
            </a:r>
            <a:r>
              <a:rPr lang="ru-RU" sz="2400" b="1" i="1" dirty="0"/>
              <a:t>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Видим </a:t>
            </a:r>
            <a:r>
              <a:rPr lang="en-US" sz="2400" b="1" i="1" dirty="0"/>
              <a:t>Web-</a:t>
            </a:r>
            <a:r>
              <a:rPr lang="ru-RU" sz="2400" b="1" i="1" dirty="0"/>
              <a:t>страничку с нашего локального сервера, при этом, наш сервер не имеет белого </a:t>
            </a:r>
            <a:r>
              <a:rPr lang="en-US" sz="2400" i="1" dirty="0" err="1"/>
              <a:t>ip</a:t>
            </a:r>
            <a:r>
              <a:rPr lang="ru-RU" sz="2400" i="1" dirty="0"/>
              <a:t>-адреса</a:t>
            </a:r>
            <a:r>
              <a:rPr lang="ru-RU" sz="2400" b="1" i="1" dirty="0"/>
              <a:t>.    Мы настроили </a:t>
            </a:r>
            <a:r>
              <a:rPr lang="ru-RU" sz="2400" i="1" dirty="0"/>
              <a:t>статический </a:t>
            </a:r>
            <a:r>
              <a:rPr lang="en-US" sz="2400" i="1" dirty="0"/>
              <a:t>NAT</a:t>
            </a:r>
            <a:r>
              <a:rPr lang="en-US" sz="2400" b="1" i="1" dirty="0"/>
              <a:t>!!!</a:t>
            </a:r>
            <a:r>
              <a:rPr lang="ru-RU" sz="2400" b="1" i="1" dirty="0"/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1" dirty="0"/>
              <a:t>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/>
          </a:p>
        </p:txBody>
      </p:sp>
      <p:sp>
        <p:nvSpPr>
          <p:cNvPr id="4" name="Стрелка вправо 3"/>
          <p:cNvSpPr/>
          <p:nvPr/>
        </p:nvSpPr>
        <p:spPr>
          <a:xfrm>
            <a:off x="1739900" y="889000"/>
            <a:ext cx="304800" cy="2413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48312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257" y="141514"/>
            <a:ext cx="10296770" cy="615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4169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15537" y="1709058"/>
            <a:ext cx="11141034" cy="5344886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ru-RU" dirty="0"/>
              <a:t>Компьютерные сети. Н.В. Максимов, И.И. Попов, 4-е издание, переработанное и дополненное, «Форум», Москва, 2010.</a:t>
            </a:r>
          </a:p>
          <a:p>
            <a:pPr marL="514350" indent="-514350">
              <a:buAutoNum type="arabicPeriod"/>
            </a:pPr>
            <a:r>
              <a:rPr lang="ru-RU" dirty="0"/>
              <a:t>Компьютерные сети. Принципы, технологии, протоколы, В. </a:t>
            </a:r>
            <a:r>
              <a:rPr lang="ru-RU" dirty="0" err="1"/>
              <a:t>Олифер</a:t>
            </a:r>
            <a:r>
              <a:rPr lang="ru-RU" dirty="0"/>
              <a:t>, Н. </a:t>
            </a:r>
            <a:r>
              <a:rPr lang="ru-RU" dirty="0" err="1"/>
              <a:t>Олифер</a:t>
            </a:r>
            <a:r>
              <a:rPr lang="ru-RU" dirty="0"/>
              <a:t> (5-е издание), «Питер», Москва, </a:t>
            </a:r>
            <a:r>
              <a:rPr lang="ru-RU" dirty="0" err="1"/>
              <a:t>Санк</a:t>
            </a:r>
            <a:r>
              <a:rPr lang="ru-RU" dirty="0"/>
              <a:t>-Петербург, 2016.</a:t>
            </a:r>
          </a:p>
          <a:p>
            <a:pPr marL="514350" indent="-514350">
              <a:buAutoNum type="arabicPeriod"/>
            </a:pPr>
            <a:r>
              <a:rPr lang="ru-RU" dirty="0"/>
              <a:t>Компьютерные сети. Э. </a:t>
            </a:r>
            <a:r>
              <a:rPr lang="ru-RU" dirty="0" err="1"/>
              <a:t>Таненбаум</a:t>
            </a:r>
            <a:r>
              <a:rPr lang="ru-RU" dirty="0"/>
              <a:t>, 4-е издание, «Питер», Москва, </a:t>
            </a:r>
            <a:r>
              <a:rPr lang="ru-RU" dirty="0" err="1"/>
              <a:t>Санк</a:t>
            </a:r>
            <a:r>
              <a:rPr lang="ru-RU" dirty="0"/>
              <a:t>-Петербург, 2003.</a:t>
            </a:r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1097280" y="-108252"/>
            <a:ext cx="10058400" cy="1450757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/>
              <a:t>Список литературы:</a:t>
            </a:r>
          </a:p>
        </p:txBody>
      </p:sp>
    </p:spTree>
    <p:extLst>
      <p:ext uri="{BB962C8B-B14F-4D97-AF65-F5344CB8AC3E}">
        <p14:creationId xmlns:p14="http://schemas.microsoft.com/office/powerpoint/2010/main" val="33458204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838200" y="1319645"/>
            <a:ext cx="10515600" cy="4857318"/>
          </a:xfrm>
        </p:spPr>
        <p:txBody>
          <a:bodyPr/>
          <a:lstStyle/>
          <a:p>
            <a:pPr marL="0" indent="0">
              <a:buNone/>
            </a:pPr>
            <a:r>
              <a:rPr lang="en-US" sz="1400" dirty="0">
                <a:hlinkClick r:id="rId2"/>
              </a:rPr>
              <a:t>https://studfiles.net/html/2706/610/html_1t7827cn0P.AOQ6/htmlconvd-5FjQl116x1.jpg</a:t>
            </a:r>
            <a:endParaRPr lang="ru-RU" sz="1400" dirty="0"/>
          </a:p>
          <a:p>
            <a:pPr marL="0" indent="0">
              <a:buNone/>
            </a:pPr>
            <a:r>
              <a:rPr lang="en-US" sz="1400" dirty="0">
                <a:hlinkClick r:id="rId3"/>
              </a:rPr>
              <a:t>https://bigslide.ru/images/51/50961/960/img12.jpg</a:t>
            </a:r>
            <a:endParaRPr lang="ru-RU" sz="1400" dirty="0"/>
          </a:p>
          <a:p>
            <a:pPr marL="0" indent="0">
              <a:buNone/>
            </a:pPr>
            <a:r>
              <a:rPr lang="en-US" sz="1400" dirty="0">
                <a:hlinkClick r:id="rId4"/>
              </a:rPr>
              <a:t>https://bigslide.ru/images/51/50961/960/img11.jpg</a:t>
            </a:r>
            <a:endParaRPr lang="ru-RU" sz="1400" dirty="0"/>
          </a:p>
          <a:p>
            <a:pPr marL="0" indent="0">
              <a:buNone/>
            </a:pPr>
            <a:r>
              <a:rPr lang="en-US" sz="1400" dirty="0">
                <a:hlinkClick r:id="rId5"/>
              </a:rPr>
              <a:t>https://1.bp.blogspot.com/-qptz15WfEJE/XDoN736gSvI/AAAAAAAAAU8/ESDrBE1iP-0vt5keIdxrnh_Y6ZpF2_2tQCLcBGAs/s1600/Hybrid-Network.jpg</a:t>
            </a:r>
            <a:endParaRPr lang="ru-RU" sz="1400" dirty="0"/>
          </a:p>
          <a:p>
            <a:pPr marL="0" indent="0">
              <a:buNone/>
            </a:pPr>
            <a:r>
              <a:rPr lang="en-US" sz="1400" dirty="0">
                <a:hlinkClick r:id="rId6"/>
              </a:rPr>
              <a:t>http://www.klikglodok.com/toko/19948-thickbox_default/jual-harga-allied-telesis-switch-16-port-gigabit-10-100-1000-unmanaged-at-gs900-16.jpg</a:t>
            </a:r>
            <a:endParaRPr lang="ru-RU" sz="1400" dirty="0"/>
          </a:p>
          <a:p>
            <a:pPr marL="0" indent="0">
              <a:buNone/>
            </a:pPr>
            <a:r>
              <a:rPr lang="en-US" sz="1400" dirty="0">
                <a:hlinkClick r:id="rId7"/>
              </a:rPr>
              <a:t>http://900igr.net/up/datas/221400/029.jpg</a:t>
            </a:r>
            <a:endParaRPr lang="ru-RU" sz="1400" dirty="0"/>
          </a:p>
          <a:p>
            <a:pPr marL="0" indent="0">
              <a:buNone/>
            </a:pPr>
            <a:endParaRPr lang="ru-RU" sz="1400" dirty="0"/>
          </a:p>
          <a:p>
            <a:pPr marL="0" indent="0">
              <a:buNone/>
            </a:pPr>
            <a:endParaRPr lang="ru-RU" sz="1400" dirty="0"/>
          </a:p>
          <a:p>
            <a:pPr marL="0" indent="0">
              <a:buNone/>
            </a:pPr>
            <a:endParaRPr lang="ru-RU" sz="1400" dirty="0"/>
          </a:p>
          <a:p>
            <a:pPr marL="0" indent="0">
              <a:buNone/>
            </a:pPr>
            <a:endParaRPr lang="ru-RU" sz="1400" dirty="0"/>
          </a:p>
          <a:p>
            <a:pPr marL="0" indent="0">
              <a:buNone/>
            </a:pPr>
            <a:endParaRPr lang="ru-RU" sz="1400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3" name="Заголовок 1"/>
          <p:cNvSpPr>
            <a:spLocks noGrp="1"/>
          </p:cNvSpPr>
          <p:nvPr>
            <p:ph type="title"/>
          </p:nvPr>
        </p:nvSpPr>
        <p:spPr>
          <a:xfrm>
            <a:off x="436418" y="-185057"/>
            <a:ext cx="10917382" cy="1099993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/>
              <a:t>Список ссылок:</a:t>
            </a:r>
          </a:p>
        </p:txBody>
      </p:sp>
    </p:spTree>
    <p:extLst>
      <p:ext uri="{BB962C8B-B14F-4D97-AF65-F5344CB8AC3E}">
        <p14:creationId xmlns:p14="http://schemas.microsoft.com/office/powerpoint/2010/main" val="5955101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021080" y="871462"/>
            <a:ext cx="10058400" cy="145075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/>
              <a:t>Спасибо за внимание!</a:t>
            </a:r>
            <a:endParaRPr lang="ru-RU" sz="4000" b="1" dirty="0"/>
          </a:p>
        </p:txBody>
      </p:sp>
    </p:spTree>
    <p:extLst>
      <p:ext uri="{BB962C8B-B14F-4D97-AF65-F5344CB8AC3E}">
        <p14:creationId xmlns:p14="http://schemas.microsoft.com/office/powerpoint/2010/main" val="297517961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9579</TotalTime>
  <Words>2024</Words>
  <Application>Microsoft Office PowerPoint</Application>
  <PresentationFormat>Широкоэкранный</PresentationFormat>
  <Paragraphs>323</Paragraphs>
  <Slides>52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52</vt:i4>
      </vt:variant>
    </vt:vector>
  </HeadingPairs>
  <TitlesOfParts>
    <vt:vector size="5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Список литературы:</vt:lpstr>
      <vt:lpstr>Список ссылок:</vt:lpstr>
      <vt:lpstr>Презентация PowerPoint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МДК.01.01  Организация, принципы построения и функционирования компьютерных сетей 3-курс</dc:title>
  <dc:creator>RePack by Diakov</dc:creator>
  <cp:lastModifiedBy>local</cp:lastModifiedBy>
  <cp:revision>612</cp:revision>
  <dcterms:created xsi:type="dcterms:W3CDTF">2019-09-01T16:25:33Z</dcterms:created>
  <dcterms:modified xsi:type="dcterms:W3CDTF">2026-10-05T12:02:04Z</dcterms:modified>
</cp:coreProperties>
</file>